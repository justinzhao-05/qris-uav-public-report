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284"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8C9A54-BE05-4702-861B-1FDA6DF7FBBA}"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01C62-D01F-4C32-8350-48D5CFF930AC}" type="slidenum">
              <a:rPr lang="zh-CN" altLang="en-US" smtClean="0"/>
              <a:t>‹#›</a:t>
            </a:fld>
            <a:endParaRPr lang="zh-CN" altLang="en-US"/>
          </a:p>
        </p:txBody>
      </p:sp>
    </p:spTree>
    <p:extLst>
      <p:ext uri="{BB962C8B-B14F-4D97-AF65-F5344CB8AC3E}">
        <p14:creationId xmlns:p14="http://schemas.microsoft.com/office/powerpoint/2010/main" val="2975978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5901C62-D01F-4C32-8350-48D5CFF930AC}" type="slidenum">
              <a:rPr lang="zh-CN" altLang="en-US" smtClean="0"/>
              <a:t>52</a:t>
            </a:fld>
            <a:endParaRPr lang="zh-CN" altLang="en-US"/>
          </a:p>
        </p:txBody>
      </p:sp>
    </p:spTree>
    <p:extLst>
      <p:ext uri="{BB962C8B-B14F-4D97-AF65-F5344CB8AC3E}">
        <p14:creationId xmlns:p14="http://schemas.microsoft.com/office/powerpoint/2010/main" val="665725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1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isaster_scenario_gpt.png"/>
          <p:cNvPicPr>
            <a:picLocks noChangeAspect="1"/>
          </p:cNvPicPr>
          <p:nvPr/>
        </p:nvPicPr>
        <p:blipFill>
          <a:blip r:embed="rId2"/>
          <a:stretch>
            <a:fillRect/>
          </a:stretch>
        </p:blipFill>
        <p:spPr>
          <a:xfrm>
            <a:off x="6309360" y="1196778"/>
            <a:ext cx="5349240" cy="3010547"/>
          </a:xfrm>
          <a:prstGeom prst="rect">
            <a:avLst/>
          </a:prstGeom>
        </p:spPr>
      </p:pic>
      <p:sp>
        <p:nvSpPr>
          <p:cNvPr id="4" name="TextBox 3"/>
          <p:cNvSpPr txBox="1"/>
          <p:nvPr/>
        </p:nvSpPr>
        <p:spPr>
          <a:xfrm>
            <a:off x="10149840" y="320040"/>
            <a:ext cx="1097280" cy="219456"/>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D6E0E5"/>
                </a:solidFill>
                <a:latin typeface="Microsoft YaHei"/>
              </a:rPr>
              <a:t>封面</a:t>
            </a:r>
          </a:p>
        </p:txBody>
      </p:sp>
      <p:sp>
        <p:nvSpPr>
          <p:cNvPr id="5" name="TextBox 4"/>
          <p:cNvSpPr txBox="1"/>
          <p:nvPr/>
        </p:nvSpPr>
        <p:spPr>
          <a:xfrm>
            <a:off x="594360" y="749808"/>
            <a:ext cx="5669280" cy="438912"/>
          </a:xfrm>
          <a:prstGeom prst="rect">
            <a:avLst/>
          </a:prstGeom>
          <a:noFill/>
        </p:spPr>
        <p:txBody>
          <a:bodyPr wrap="square" lIns="45720" tIns="27432" rIns="45720" bIns="27432" anchor="t">
            <a:spAutoFit/>
          </a:bodyPr>
          <a:lstStyle/>
          <a:p>
            <a:pPr algn="l">
              <a:lnSpc>
                <a:spcPct val="105000"/>
              </a:lnSpc>
              <a:spcAft>
                <a:spcPts val="200"/>
              </a:spcAft>
            </a:pPr>
            <a:r>
              <a:rPr sz="1900" b="1">
                <a:solidFill>
                  <a:srgbClr val="FFFFFF"/>
                </a:solidFill>
                <a:latin typeface="Microsoft YaHei"/>
              </a:rPr>
              <a:t>量子密钥保护的 RIS-UAV 远海风电与海缆监测</a:t>
            </a:r>
          </a:p>
        </p:txBody>
      </p:sp>
      <p:sp>
        <p:nvSpPr>
          <p:cNvPr id="6" name="TextBox 5"/>
          <p:cNvSpPr txBox="1"/>
          <p:nvPr/>
        </p:nvSpPr>
        <p:spPr>
          <a:xfrm>
            <a:off x="594360" y="1298448"/>
            <a:ext cx="5669280" cy="1170432"/>
          </a:xfrm>
          <a:prstGeom prst="rect">
            <a:avLst/>
          </a:prstGeom>
          <a:noFill/>
        </p:spPr>
        <p:txBody>
          <a:bodyPr wrap="square" lIns="45720" tIns="27432" rIns="45720" bIns="27432" anchor="t">
            <a:spAutoFit/>
          </a:bodyPr>
          <a:lstStyle/>
          <a:p>
            <a:pPr algn="l">
              <a:lnSpc>
                <a:spcPct val="105000"/>
              </a:lnSpc>
              <a:spcAft>
                <a:spcPts val="200"/>
              </a:spcAft>
            </a:pPr>
            <a:r>
              <a:rPr sz="3000" b="1">
                <a:solidFill>
                  <a:srgbClr val="FFFFFF"/>
                </a:solidFill>
                <a:latin typeface="Microsoft YaHei"/>
              </a:rPr>
              <a:t>空天地海一体化系统：</a:t>
            </a:r>
          </a:p>
          <a:p>
            <a:pPr algn="l">
              <a:lnSpc>
                <a:spcPct val="105000"/>
              </a:lnSpc>
              <a:spcAft>
                <a:spcPts val="200"/>
              </a:spcAft>
            </a:pPr>
            <a:r>
              <a:rPr sz="3000" b="1">
                <a:solidFill>
                  <a:srgbClr val="FFFFFF"/>
                </a:solidFill>
                <a:latin typeface="Microsoft YaHei"/>
              </a:rPr>
              <a:t>能效-安全联合优化设计</a:t>
            </a:r>
          </a:p>
        </p:txBody>
      </p:sp>
      <p:sp>
        <p:nvSpPr>
          <p:cNvPr id="7" name="TextBox 6"/>
          <p:cNvSpPr txBox="1"/>
          <p:nvPr/>
        </p:nvSpPr>
        <p:spPr>
          <a:xfrm>
            <a:off x="621792" y="2697480"/>
            <a:ext cx="5257800" cy="896112"/>
          </a:xfrm>
          <a:prstGeom prst="rect">
            <a:avLst/>
          </a:prstGeom>
          <a:noFill/>
        </p:spPr>
        <p:txBody>
          <a:bodyPr wrap="square" lIns="45720" tIns="27432" rIns="45720" bIns="27432" anchor="t">
            <a:spAutoFit/>
          </a:bodyPr>
          <a:lstStyle/>
          <a:p>
            <a:pPr algn="l">
              <a:lnSpc>
                <a:spcPct val="112000"/>
              </a:lnSpc>
              <a:spcAft>
                <a:spcPts val="200"/>
              </a:spcAft>
            </a:pPr>
            <a:r>
              <a:rPr sz="1300">
                <a:solidFill>
                  <a:srgbClr val="D6E0E5"/>
                </a:solidFill>
                <a:latin typeface="Aptos"/>
              </a:rPr>
              <a:t>Optimization Theory for Machine Learning - Final Project</a:t>
            </a:r>
          </a:p>
          <a:p>
            <a:r>
              <a:rPr sz="1300">
                <a:solidFill>
                  <a:srgbClr val="D6E0E5"/>
                </a:solidFill>
                <a:latin typeface="Aptos"/>
              </a:rPr>
              <a:t>Yanzhe Zhao</a:t>
            </a:r>
          </a:p>
          <a:p>
            <a:r>
              <a:rPr sz="1300">
                <a:solidFill>
                  <a:srgbClr val="D6E0E5"/>
                </a:solidFill>
                <a:latin typeface="Aptos"/>
              </a:rPr>
              <a:t>Tianjin University, Future Technology College</a:t>
            </a:r>
          </a:p>
        </p:txBody>
      </p:sp>
      <p:sp>
        <p:nvSpPr>
          <p:cNvPr id="8" name="TextBox 7"/>
          <p:cNvSpPr txBox="1"/>
          <p:nvPr/>
        </p:nvSpPr>
        <p:spPr>
          <a:xfrm>
            <a:off x="658368" y="4892040"/>
            <a:ext cx="1645920" cy="384048"/>
          </a:xfrm>
          <a:prstGeom prst="rect">
            <a:avLst/>
          </a:prstGeom>
          <a:noFill/>
        </p:spPr>
        <p:txBody>
          <a:bodyPr wrap="square" lIns="45720" tIns="27432" rIns="45720" bIns="27432" anchor="t">
            <a:spAutoFit/>
          </a:bodyPr>
          <a:lstStyle/>
          <a:p>
            <a:pPr algn="l">
              <a:lnSpc>
                <a:spcPct val="105000"/>
              </a:lnSpc>
              <a:spcAft>
                <a:spcPts val="200"/>
              </a:spcAft>
            </a:pPr>
            <a:r>
              <a:rPr sz="2400" b="1">
                <a:solidFill>
                  <a:srgbClr val="FFFFFF"/>
                </a:solidFill>
                <a:latin typeface="Aptos"/>
              </a:rPr>
              <a:t>1.76x</a:t>
            </a:r>
          </a:p>
        </p:txBody>
      </p:sp>
      <p:sp>
        <p:nvSpPr>
          <p:cNvPr id="9" name="TextBox 8"/>
          <p:cNvSpPr txBox="1"/>
          <p:nvPr/>
        </p:nvSpPr>
        <p:spPr>
          <a:xfrm>
            <a:off x="658368" y="5276088"/>
            <a:ext cx="1645920" cy="310896"/>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CDD6DC"/>
                </a:solidFill>
                <a:latin typeface="Microsoft YaHei"/>
              </a:rPr>
              <a:t>安全能效提升</a:t>
            </a:r>
          </a:p>
        </p:txBody>
      </p:sp>
      <p:sp>
        <p:nvSpPr>
          <p:cNvPr id="10" name="TextBox 9"/>
          <p:cNvSpPr txBox="1"/>
          <p:nvPr/>
        </p:nvSpPr>
        <p:spPr>
          <a:xfrm>
            <a:off x="2560320" y="4892040"/>
            <a:ext cx="1828800" cy="384048"/>
          </a:xfrm>
          <a:prstGeom prst="rect">
            <a:avLst/>
          </a:prstGeom>
          <a:noFill/>
        </p:spPr>
        <p:txBody>
          <a:bodyPr wrap="square" lIns="45720" tIns="27432" rIns="45720" bIns="27432" anchor="t">
            <a:spAutoFit/>
          </a:bodyPr>
          <a:lstStyle/>
          <a:p>
            <a:pPr algn="l">
              <a:lnSpc>
                <a:spcPct val="105000"/>
              </a:lnSpc>
              <a:spcAft>
                <a:spcPts val="200"/>
              </a:spcAft>
            </a:pPr>
            <a:r>
              <a:rPr sz="2400" b="1">
                <a:solidFill>
                  <a:srgbClr val="FFFFFF"/>
                </a:solidFill>
                <a:latin typeface="Aptos"/>
              </a:rPr>
              <a:t>1.64</a:t>
            </a:r>
          </a:p>
        </p:txBody>
      </p:sp>
      <p:sp>
        <p:nvSpPr>
          <p:cNvPr id="11" name="TextBox 10"/>
          <p:cNvSpPr txBox="1"/>
          <p:nvPr/>
        </p:nvSpPr>
        <p:spPr>
          <a:xfrm>
            <a:off x="2560320" y="5276088"/>
            <a:ext cx="1828800" cy="310896"/>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CDD6DC"/>
                </a:solidFill>
                <a:latin typeface="Microsoft YaHei"/>
              </a:rPr>
              <a:t>最终安全能效</a:t>
            </a:r>
          </a:p>
        </p:txBody>
      </p:sp>
      <p:sp>
        <p:nvSpPr>
          <p:cNvPr id="12" name="TextBox 11"/>
          <p:cNvSpPr txBox="1"/>
          <p:nvPr/>
        </p:nvSpPr>
        <p:spPr>
          <a:xfrm>
            <a:off x="4617720" y="4892040"/>
            <a:ext cx="1920240" cy="384048"/>
          </a:xfrm>
          <a:prstGeom prst="rect">
            <a:avLst/>
          </a:prstGeom>
          <a:noFill/>
        </p:spPr>
        <p:txBody>
          <a:bodyPr wrap="square" lIns="45720" tIns="27432" rIns="45720" bIns="27432" anchor="t">
            <a:spAutoFit/>
          </a:bodyPr>
          <a:lstStyle/>
          <a:p>
            <a:pPr algn="l">
              <a:lnSpc>
                <a:spcPct val="105000"/>
              </a:lnSpc>
              <a:spcAft>
                <a:spcPts val="200"/>
              </a:spcAft>
            </a:pPr>
            <a:r>
              <a:rPr sz="2400" b="1">
                <a:solidFill>
                  <a:srgbClr val="FFFFFF"/>
                </a:solidFill>
                <a:latin typeface="Aptos"/>
              </a:rPr>
              <a:t>0.999</a:t>
            </a:r>
          </a:p>
        </p:txBody>
      </p:sp>
      <p:sp>
        <p:nvSpPr>
          <p:cNvPr id="13" name="TextBox 12"/>
          <p:cNvSpPr txBox="1"/>
          <p:nvPr/>
        </p:nvSpPr>
        <p:spPr>
          <a:xfrm>
            <a:off x="4617720" y="5276088"/>
            <a:ext cx="1920240" cy="310896"/>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CDD6DC"/>
                </a:solidFill>
                <a:latin typeface="Microsoft YaHei"/>
              </a:rPr>
              <a:t>磁异常检测AUC</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DeepOWT · IBTrACS · WMM2025 · MATLAB/Python RIS-UAV simulation</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01/77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CONTENTS</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汇报目录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汇报目录</a:t>
            </a:r>
          </a:p>
        </p:txBody>
      </p:sp>
      <p:sp>
        <p:nvSpPr>
          <p:cNvPr id="7" name="TextBox 6"/>
          <p:cNvSpPr txBox="1"/>
          <p:nvPr/>
        </p:nvSpPr>
        <p:spPr>
          <a:xfrm>
            <a:off x="841248" y="1298448"/>
            <a:ext cx="502920" cy="310896"/>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01</a:t>
            </a:r>
          </a:p>
        </p:txBody>
      </p:sp>
      <p:sp>
        <p:nvSpPr>
          <p:cNvPr id="8" name="TextBox 7"/>
          <p:cNvSpPr txBox="1"/>
          <p:nvPr/>
        </p:nvSpPr>
        <p:spPr>
          <a:xfrm>
            <a:off x="1444752" y="1280160"/>
            <a:ext cx="361188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16202A"/>
                </a:solidFill>
                <a:latin typeface="Microsoft YaHei"/>
              </a:rPr>
              <a:t>一、灾后远海监测场景</a:t>
            </a:r>
          </a:p>
        </p:txBody>
      </p:sp>
      <p:sp>
        <p:nvSpPr>
          <p:cNvPr id="9" name="TextBox 8"/>
          <p:cNvSpPr txBox="1"/>
          <p:nvPr/>
        </p:nvSpPr>
        <p:spPr>
          <a:xfrm>
            <a:off x="5166360" y="1280160"/>
            <a:ext cx="580644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风电场、海缆、台风轨迹和真实数据构造</a:t>
            </a:r>
          </a:p>
        </p:txBody>
      </p:sp>
      <p:sp>
        <p:nvSpPr>
          <p:cNvPr id="10" name="TextBox 9"/>
          <p:cNvSpPr txBox="1"/>
          <p:nvPr/>
        </p:nvSpPr>
        <p:spPr>
          <a:xfrm>
            <a:off x="841248" y="2029967"/>
            <a:ext cx="502920" cy="310896"/>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02</a:t>
            </a:r>
          </a:p>
        </p:txBody>
      </p:sp>
      <p:sp>
        <p:nvSpPr>
          <p:cNvPr id="11" name="TextBox 10"/>
          <p:cNvSpPr txBox="1"/>
          <p:nvPr/>
        </p:nvSpPr>
        <p:spPr>
          <a:xfrm>
            <a:off x="1444752" y="2011679"/>
            <a:ext cx="361188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16202A"/>
                </a:solidFill>
                <a:latin typeface="Microsoft YaHei"/>
              </a:rPr>
              <a:t>二、空天地海系统架构</a:t>
            </a:r>
          </a:p>
        </p:txBody>
      </p:sp>
      <p:sp>
        <p:nvSpPr>
          <p:cNvPr id="12" name="TextBox 11"/>
          <p:cNvSpPr txBox="1"/>
          <p:nvPr/>
        </p:nvSpPr>
        <p:spPr>
          <a:xfrm>
            <a:off x="5166360" y="2011679"/>
            <a:ext cx="580644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卫星、UAV、岸基、RIS、AUV与密钥管理闭环</a:t>
            </a:r>
          </a:p>
        </p:txBody>
      </p:sp>
      <p:sp>
        <p:nvSpPr>
          <p:cNvPr id="13" name="TextBox 12"/>
          <p:cNvSpPr txBox="1"/>
          <p:nvPr/>
        </p:nvSpPr>
        <p:spPr>
          <a:xfrm>
            <a:off x="841248" y="2761488"/>
            <a:ext cx="502920" cy="310896"/>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03</a:t>
            </a:r>
          </a:p>
        </p:txBody>
      </p:sp>
      <p:sp>
        <p:nvSpPr>
          <p:cNvPr id="14" name="TextBox 13"/>
          <p:cNvSpPr txBox="1"/>
          <p:nvPr/>
        </p:nvSpPr>
        <p:spPr>
          <a:xfrm>
            <a:off x="1444752" y="2743200"/>
            <a:ext cx="361188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16202A"/>
                </a:solidFill>
                <a:latin typeface="Microsoft YaHei"/>
              </a:rPr>
              <a:t>三、优化建模</a:t>
            </a:r>
          </a:p>
        </p:txBody>
      </p:sp>
      <p:sp>
        <p:nvSpPr>
          <p:cNvPr id="15" name="TextBox 14"/>
          <p:cNvSpPr txBox="1"/>
          <p:nvPr/>
        </p:nvSpPr>
        <p:spPr>
          <a:xfrm>
            <a:off x="5166360" y="2743200"/>
            <a:ext cx="580644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信道、QKD、磁异常优先级、能耗与完整分式目标</a:t>
            </a:r>
          </a:p>
        </p:txBody>
      </p:sp>
      <p:sp>
        <p:nvSpPr>
          <p:cNvPr id="16" name="TextBox 15"/>
          <p:cNvSpPr txBox="1"/>
          <p:nvPr/>
        </p:nvSpPr>
        <p:spPr>
          <a:xfrm>
            <a:off x="841248" y="3493008"/>
            <a:ext cx="502920" cy="310896"/>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04</a:t>
            </a:r>
          </a:p>
        </p:txBody>
      </p:sp>
      <p:sp>
        <p:nvSpPr>
          <p:cNvPr id="17" name="TextBox 16"/>
          <p:cNvSpPr txBox="1"/>
          <p:nvPr/>
        </p:nvSpPr>
        <p:spPr>
          <a:xfrm>
            <a:off x="1444752" y="3474720"/>
            <a:ext cx="361188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16202A"/>
                </a:solidFill>
                <a:latin typeface="Microsoft YaHei"/>
              </a:rPr>
              <a:t>四、Q-RIS-UAV-AO算法</a:t>
            </a:r>
          </a:p>
        </p:txBody>
      </p:sp>
      <p:sp>
        <p:nvSpPr>
          <p:cNvPr id="18" name="TextBox 17"/>
          <p:cNvSpPr txBox="1"/>
          <p:nvPr/>
        </p:nvSpPr>
        <p:spPr>
          <a:xfrm>
            <a:off x="5166360" y="3474720"/>
            <a:ext cx="580644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Dinkelbach、调度、CVXPY、RIS相位、UAV轨迹SCA</a:t>
            </a:r>
          </a:p>
        </p:txBody>
      </p:sp>
      <p:sp>
        <p:nvSpPr>
          <p:cNvPr id="19" name="TextBox 18"/>
          <p:cNvSpPr txBox="1"/>
          <p:nvPr/>
        </p:nvSpPr>
        <p:spPr>
          <a:xfrm>
            <a:off x="841248" y="4224528"/>
            <a:ext cx="502920" cy="310896"/>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05</a:t>
            </a:r>
          </a:p>
        </p:txBody>
      </p:sp>
      <p:sp>
        <p:nvSpPr>
          <p:cNvPr id="20" name="TextBox 19"/>
          <p:cNvSpPr txBox="1"/>
          <p:nvPr/>
        </p:nvSpPr>
        <p:spPr>
          <a:xfrm>
            <a:off x="1444752" y="4206240"/>
            <a:ext cx="361188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16202A"/>
                </a:solidFill>
                <a:latin typeface="Microsoft YaHei"/>
              </a:rPr>
              <a:t>五、仿真实验与分析</a:t>
            </a:r>
          </a:p>
        </p:txBody>
      </p:sp>
      <p:sp>
        <p:nvSpPr>
          <p:cNvPr id="21" name="TextBox 20"/>
          <p:cNvSpPr txBox="1"/>
          <p:nvPr/>
        </p:nvSpPr>
        <p:spPr>
          <a:xfrm>
            <a:off x="5166360" y="4206240"/>
            <a:ext cx="580644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RIS/MATLAB波束、轨迹、收敛、密钥、鲁棒性与消融</a:t>
            </a:r>
          </a:p>
        </p:txBody>
      </p:sp>
      <p:sp>
        <p:nvSpPr>
          <p:cNvPr id="22" name="TextBox 21"/>
          <p:cNvSpPr txBox="1"/>
          <p:nvPr/>
        </p:nvSpPr>
        <p:spPr>
          <a:xfrm>
            <a:off x="841248" y="4956048"/>
            <a:ext cx="502920" cy="310896"/>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06</a:t>
            </a:r>
          </a:p>
        </p:txBody>
      </p:sp>
      <p:sp>
        <p:nvSpPr>
          <p:cNvPr id="23" name="TextBox 22"/>
          <p:cNvSpPr txBox="1"/>
          <p:nvPr/>
        </p:nvSpPr>
        <p:spPr>
          <a:xfrm>
            <a:off x="1444752" y="4937760"/>
            <a:ext cx="361188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16202A"/>
                </a:solidFill>
                <a:latin typeface="Microsoft YaHei"/>
              </a:rPr>
              <a:t>六、创新点与工程边界</a:t>
            </a:r>
          </a:p>
        </p:txBody>
      </p:sp>
      <p:sp>
        <p:nvSpPr>
          <p:cNvPr id="24" name="TextBox 23"/>
          <p:cNvSpPr txBox="1"/>
          <p:nvPr/>
        </p:nvSpPr>
        <p:spPr>
          <a:xfrm>
            <a:off x="5166360" y="4937760"/>
            <a:ext cx="580644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量子感知、量子安全与可重构传播的联合优化</a:t>
            </a:r>
          </a:p>
        </p:txBody>
      </p:sp>
      <p:sp>
        <p:nvSpPr>
          <p:cNvPr id="25" name="Rectangle 24"/>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Academic presentation outline</a:t>
            </a:r>
          </a:p>
        </p:txBody>
      </p:sp>
      <p:sp>
        <p:nvSpPr>
          <p:cNvPr id="27" name="TextBox 26"/>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02/77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96012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2A9D8F"/>
                </a:solidFill>
                <a:latin typeface="Aptos"/>
              </a:rPr>
              <a:t>一</a:t>
            </a:r>
          </a:p>
        </p:txBody>
      </p:sp>
      <p:sp>
        <p:nvSpPr>
          <p:cNvPr id="4" name="TextBox 3"/>
          <p:cNvSpPr txBox="1"/>
          <p:nvPr/>
        </p:nvSpPr>
        <p:spPr>
          <a:xfrm>
            <a:off x="1664208" y="658368"/>
            <a:ext cx="8046720" cy="548640"/>
          </a:xfrm>
          <a:prstGeom prst="rect">
            <a:avLst/>
          </a:prstGeom>
          <a:noFill/>
        </p:spPr>
        <p:txBody>
          <a:bodyPr wrap="square" lIns="45720" tIns="27432" rIns="45720" bIns="27432" anchor="t">
            <a:spAutoFit/>
          </a:bodyPr>
          <a:lstStyle/>
          <a:p>
            <a:pPr algn="l">
              <a:lnSpc>
                <a:spcPct val="105000"/>
              </a:lnSpc>
              <a:spcAft>
                <a:spcPts val="200"/>
              </a:spcAft>
            </a:pPr>
            <a:r>
              <a:rPr sz="2800" b="1">
                <a:solidFill>
                  <a:srgbClr val="FFFFFF"/>
                </a:solidFill>
                <a:latin typeface="Microsoft YaHei"/>
              </a:rPr>
              <a:t>灾后远海监测场景</a:t>
            </a:r>
          </a:p>
        </p:txBody>
      </p:sp>
      <p:sp>
        <p:nvSpPr>
          <p:cNvPr id="5" name="TextBox 4"/>
          <p:cNvSpPr txBox="1"/>
          <p:nvPr/>
        </p:nvSpPr>
        <p:spPr>
          <a:xfrm>
            <a:off x="1691640" y="1389888"/>
            <a:ext cx="9052560" cy="502920"/>
          </a:xfrm>
          <a:prstGeom prst="rect">
            <a:avLst/>
          </a:prstGeom>
          <a:noFill/>
        </p:spPr>
        <p:txBody>
          <a:bodyPr wrap="square" lIns="45720" tIns="27432" rIns="45720" bIns="27432" anchor="t">
            <a:spAutoFit/>
          </a:bodyPr>
          <a:lstStyle/>
          <a:p>
            <a:pPr algn="l">
              <a:lnSpc>
                <a:spcPct val="105000"/>
              </a:lnSpc>
              <a:spcAft>
                <a:spcPts val="200"/>
              </a:spcAft>
            </a:pPr>
            <a:r>
              <a:rPr sz="1500" b="0">
                <a:solidFill>
                  <a:srgbClr val="DAE2E7"/>
                </a:solidFill>
                <a:latin typeface="Microsoft YaHei"/>
              </a:rPr>
              <a:t>先说明问题从哪里来：灾害、海缆风险、远海通信和真实数据如何进入同一场景。</a:t>
            </a:r>
          </a:p>
        </p:txBody>
      </p:sp>
      <p:sp>
        <p:nvSpPr>
          <p:cNvPr id="6" name="TextBox 5"/>
          <p:cNvSpPr txBox="1"/>
          <p:nvPr/>
        </p:nvSpPr>
        <p:spPr>
          <a:xfrm>
            <a:off x="1719072" y="2331720"/>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1</a:t>
            </a:r>
          </a:p>
        </p:txBody>
      </p:sp>
      <p:sp>
        <p:nvSpPr>
          <p:cNvPr id="7" name="TextBox 6"/>
          <p:cNvSpPr txBox="1"/>
          <p:nvPr/>
        </p:nvSpPr>
        <p:spPr>
          <a:xfrm>
            <a:off x="2148840" y="2313432"/>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远海风电和海缆是典型的高价值、低可达基础设施。</a:t>
            </a:r>
          </a:p>
        </p:txBody>
      </p:sp>
      <p:sp>
        <p:nvSpPr>
          <p:cNvPr id="8" name="TextBox 7"/>
          <p:cNvSpPr txBox="1"/>
          <p:nvPr/>
        </p:nvSpPr>
        <p:spPr>
          <a:xfrm>
            <a:off x="1719072" y="2990087"/>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2</a:t>
            </a:r>
          </a:p>
        </p:txBody>
      </p:sp>
      <p:sp>
        <p:nvSpPr>
          <p:cNvPr id="9" name="TextBox 8"/>
          <p:cNvSpPr txBox="1"/>
          <p:nvPr/>
        </p:nvSpPr>
        <p:spPr>
          <a:xfrm>
            <a:off x="2148840" y="2971799"/>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台风后常规通信与人工巡检能力下降，无人机（Unmanned Aerial Vehicle, UAV）临时组网成为关键手段。</a:t>
            </a:r>
          </a:p>
        </p:txBody>
      </p:sp>
      <p:sp>
        <p:nvSpPr>
          <p:cNvPr id="10" name="TextBox 9"/>
          <p:cNvSpPr txBox="1"/>
          <p:nvPr/>
        </p:nvSpPr>
        <p:spPr>
          <a:xfrm>
            <a:off x="1719072" y="3648456"/>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3</a:t>
            </a:r>
          </a:p>
        </p:txBody>
      </p:sp>
      <p:sp>
        <p:nvSpPr>
          <p:cNvPr id="11" name="TextBox 10"/>
          <p:cNvSpPr txBox="1"/>
          <p:nvPr/>
        </p:nvSpPr>
        <p:spPr>
          <a:xfrm>
            <a:off x="2148840" y="3630168"/>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量子磁力计探测提供异常线索，后续优化围绕异常优先级展开。</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Section transition</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03/77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INTRODUCTION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一、灾后远海监测场景</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问题引入：灾后远海监测为何形成优化问题</a:t>
            </a:r>
          </a:p>
        </p:txBody>
      </p:sp>
      <p:sp>
        <p:nvSpPr>
          <p:cNvPr id="7" name="Rectangle 6"/>
          <p:cNvSpPr/>
          <p:nvPr/>
        </p:nvSpPr>
        <p:spPr>
          <a:xfrm>
            <a:off x="777240" y="1417320"/>
            <a:ext cx="10652760" cy="3877056"/>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673352"/>
            <a:ext cx="10012680" cy="978794"/>
          </a:xfrm>
          <a:prstGeom prst="rect">
            <a:avLst/>
          </a:prstGeom>
          <a:noFill/>
        </p:spPr>
        <p:txBody>
          <a:bodyPr wrap="square" lIns="45720" tIns="27432" rIns="45720" bIns="27432" anchor="t">
            <a:spAutoFit/>
          </a:bodyPr>
          <a:lstStyle/>
          <a:p>
            <a:pPr algn="l">
              <a:lnSpc>
                <a:spcPct val="114000"/>
              </a:lnSpc>
              <a:spcAft>
                <a:spcPts val="200"/>
              </a:spcAft>
            </a:pPr>
            <a:r>
              <a:rPr b="0" dirty="0">
                <a:solidFill>
                  <a:srgbClr val="16202A"/>
                </a:solidFill>
                <a:latin typeface="Microsoft YaHei"/>
              </a:rPr>
              <a:t>远海风电场和海底电缆位于人工巡检半径之外，台风后同时面临设备状态未知、通信链路退化和安全告警时效性下降的问题。此时任务目标从单纯收集更多数据，转向在有限能量和有限密钥下优先回传与风险最高区域相关的数据。</a:t>
            </a:r>
          </a:p>
        </p:txBody>
      </p:sp>
      <p:sp>
        <p:nvSpPr>
          <p:cNvPr id="9" name="TextBox 8"/>
          <p:cNvSpPr txBox="1"/>
          <p:nvPr/>
        </p:nvSpPr>
        <p:spPr>
          <a:xfrm>
            <a:off x="1097280" y="2843784"/>
            <a:ext cx="10012680" cy="663002"/>
          </a:xfrm>
          <a:prstGeom prst="rect">
            <a:avLst/>
          </a:prstGeom>
          <a:noFill/>
        </p:spPr>
        <p:txBody>
          <a:bodyPr wrap="square" lIns="45720" tIns="27432" rIns="45720" bIns="27432" anchor="t">
            <a:spAutoFit/>
          </a:bodyPr>
          <a:lstStyle/>
          <a:p>
            <a:pPr algn="l">
              <a:lnSpc>
                <a:spcPct val="114000"/>
              </a:lnSpc>
              <a:spcAft>
                <a:spcPts val="200"/>
              </a:spcAft>
            </a:pPr>
            <a:r>
              <a:rPr b="0" dirty="0">
                <a:solidFill>
                  <a:srgbClr val="16202A"/>
                </a:solidFill>
                <a:latin typeface="Microsoft YaHei"/>
              </a:rPr>
              <a:t>本项目把灾后巡检抽象为一个联合优化问题：量子磁探测给出风险权重，RIS和UAV决定远海链路质量，QKD密钥决定哪些数据能够被安全计入收益。三个模块共同决定安全数据能效。</a:t>
            </a:r>
          </a:p>
        </p:txBody>
      </p:sp>
      <p:sp>
        <p:nvSpPr>
          <p:cNvPr id="10" name="TextBox 9"/>
          <p:cNvSpPr txBox="1"/>
          <p:nvPr/>
        </p:nvSpPr>
        <p:spPr>
          <a:xfrm>
            <a:off x="1097280" y="4014216"/>
            <a:ext cx="10012680" cy="663002"/>
          </a:xfrm>
          <a:prstGeom prst="rect">
            <a:avLst/>
          </a:prstGeom>
          <a:noFill/>
        </p:spPr>
        <p:txBody>
          <a:bodyPr wrap="square" lIns="45720" tIns="27432" rIns="45720" bIns="27432" anchor="t">
            <a:spAutoFit/>
          </a:bodyPr>
          <a:lstStyle/>
          <a:p>
            <a:pPr algn="l">
              <a:lnSpc>
                <a:spcPct val="114000"/>
              </a:lnSpc>
              <a:spcAft>
                <a:spcPts val="200"/>
              </a:spcAft>
            </a:pPr>
            <a:r>
              <a:rPr b="0" dirty="0">
                <a:solidFill>
                  <a:srgbClr val="16202A"/>
                </a:solidFill>
                <a:latin typeface="Microsoft YaHei"/>
              </a:rPr>
              <a:t>因此，后续建模会依次回答三个问题：哪些节点重要、如何把它们连上、在能量和密钥受限时如何分配资源。这个叙事顺序对应后续的系统架构、数学模型和算法分解。</a:t>
            </a:r>
          </a:p>
        </p:txBody>
      </p:sp>
      <p:sp>
        <p:nvSpPr>
          <p:cNvPr id="11" name="TextBox 10"/>
          <p:cNvSpPr txBox="1"/>
          <p:nvPr/>
        </p:nvSpPr>
        <p:spPr>
          <a:xfrm>
            <a:off x="868680" y="5742432"/>
            <a:ext cx="10287000" cy="475488"/>
          </a:xfrm>
          <a:prstGeom prst="rect">
            <a:avLst/>
          </a:prstGeom>
          <a:noFill/>
        </p:spPr>
        <p:txBody>
          <a:bodyPr wrap="square" lIns="45720" tIns="27432" rIns="45720" bIns="27432" anchor="t">
            <a:spAutoFit/>
          </a:bodyPr>
          <a:lstStyle/>
          <a:p>
            <a:pPr algn="l">
              <a:lnSpc>
                <a:spcPct val="112000"/>
              </a:lnSpc>
              <a:spcAft>
                <a:spcPts val="200"/>
              </a:spcAft>
            </a:pPr>
            <a:r>
              <a:rPr sz="1400" b="1">
                <a:solidFill>
                  <a:srgbClr val="2A9D8F"/>
                </a:solidFill>
                <a:latin typeface="Microsoft YaHei"/>
              </a:rPr>
              <a:t>本章作用：把工程场景转化为“风险权重、通信链路、安全密钥、能耗约束”四类数学对象。</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Academic narrative bridge</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04/77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TERMS</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一、灾后远海监测场景</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核心术语与简写表</a:t>
            </a:r>
          </a:p>
        </p:txBody>
      </p:sp>
      <p:graphicFrame>
        <p:nvGraphicFramePr>
          <p:cNvPr id="7" name="Table 6"/>
          <p:cNvGraphicFramePr>
            <a:graphicFrameLocks noGrp="1"/>
          </p:cNvGraphicFramePr>
          <p:nvPr/>
        </p:nvGraphicFramePr>
        <p:xfrm>
          <a:off x="640080" y="1298448"/>
          <a:ext cx="10881358" cy="4160520"/>
        </p:xfrm>
        <a:graphic>
          <a:graphicData uri="http://schemas.openxmlformats.org/drawingml/2006/table">
            <a:tbl>
              <a:tblPr firstRow="1" bandRow="1">
                <a:tableStyleId>{5C22544A-7EE6-4342-B048-85BDC9FD1C3A}</a:tableStyleId>
              </a:tblPr>
              <a:tblGrid>
                <a:gridCol w="1414576">
                  <a:extLst>
                    <a:ext uri="{9D8B030D-6E8A-4147-A177-3AD203B41FA5}">
                      <a16:colId xmlns:a16="http://schemas.microsoft.com/office/drawing/2014/main" val="20000"/>
                    </a:ext>
                  </a:extLst>
                </a:gridCol>
                <a:gridCol w="4678984">
                  <a:extLst>
                    <a:ext uri="{9D8B030D-6E8A-4147-A177-3AD203B41FA5}">
                      <a16:colId xmlns:a16="http://schemas.microsoft.com/office/drawing/2014/main" val="20001"/>
                    </a:ext>
                  </a:extLst>
                </a:gridCol>
                <a:gridCol w="4787798">
                  <a:extLst>
                    <a:ext uri="{9D8B030D-6E8A-4147-A177-3AD203B41FA5}">
                      <a16:colId xmlns:a16="http://schemas.microsoft.com/office/drawing/2014/main" val="20002"/>
                    </a:ext>
                  </a:extLst>
                </a:gridCol>
              </a:tblGrid>
              <a:tr h="693420">
                <a:tc>
                  <a:txBody>
                    <a:bodyPr/>
                    <a:lstStyle/>
                    <a:p>
                      <a:r>
                        <a:rPr sz="1080" b="1">
                          <a:solidFill>
                            <a:srgbClr val="FFFFFF"/>
                          </a:solidFill>
                          <a:latin typeface="Microsoft YaHei"/>
                        </a:rPr>
                        <a:t>简写</a:t>
                      </a:r>
                    </a:p>
                  </a:txBody>
                  <a:tcPr marL="45720" marR="45720" marT="36576" marB="36576">
                    <a:solidFill>
                      <a:srgbClr val="1D2B39"/>
                    </a:solidFill>
                  </a:tcPr>
                </a:tc>
                <a:tc>
                  <a:txBody>
                    <a:bodyPr/>
                    <a:lstStyle/>
                    <a:p>
                      <a:r>
                        <a:rPr sz="1080" b="1">
                          <a:solidFill>
                            <a:srgbClr val="FFFFFF"/>
                          </a:solidFill>
                          <a:latin typeface="Microsoft YaHei"/>
                        </a:rPr>
                        <a:t>全称</a:t>
                      </a:r>
                    </a:p>
                  </a:txBody>
                  <a:tcPr marL="45720" marR="45720" marT="36576" marB="36576">
                    <a:solidFill>
                      <a:srgbClr val="1D2B39"/>
                    </a:solidFill>
                  </a:tcPr>
                </a:tc>
                <a:tc>
                  <a:txBody>
                    <a:bodyPr/>
                    <a:lstStyle/>
                    <a:p>
                      <a:r>
                        <a:rPr sz="1080" b="1">
                          <a:solidFill>
                            <a:srgbClr val="FFFFFF"/>
                          </a:solidFill>
                          <a:latin typeface="Microsoft YaHei"/>
                        </a:rPr>
                        <a:t>本项目中的含义</a:t>
                      </a:r>
                    </a:p>
                  </a:txBody>
                  <a:tcPr marL="45720" marR="45720" marT="36576" marB="36576">
                    <a:solidFill>
                      <a:srgbClr val="1D2B39"/>
                    </a:solidFill>
                  </a:tcPr>
                </a:tc>
                <a:extLst>
                  <a:ext uri="{0D108BD9-81ED-4DB2-BD59-A6C34878D82A}">
                    <a16:rowId xmlns:a16="http://schemas.microsoft.com/office/drawing/2014/main" val="10000"/>
                  </a:ext>
                </a:extLst>
              </a:tr>
              <a:tr h="693420">
                <a:tc>
                  <a:txBody>
                    <a:bodyPr/>
                    <a:lstStyle/>
                    <a:p>
                      <a:r>
                        <a:rPr sz="1080" b="0">
                          <a:solidFill>
                            <a:srgbClr val="16202A"/>
                          </a:solidFill>
                          <a:latin typeface="Microsoft YaHei"/>
                        </a:rPr>
                        <a:t>RIS</a:t>
                      </a:r>
                    </a:p>
                  </a:txBody>
                  <a:tcPr marL="45720" marR="45720" marT="36576" marB="36576">
                    <a:solidFill>
                      <a:srgbClr val="FCFCF9"/>
                    </a:solidFill>
                  </a:tcPr>
                </a:tc>
                <a:tc>
                  <a:txBody>
                    <a:bodyPr/>
                    <a:lstStyle/>
                    <a:p>
                      <a:r>
                        <a:rPr sz="1080" b="0">
                          <a:solidFill>
                            <a:srgbClr val="16202A"/>
                          </a:solidFill>
                          <a:latin typeface="Microsoft YaHei"/>
                        </a:rPr>
                        <a:t>智能反射超表面 Reconfigurable Intelligent Surface</a:t>
                      </a:r>
                    </a:p>
                  </a:txBody>
                  <a:tcPr marL="45720" marR="45720" marT="36576" marB="36576">
                    <a:solidFill>
                      <a:srgbClr val="FCFCF9"/>
                    </a:solidFill>
                  </a:tcPr>
                </a:tc>
                <a:tc>
                  <a:txBody>
                    <a:bodyPr/>
                    <a:lstStyle/>
                    <a:p>
                      <a:r>
                        <a:rPr sz="1080" b="0">
                          <a:solidFill>
                            <a:srgbClr val="16202A"/>
                          </a:solidFill>
                          <a:latin typeface="Microsoft YaHei"/>
                        </a:rPr>
                        <a:t>通过离散相位编码调控反射链路</a:t>
                      </a:r>
                    </a:p>
                  </a:txBody>
                  <a:tcPr marL="45720" marR="45720" marT="36576" marB="36576">
                    <a:solidFill>
                      <a:srgbClr val="FCFCF9"/>
                    </a:solidFill>
                  </a:tcPr>
                </a:tc>
                <a:extLst>
                  <a:ext uri="{0D108BD9-81ED-4DB2-BD59-A6C34878D82A}">
                    <a16:rowId xmlns:a16="http://schemas.microsoft.com/office/drawing/2014/main" val="10001"/>
                  </a:ext>
                </a:extLst>
              </a:tr>
              <a:tr h="693420">
                <a:tc>
                  <a:txBody>
                    <a:bodyPr/>
                    <a:lstStyle/>
                    <a:p>
                      <a:r>
                        <a:rPr sz="1080" b="0">
                          <a:solidFill>
                            <a:srgbClr val="16202A"/>
                          </a:solidFill>
                          <a:latin typeface="Microsoft YaHei"/>
                        </a:rPr>
                        <a:t>UAV</a:t>
                      </a:r>
                    </a:p>
                  </a:txBody>
                  <a:tcPr marL="45720" marR="45720" marT="36576" marB="36576">
                    <a:solidFill>
                      <a:srgbClr val="FCFCF9"/>
                    </a:solidFill>
                  </a:tcPr>
                </a:tc>
                <a:tc>
                  <a:txBody>
                    <a:bodyPr/>
                    <a:lstStyle/>
                    <a:p>
                      <a:r>
                        <a:rPr sz="1080" b="0">
                          <a:solidFill>
                            <a:srgbClr val="16202A"/>
                          </a:solidFill>
                          <a:latin typeface="Microsoft YaHei"/>
                        </a:rPr>
                        <a:t>无人机 Unmanned Aerial Vehicle</a:t>
                      </a:r>
                    </a:p>
                  </a:txBody>
                  <a:tcPr marL="45720" marR="45720" marT="36576" marB="36576">
                    <a:solidFill>
                      <a:srgbClr val="FCFCF9"/>
                    </a:solidFill>
                  </a:tcPr>
                </a:tc>
                <a:tc>
                  <a:txBody>
                    <a:bodyPr/>
                    <a:lstStyle/>
                    <a:p>
                      <a:r>
                        <a:rPr sz="1080" b="0">
                          <a:solidFill>
                            <a:srgbClr val="16202A"/>
                          </a:solidFill>
                          <a:latin typeface="Microsoft YaHei"/>
                        </a:rPr>
                        <a:t>灾后临时空中中继与巡检平台</a:t>
                      </a:r>
                    </a:p>
                  </a:txBody>
                  <a:tcPr marL="45720" marR="45720" marT="36576" marB="36576">
                    <a:solidFill>
                      <a:srgbClr val="FCFCF9"/>
                    </a:solidFill>
                  </a:tcPr>
                </a:tc>
                <a:extLst>
                  <a:ext uri="{0D108BD9-81ED-4DB2-BD59-A6C34878D82A}">
                    <a16:rowId xmlns:a16="http://schemas.microsoft.com/office/drawing/2014/main" val="10002"/>
                  </a:ext>
                </a:extLst>
              </a:tr>
              <a:tr h="693420">
                <a:tc>
                  <a:txBody>
                    <a:bodyPr/>
                    <a:lstStyle/>
                    <a:p>
                      <a:r>
                        <a:rPr sz="1080" b="0">
                          <a:solidFill>
                            <a:srgbClr val="16202A"/>
                          </a:solidFill>
                          <a:latin typeface="Microsoft YaHei"/>
                        </a:rPr>
                        <a:t>QKD</a:t>
                      </a:r>
                    </a:p>
                  </a:txBody>
                  <a:tcPr marL="45720" marR="45720" marT="36576" marB="36576">
                    <a:solidFill>
                      <a:srgbClr val="FCFCF9"/>
                    </a:solidFill>
                  </a:tcPr>
                </a:tc>
                <a:tc>
                  <a:txBody>
                    <a:bodyPr/>
                    <a:lstStyle/>
                    <a:p>
                      <a:r>
                        <a:rPr sz="1080" b="0">
                          <a:solidFill>
                            <a:srgbClr val="16202A"/>
                          </a:solidFill>
                          <a:latin typeface="Microsoft YaHei"/>
                        </a:rPr>
                        <a:t>量子密钥分发 Quantum Key Distribution</a:t>
                      </a:r>
                    </a:p>
                  </a:txBody>
                  <a:tcPr marL="45720" marR="45720" marT="36576" marB="36576">
                    <a:solidFill>
                      <a:srgbClr val="FCFCF9"/>
                    </a:solidFill>
                  </a:tcPr>
                </a:tc>
                <a:tc>
                  <a:txBody>
                    <a:bodyPr/>
                    <a:lstStyle/>
                    <a:p>
                      <a:r>
                        <a:rPr sz="1080" b="0">
                          <a:solidFill>
                            <a:srgbClr val="16202A"/>
                          </a:solidFill>
                          <a:latin typeface="Microsoft YaHei"/>
                        </a:rPr>
                        <a:t>为关键告警与控制数据提供密钥预算</a:t>
                      </a:r>
                    </a:p>
                  </a:txBody>
                  <a:tcPr marL="45720" marR="45720" marT="36576" marB="36576">
                    <a:solidFill>
                      <a:srgbClr val="FCFCF9"/>
                    </a:solidFill>
                  </a:tcPr>
                </a:tc>
                <a:extLst>
                  <a:ext uri="{0D108BD9-81ED-4DB2-BD59-A6C34878D82A}">
                    <a16:rowId xmlns:a16="http://schemas.microsoft.com/office/drawing/2014/main" val="10003"/>
                  </a:ext>
                </a:extLst>
              </a:tr>
              <a:tr h="693420">
                <a:tc>
                  <a:txBody>
                    <a:bodyPr/>
                    <a:lstStyle/>
                    <a:p>
                      <a:r>
                        <a:rPr sz="1080" b="0">
                          <a:solidFill>
                            <a:srgbClr val="16202A"/>
                          </a:solidFill>
                          <a:latin typeface="Microsoft YaHei"/>
                        </a:rPr>
                        <a:t>SAGSI</a:t>
                      </a:r>
                    </a:p>
                  </a:txBody>
                  <a:tcPr marL="45720" marR="45720" marT="36576" marB="36576">
                    <a:solidFill>
                      <a:srgbClr val="FCFCF9"/>
                    </a:solidFill>
                  </a:tcPr>
                </a:tc>
                <a:tc>
                  <a:txBody>
                    <a:bodyPr/>
                    <a:lstStyle/>
                    <a:p>
                      <a:r>
                        <a:rPr sz="1080" b="0">
                          <a:solidFill>
                            <a:srgbClr val="16202A"/>
                          </a:solidFill>
                          <a:latin typeface="Microsoft YaHei"/>
                        </a:rPr>
                        <a:t>空天地海一体化网络 Space-Air-Ground-Sea Integrated Network</a:t>
                      </a:r>
                    </a:p>
                  </a:txBody>
                  <a:tcPr marL="45720" marR="45720" marT="36576" marB="36576">
                    <a:solidFill>
                      <a:srgbClr val="FCFCF9"/>
                    </a:solidFill>
                  </a:tcPr>
                </a:tc>
                <a:tc>
                  <a:txBody>
                    <a:bodyPr/>
                    <a:lstStyle/>
                    <a:p>
                      <a:r>
                        <a:rPr sz="1080" b="0">
                          <a:solidFill>
                            <a:srgbClr val="16202A"/>
                          </a:solidFill>
                          <a:latin typeface="Microsoft YaHei"/>
                        </a:rPr>
                        <a:t>卫星、UAV、岸基、海上/水下节点协同</a:t>
                      </a:r>
                    </a:p>
                  </a:txBody>
                  <a:tcPr marL="45720" marR="45720" marT="36576" marB="36576">
                    <a:solidFill>
                      <a:srgbClr val="FCFCF9"/>
                    </a:solidFill>
                  </a:tcPr>
                </a:tc>
                <a:extLst>
                  <a:ext uri="{0D108BD9-81ED-4DB2-BD59-A6C34878D82A}">
                    <a16:rowId xmlns:a16="http://schemas.microsoft.com/office/drawing/2014/main" val="10004"/>
                  </a:ext>
                </a:extLst>
              </a:tr>
              <a:tr h="693420">
                <a:tc>
                  <a:txBody>
                    <a:bodyPr/>
                    <a:lstStyle/>
                    <a:p>
                      <a:r>
                        <a:rPr sz="1080" b="0">
                          <a:solidFill>
                            <a:srgbClr val="16202A"/>
                          </a:solidFill>
                          <a:latin typeface="Microsoft YaHei"/>
                        </a:rPr>
                        <a:t>AUV</a:t>
                      </a:r>
                    </a:p>
                  </a:txBody>
                  <a:tcPr marL="45720" marR="45720" marT="36576" marB="36576">
                    <a:solidFill>
                      <a:srgbClr val="FCFCF9"/>
                    </a:solidFill>
                  </a:tcPr>
                </a:tc>
                <a:tc>
                  <a:txBody>
                    <a:bodyPr/>
                    <a:lstStyle/>
                    <a:p>
                      <a:r>
                        <a:rPr sz="1080" b="0">
                          <a:solidFill>
                            <a:srgbClr val="16202A"/>
                          </a:solidFill>
                          <a:latin typeface="Microsoft YaHei"/>
                        </a:rPr>
                        <a:t>自主水下航行器 Autonomous Underwater Vehicle</a:t>
                      </a:r>
                    </a:p>
                  </a:txBody>
                  <a:tcPr marL="45720" marR="45720" marT="36576" marB="36576">
                    <a:solidFill>
                      <a:srgbClr val="FCFCF9"/>
                    </a:solidFill>
                  </a:tcPr>
                </a:tc>
                <a:tc>
                  <a:txBody>
                    <a:bodyPr/>
                    <a:lstStyle/>
                    <a:p>
                      <a:r>
                        <a:rPr sz="1080" b="0">
                          <a:solidFill>
                            <a:srgbClr val="16202A"/>
                          </a:solidFill>
                          <a:latin typeface="Microsoft YaHei"/>
                        </a:rPr>
                        <a:t>搭载量子磁力计进行海缆异常探测</a:t>
                      </a:r>
                    </a:p>
                  </a:txBody>
                  <a:tcPr marL="45720" marR="45720" marT="36576" marB="36576">
                    <a:solidFill>
                      <a:srgbClr val="FCFCF9"/>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868680" y="5513832"/>
            <a:ext cx="10058400" cy="502920"/>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本页先给出跨学科术语的中文含义与英文全称。后续章节在第一次进入数学模型时再定义变量符号，使系统概念、工程对象和优化变量保持一致。</a:t>
            </a:r>
          </a:p>
        </p:txBody>
      </p:sp>
      <p:sp>
        <p:nvSpPr>
          <p:cNvPr id="9" name="Rectangle 8"/>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1" name="TextBox 10"/>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05/77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PROJECT SPINE</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一、灾后远海监测场景</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研究主线：量子电磁感知、安全通信与能效优化闭环</a:t>
            </a:r>
          </a:p>
        </p:txBody>
      </p:sp>
      <p:sp>
        <p:nvSpPr>
          <p:cNvPr id="7" name="Rectangle 6"/>
          <p:cNvSpPr/>
          <p:nvPr/>
        </p:nvSpPr>
        <p:spPr>
          <a:xfrm>
            <a:off x="777240" y="1417320"/>
            <a:ext cx="3337560" cy="3611880"/>
          </a:xfrm>
          <a:prstGeom prst="rect">
            <a:avLst/>
          </a:prstGeom>
          <a:solidFill>
            <a:srgbClr val="EFF9F7"/>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719072"/>
            <a:ext cx="1188720" cy="292608"/>
          </a:xfrm>
          <a:prstGeom prst="rect">
            <a:avLst/>
          </a:prstGeom>
          <a:noFill/>
        </p:spPr>
        <p:txBody>
          <a:bodyPr wrap="square" lIns="45720" tIns="27432" rIns="45720" bIns="27432" anchor="t">
            <a:spAutoFit/>
          </a:bodyPr>
          <a:lstStyle/>
          <a:p>
            <a:pPr algn="l">
              <a:lnSpc>
                <a:spcPct val="105000"/>
              </a:lnSpc>
              <a:spcAft>
                <a:spcPts val="200"/>
              </a:spcAft>
            </a:pPr>
            <a:r>
              <a:rPr sz="2000" b="1">
                <a:solidFill>
                  <a:srgbClr val="2A9D8F"/>
                </a:solidFill>
                <a:latin typeface="Microsoft YaHei"/>
              </a:rPr>
              <a:t>感知</a:t>
            </a:r>
          </a:p>
        </p:txBody>
      </p:sp>
      <p:sp>
        <p:nvSpPr>
          <p:cNvPr id="9" name="TextBox 8"/>
          <p:cNvSpPr txBox="1"/>
          <p:nvPr/>
        </p:nvSpPr>
        <p:spPr>
          <a:xfrm>
            <a:off x="1024128" y="2212848"/>
            <a:ext cx="2788920" cy="1783080"/>
          </a:xfrm>
          <a:prstGeom prst="rect">
            <a:avLst/>
          </a:prstGeom>
          <a:noFill/>
        </p:spPr>
        <p:txBody>
          <a:bodyPr wrap="square" lIns="45720" tIns="27432" rIns="45720" bIns="27432" anchor="t">
            <a:spAutoFit/>
          </a:bodyPr>
          <a:lstStyle/>
          <a:p>
            <a:pPr algn="l">
              <a:lnSpc>
                <a:spcPct val="112000"/>
              </a:lnSpc>
              <a:spcAft>
                <a:spcPts val="200"/>
              </a:spcAft>
            </a:pPr>
            <a:r>
              <a:rPr sz="1220" b="0" dirty="0">
                <a:solidFill>
                  <a:srgbClr val="16202A"/>
                </a:solidFill>
                <a:latin typeface="Microsoft YaHei"/>
              </a:rPr>
              <a:t>自主水下航行器（AUV）搭载量子磁力计，对海缆附近磁扰动进行测量。观测磁场先扣除WMM2025背景，再映射为异常分数和任务权重，决定哪些节点的数据更应优先回传。</a:t>
            </a:r>
          </a:p>
        </p:txBody>
      </p:sp>
      <p:sp>
        <p:nvSpPr>
          <p:cNvPr id="10" name="TextBox 9"/>
          <p:cNvSpPr txBox="1"/>
          <p:nvPr/>
        </p:nvSpPr>
        <p:spPr>
          <a:xfrm>
            <a:off x="1024128" y="4160520"/>
            <a:ext cx="2788920" cy="402336"/>
          </a:xfrm>
          <a:prstGeom prst="rect">
            <a:avLst/>
          </a:prstGeom>
          <a:noFill/>
        </p:spPr>
        <p:txBody>
          <a:bodyPr wrap="square" lIns="45720" tIns="27432" rIns="45720" bIns="27432" anchor="t">
            <a:spAutoFit/>
          </a:bodyPr>
          <a:lstStyle/>
          <a:p>
            <a:pPr algn="l">
              <a:lnSpc>
                <a:spcPct val="105000"/>
              </a:lnSpc>
              <a:spcAft>
                <a:spcPts val="200"/>
              </a:spcAft>
            </a:pPr>
            <a:r>
              <a:rPr sz="1160" b="1">
                <a:solidFill>
                  <a:srgbClr val="2A9D8F"/>
                </a:solidFill>
                <a:latin typeface="Microsoft YaHei"/>
              </a:rPr>
              <a:t>建模入口：异常分数 𝐴ₖ[𝑛] 与权重 𝑤ₖ[𝑛]</a:t>
            </a:r>
          </a:p>
        </p:txBody>
      </p:sp>
      <p:sp>
        <p:nvSpPr>
          <p:cNvPr id="11" name="Rectangle 10"/>
          <p:cNvSpPr/>
          <p:nvPr/>
        </p:nvSpPr>
        <p:spPr>
          <a:xfrm>
            <a:off x="4434840" y="1417320"/>
            <a:ext cx="3337560" cy="3611880"/>
          </a:xfrm>
          <a:prstGeom prst="rect">
            <a:avLst/>
          </a:prstGeom>
          <a:solidFill>
            <a:srgbClr val="FFF7EE"/>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81728" y="1719072"/>
            <a:ext cx="1188720" cy="292608"/>
          </a:xfrm>
          <a:prstGeom prst="rect">
            <a:avLst/>
          </a:prstGeom>
          <a:noFill/>
        </p:spPr>
        <p:txBody>
          <a:bodyPr wrap="square" lIns="45720" tIns="27432" rIns="45720" bIns="27432" anchor="t">
            <a:spAutoFit/>
          </a:bodyPr>
          <a:lstStyle/>
          <a:p>
            <a:pPr algn="l">
              <a:lnSpc>
                <a:spcPct val="105000"/>
              </a:lnSpc>
              <a:spcAft>
                <a:spcPts val="200"/>
              </a:spcAft>
            </a:pPr>
            <a:r>
              <a:rPr sz="2000" b="1">
                <a:solidFill>
                  <a:srgbClr val="E76F51"/>
                </a:solidFill>
                <a:latin typeface="Microsoft YaHei"/>
              </a:rPr>
              <a:t>通信</a:t>
            </a:r>
          </a:p>
        </p:txBody>
      </p:sp>
      <p:sp>
        <p:nvSpPr>
          <p:cNvPr id="13" name="TextBox 12"/>
          <p:cNvSpPr txBox="1"/>
          <p:nvPr/>
        </p:nvSpPr>
        <p:spPr>
          <a:xfrm>
            <a:off x="4681728" y="2187073"/>
            <a:ext cx="2788920" cy="1783080"/>
          </a:xfrm>
          <a:prstGeom prst="rect">
            <a:avLst/>
          </a:prstGeom>
          <a:noFill/>
        </p:spPr>
        <p:txBody>
          <a:bodyPr wrap="square" lIns="45720" tIns="27432" rIns="45720" bIns="27432" anchor="t">
            <a:spAutoFit/>
          </a:bodyPr>
          <a:lstStyle/>
          <a:p>
            <a:pPr algn="l">
              <a:lnSpc>
                <a:spcPct val="112000"/>
              </a:lnSpc>
              <a:spcAft>
                <a:spcPts val="200"/>
              </a:spcAft>
            </a:pPr>
            <a:r>
              <a:rPr sz="1220" b="0" dirty="0">
                <a:solidFill>
                  <a:srgbClr val="16202A"/>
                </a:solidFill>
                <a:latin typeface="Microsoft YaHei"/>
              </a:rPr>
              <a:t>智能反射超表面（RIS）通过离散相位改变级联信道，使远海节点、RIS与UAV之间的反射链路相干叠加。UAV同时通过轨迹、功率和带宽分配完成临时回传。</a:t>
            </a:r>
          </a:p>
        </p:txBody>
      </p:sp>
      <p:sp>
        <p:nvSpPr>
          <p:cNvPr id="14" name="TextBox 13"/>
          <p:cNvSpPr txBox="1"/>
          <p:nvPr/>
        </p:nvSpPr>
        <p:spPr>
          <a:xfrm>
            <a:off x="4681728" y="4160520"/>
            <a:ext cx="2788920" cy="402336"/>
          </a:xfrm>
          <a:prstGeom prst="rect">
            <a:avLst/>
          </a:prstGeom>
          <a:noFill/>
        </p:spPr>
        <p:txBody>
          <a:bodyPr wrap="square" lIns="45720" tIns="27432" rIns="45720" bIns="27432" anchor="t">
            <a:spAutoFit/>
          </a:bodyPr>
          <a:lstStyle/>
          <a:p>
            <a:pPr algn="l">
              <a:lnSpc>
                <a:spcPct val="105000"/>
              </a:lnSpc>
              <a:spcAft>
                <a:spcPts val="200"/>
              </a:spcAft>
            </a:pPr>
            <a:r>
              <a:rPr sz="1160" b="1">
                <a:solidFill>
                  <a:srgbClr val="E76F51"/>
                </a:solidFill>
                <a:latin typeface="Microsoft YaHei"/>
              </a:rPr>
              <a:t>建模入口：速率 𝑅ₖ[𝑛]、相位矩阵 𝜣[𝑛]</a:t>
            </a:r>
          </a:p>
        </p:txBody>
      </p:sp>
      <p:sp>
        <p:nvSpPr>
          <p:cNvPr id="15" name="Rectangle 14"/>
          <p:cNvSpPr/>
          <p:nvPr/>
        </p:nvSpPr>
        <p:spPr>
          <a:xfrm>
            <a:off x="8092440" y="1417320"/>
            <a:ext cx="3337560" cy="3611880"/>
          </a:xfrm>
          <a:prstGeom prst="rect">
            <a:avLst/>
          </a:prstGeom>
          <a:solidFill>
            <a:srgbClr val="F2F6FB"/>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7" y="1719072"/>
            <a:ext cx="1188720" cy="292608"/>
          </a:xfrm>
          <a:prstGeom prst="rect">
            <a:avLst/>
          </a:prstGeom>
          <a:noFill/>
        </p:spPr>
        <p:txBody>
          <a:bodyPr wrap="square" lIns="45720" tIns="27432" rIns="45720" bIns="27432" anchor="t">
            <a:spAutoFit/>
          </a:bodyPr>
          <a:lstStyle/>
          <a:p>
            <a:pPr algn="l">
              <a:lnSpc>
                <a:spcPct val="105000"/>
              </a:lnSpc>
              <a:spcAft>
                <a:spcPts val="200"/>
              </a:spcAft>
            </a:pPr>
            <a:r>
              <a:rPr sz="2000" b="1">
                <a:solidFill>
                  <a:srgbClr val="457B9D"/>
                </a:solidFill>
                <a:latin typeface="Microsoft YaHei"/>
              </a:rPr>
              <a:t>安全</a:t>
            </a:r>
          </a:p>
        </p:txBody>
      </p:sp>
      <p:sp>
        <p:nvSpPr>
          <p:cNvPr id="17" name="TextBox 16"/>
          <p:cNvSpPr txBox="1"/>
          <p:nvPr/>
        </p:nvSpPr>
        <p:spPr>
          <a:xfrm>
            <a:off x="8339327" y="2176272"/>
            <a:ext cx="2788920" cy="1783080"/>
          </a:xfrm>
          <a:prstGeom prst="rect">
            <a:avLst/>
          </a:prstGeom>
          <a:noFill/>
        </p:spPr>
        <p:txBody>
          <a:bodyPr wrap="square" lIns="45720" tIns="27432" rIns="45720" bIns="27432" anchor="t">
            <a:spAutoFit/>
          </a:bodyPr>
          <a:lstStyle/>
          <a:p>
            <a:pPr algn="l">
              <a:lnSpc>
                <a:spcPct val="112000"/>
              </a:lnSpc>
              <a:spcAft>
                <a:spcPts val="200"/>
              </a:spcAft>
            </a:pPr>
            <a:r>
              <a:rPr sz="1220" b="0" dirty="0">
                <a:solidFill>
                  <a:srgbClr val="16202A"/>
                </a:solidFill>
                <a:latin typeface="Microsoft YaHei"/>
              </a:rPr>
              <a:t>卫星量子密钥分发（QKD）提供有限密钥预算。关键告警和控制指令只有在获得足够密钥时才能计入安全数据量，因此密钥供给会与无线容量共同形成瓶颈</a:t>
            </a:r>
          </a:p>
        </p:txBody>
      </p:sp>
      <p:sp>
        <p:nvSpPr>
          <p:cNvPr id="18" name="TextBox 17"/>
          <p:cNvSpPr txBox="1"/>
          <p:nvPr/>
        </p:nvSpPr>
        <p:spPr>
          <a:xfrm>
            <a:off x="8339327" y="4160520"/>
            <a:ext cx="2788920" cy="402336"/>
          </a:xfrm>
          <a:prstGeom prst="rect">
            <a:avLst/>
          </a:prstGeom>
          <a:noFill/>
        </p:spPr>
        <p:txBody>
          <a:bodyPr wrap="square" lIns="45720" tIns="27432" rIns="45720" bIns="27432" anchor="t">
            <a:spAutoFit/>
          </a:bodyPr>
          <a:lstStyle/>
          <a:p>
            <a:pPr algn="l">
              <a:lnSpc>
                <a:spcPct val="105000"/>
              </a:lnSpc>
              <a:spcAft>
                <a:spcPts val="200"/>
              </a:spcAft>
            </a:pPr>
            <a:r>
              <a:rPr sz="1160" b="1">
                <a:solidFill>
                  <a:srgbClr val="457B9D"/>
                </a:solidFill>
                <a:latin typeface="Microsoft YaHei"/>
              </a:rPr>
              <a:t>建模入口：密钥分配 κₖ[𝑛] 与安全量 𝑠ₖ[𝑛]</a:t>
            </a:r>
          </a:p>
        </p:txBody>
      </p:sp>
      <p:sp>
        <p:nvSpPr>
          <p:cNvPr id="19" name="TextBox 18"/>
          <p:cNvSpPr txBox="1"/>
          <p:nvPr/>
        </p:nvSpPr>
        <p:spPr>
          <a:xfrm>
            <a:off x="960120" y="5577840"/>
            <a:ext cx="10058400" cy="365760"/>
          </a:xfrm>
          <a:prstGeom prst="rect">
            <a:avLst/>
          </a:prstGeom>
          <a:noFill/>
        </p:spPr>
        <p:txBody>
          <a:bodyPr wrap="square" lIns="45720" tIns="27432" rIns="45720" bIns="27432" anchor="t">
            <a:spAutoFit/>
          </a:bodyPr>
          <a:lstStyle/>
          <a:p>
            <a:pPr algn="l">
              <a:lnSpc>
                <a:spcPct val="105000"/>
              </a:lnSpc>
              <a:spcAft>
                <a:spcPts val="200"/>
              </a:spcAft>
            </a:pPr>
            <a:r>
              <a:rPr sz="2000" b="1">
                <a:solidFill>
                  <a:srgbClr val="16202A"/>
                </a:solidFill>
                <a:latin typeface="Microsoft YaHei"/>
              </a:rPr>
              <a:t>核心闭环：磁异常 → 任务权重 → RIS/UAV/资源联合优化 → 安全数据能效最大化</a:t>
            </a:r>
          </a:p>
        </p:txBody>
      </p:sp>
      <p:sp>
        <p:nvSpPr>
          <p:cNvPr id="20" name="Rectangle 19"/>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22" name="TextBox 21"/>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06/77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BACKGROUND</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一、灾后远海监测场景</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灾后远海风电与海缆监测场景</a:t>
            </a:r>
          </a:p>
        </p:txBody>
      </p:sp>
      <p:pic>
        <p:nvPicPr>
          <p:cNvPr id="7" name="Picture 6" descr="disaster_scenario_gpt.png"/>
          <p:cNvPicPr>
            <a:picLocks noChangeAspect="1"/>
          </p:cNvPicPr>
          <p:nvPr/>
        </p:nvPicPr>
        <p:blipFill>
          <a:blip r:embed="rId2"/>
          <a:stretch>
            <a:fillRect/>
          </a:stretch>
        </p:blipFill>
        <p:spPr>
          <a:xfrm>
            <a:off x="761697" y="1472092"/>
            <a:ext cx="8026362" cy="4517228"/>
          </a:xfrm>
          <a:prstGeom prst="rect">
            <a:avLst/>
          </a:prstGeom>
        </p:spPr>
      </p:pic>
      <p:sp>
        <p:nvSpPr>
          <p:cNvPr id="8" name="Rectangle 7"/>
          <p:cNvSpPr/>
          <p:nvPr/>
        </p:nvSpPr>
        <p:spPr>
          <a:xfrm>
            <a:off x="8999067" y="125730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81947" y="151333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机制说明</a:t>
            </a:r>
          </a:p>
        </p:txBody>
      </p:sp>
      <p:sp>
        <p:nvSpPr>
          <p:cNvPr id="10" name="TextBox 9"/>
          <p:cNvSpPr txBox="1"/>
          <p:nvPr/>
        </p:nvSpPr>
        <p:spPr>
          <a:xfrm>
            <a:off x="9181947" y="1943100"/>
            <a:ext cx="2450592" cy="249254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机制图描述台风后远海风电场、海缆和通信链路同时受扰的应急场景。岸基站提供边缘计算和密钥管理，UAV承担临时中继，AUV负责水下磁异常探测，RIS用于增强远海无线链路。该场景引出后续优化目标：在能量、带宽和密钥均受限的条件下，优先回传与海缆风险相关的安全数据。</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Scenario diagram based on DeepOWT and IBTrACS</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07/77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MOTIVATION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一、灾后远海监测场景</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空天地海协同监测的必要性</a:t>
            </a:r>
          </a:p>
        </p:txBody>
      </p:sp>
      <p:graphicFrame>
        <p:nvGraphicFramePr>
          <p:cNvPr id="7" name="Table 6"/>
          <p:cNvGraphicFramePr>
            <a:graphicFrameLocks noGrp="1"/>
          </p:cNvGraphicFramePr>
          <p:nvPr/>
        </p:nvGraphicFramePr>
        <p:xfrm>
          <a:off x="777240" y="1417320"/>
          <a:ext cx="10561319" cy="3474720"/>
        </p:xfrm>
        <a:graphic>
          <a:graphicData uri="http://schemas.openxmlformats.org/drawingml/2006/table">
            <a:tbl>
              <a:tblPr firstRow="1" bandRow="1">
                <a:tableStyleId>{5C22544A-7EE6-4342-B048-85BDC9FD1C3A}</a:tableStyleId>
              </a:tblPr>
              <a:tblGrid>
                <a:gridCol w="1901037">
                  <a:extLst>
                    <a:ext uri="{9D8B030D-6E8A-4147-A177-3AD203B41FA5}">
                      <a16:colId xmlns:a16="http://schemas.microsoft.com/office/drawing/2014/main" val="20000"/>
                    </a:ext>
                  </a:extLst>
                </a:gridCol>
                <a:gridCol w="3168396">
                  <a:extLst>
                    <a:ext uri="{9D8B030D-6E8A-4147-A177-3AD203B41FA5}">
                      <a16:colId xmlns:a16="http://schemas.microsoft.com/office/drawing/2014/main" val="20001"/>
                    </a:ext>
                  </a:extLst>
                </a:gridCol>
                <a:gridCol w="5491886">
                  <a:extLst>
                    <a:ext uri="{9D8B030D-6E8A-4147-A177-3AD203B41FA5}">
                      <a16:colId xmlns:a16="http://schemas.microsoft.com/office/drawing/2014/main" val="20002"/>
                    </a:ext>
                  </a:extLst>
                </a:gridCol>
              </a:tblGrid>
              <a:tr h="694944">
                <a:tc>
                  <a:txBody>
                    <a:bodyPr/>
                    <a:lstStyle/>
                    <a:p>
                      <a:r>
                        <a:rPr sz="1300" b="1">
                          <a:solidFill>
                            <a:srgbClr val="FFFFFF"/>
                          </a:solidFill>
                          <a:latin typeface="Microsoft YaHei"/>
                        </a:rPr>
                        <a:t>层级</a:t>
                      </a:r>
                    </a:p>
                  </a:txBody>
                  <a:tcPr marL="45720" marR="45720" marT="36576" marB="36576">
                    <a:solidFill>
                      <a:srgbClr val="1D2B39"/>
                    </a:solidFill>
                  </a:tcPr>
                </a:tc>
                <a:tc>
                  <a:txBody>
                    <a:bodyPr/>
                    <a:lstStyle/>
                    <a:p>
                      <a:r>
                        <a:rPr sz="1300" b="1">
                          <a:solidFill>
                            <a:srgbClr val="FFFFFF"/>
                          </a:solidFill>
                          <a:latin typeface="Microsoft YaHei"/>
                        </a:rPr>
                        <a:t>关键能力</a:t>
                      </a:r>
                    </a:p>
                  </a:txBody>
                  <a:tcPr marL="45720" marR="45720" marT="36576" marB="36576">
                    <a:solidFill>
                      <a:srgbClr val="1D2B39"/>
                    </a:solidFill>
                  </a:tcPr>
                </a:tc>
                <a:tc>
                  <a:txBody>
                    <a:bodyPr/>
                    <a:lstStyle/>
                    <a:p>
                      <a:r>
                        <a:rPr sz="1300" b="1">
                          <a:solidFill>
                            <a:srgbClr val="FFFFFF"/>
                          </a:solidFill>
                          <a:latin typeface="Microsoft YaHei"/>
                        </a:rPr>
                        <a:t>本项目承担的任务</a:t>
                      </a:r>
                    </a:p>
                  </a:txBody>
                  <a:tcPr marL="45720" marR="45720" marT="36576" marB="36576">
                    <a:solidFill>
                      <a:srgbClr val="1D2B39"/>
                    </a:solidFill>
                  </a:tcPr>
                </a:tc>
                <a:extLst>
                  <a:ext uri="{0D108BD9-81ED-4DB2-BD59-A6C34878D82A}">
                    <a16:rowId xmlns:a16="http://schemas.microsoft.com/office/drawing/2014/main" val="10000"/>
                  </a:ext>
                </a:extLst>
              </a:tr>
              <a:tr h="694944">
                <a:tc>
                  <a:txBody>
                    <a:bodyPr/>
                    <a:lstStyle/>
                    <a:p>
                      <a:r>
                        <a:rPr sz="1300" b="0">
                          <a:solidFill>
                            <a:srgbClr val="16202A"/>
                          </a:solidFill>
                          <a:latin typeface="Microsoft YaHei"/>
                        </a:rPr>
                        <a:t>空：卫星</a:t>
                      </a:r>
                    </a:p>
                  </a:txBody>
                  <a:tcPr marL="45720" marR="45720" marT="36576" marB="36576">
                    <a:solidFill>
                      <a:srgbClr val="FCFCF9"/>
                    </a:solidFill>
                  </a:tcPr>
                </a:tc>
                <a:tc>
                  <a:txBody>
                    <a:bodyPr/>
                    <a:lstStyle/>
                    <a:p>
                      <a:r>
                        <a:rPr sz="1300" b="0">
                          <a:solidFill>
                            <a:srgbClr val="16202A"/>
                          </a:solidFill>
                          <a:latin typeface="Microsoft YaHei"/>
                        </a:rPr>
                        <a:t>SAR遥感 + QKD</a:t>
                      </a:r>
                    </a:p>
                  </a:txBody>
                  <a:tcPr marL="45720" marR="45720" marT="36576" marB="36576">
                    <a:solidFill>
                      <a:srgbClr val="FCFCF9"/>
                    </a:solidFill>
                  </a:tcPr>
                </a:tc>
                <a:tc>
                  <a:txBody>
                    <a:bodyPr/>
                    <a:lstStyle/>
                    <a:p>
                      <a:r>
                        <a:rPr sz="1300" b="0">
                          <a:solidFill>
                            <a:srgbClr val="16202A"/>
                          </a:solidFill>
                          <a:latin typeface="Microsoft YaHei"/>
                        </a:rPr>
                        <a:t>灾后粗定位、密钥分发</a:t>
                      </a:r>
                    </a:p>
                  </a:txBody>
                  <a:tcPr marL="45720" marR="45720" marT="36576" marB="36576">
                    <a:solidFill>
                      <a:srgbClr val="FCFCF9"/>
                    </a:solidFill>
                  </a:tcPr>
                </a:tc>
                <a:extLst>
                  <a:ext uri="{0D108BD9-81ED-4DB2-BD59-A6C34878D82A}">
                    <a16:rowId xmlns:a16="http://schemas.microsoft.com/office/drawing/2014/main" val="10001"/>
                  </a:ext>
                </a:extLst>
              </a:tr>
              <a:tr h="694944">
                <a:tc>
                  <a:txBody>
                    <a:bodyPr/>
                    <a:lstStyle/>
                    <a:p>
                      <a:r>
                        <a:rPr sz="1300" b="0">
                          <a:solidFill>
                            <a:srgbClr val="16202A"/>
                          </a:solidFill>
                          <a:latin typeface="Microsoft YaHei"/>
                        </a:rPr>
                        <a:t>天：UAV</a:t>
                      </a:r>
                    </a:p>
                  </a:txBody>
                  <a:tcPr marL="45720" marR="45720" marT="36576" marB="36576">
                    <a:solidFill>
                      <a:srgbClr val="FCFCF9"/>
                    </a:solidFill>
                  </a:tcPr>
                </a:tc>
                <a:tc>
                  <a:txBody>
                    <a:bodyPr/>
                    <a:lstStyle/>
                    <a:p>
                      <a:r>
                        <a:rPr sz="1300" b="0">
                          <a:solidFill>
                            <a:srgbClr val="16202A"/>
                          </a:solidFill>
                          <a:latin typeface="Microsoft YaHei"/>
                        </a:rPr>
                        <a:t>移动中继 + 巡检</a:t>
                      </a:r>
                    </a:p>
                  </a:txBody>
                  <a:tcPr marL="45720" marR="45720" marT="36576" marB="36576">
                    <a:solidFill>
                      <a:srgbClr val="FCFCF9"/>
                    </a:solidFill>
                  </a:tcPr>
                </a:tc>
                <a:tc>
                  <a:txBody>
                    <a:bodyPr/>
                    <a:lstStyle/>
                    <a:p>
                      <a:r>
                        <a:rPr sz="1300" b="0">
                          <a:solidFill>
                            <a:srgbClr val="16202A"/>
                          </a:solidFill>
                          <a:latin typeface="Microsoft YaHei"/>
                        </a:rPr>
                        <a:t>临时通信、轨迹优化</a:t>
                      </a:r>
                    </a:p>
                  </a:txBody>
                  <a:tcPr marL="45720" marR="45720" marT="36576" marB="36576">
                    <a:solidFill>
                      <a:srgbClr val="FCFCF9"/>
                    </a:solidFill>
                  </a:tcPr>
                </a:tc>
                <a:extLst>
                  <a:ext uri="{0D108BD9-81ED-4DB2-BD59-A6C34878D82A}">
                    <a16:rowId xmlns:a16="http://schemas.microsoft.com/office/drawing/2014/main" val="10002"/>
                  </a:ext>
                </a:extLst>
              </a:tr>
              <a:tr h="694944">
                <a:tc>
                  <a:txBody>
                    <a:bodyPr/>
                    <a:lstStyle/>
                    <a:p>
                      <a:r>
                        <a:rPr sz="1300" b="0">
                          <a:solidFill>
                            <a:srgbClr val="16202A"/>
                          </a:solidFill>
                          <a:latin typeface="Microsoft YaHei"/>
                        </a:rPr>
                        <a:t>地：岸基/电网</a:t>
                      </a:r>
                    </a:p>
                  </a:txBody>
                  <a:tcPr marL="45720" marR="45720" marT="36576" marB="36576">
                    <a:solidFill>
                      <a:srgbClr val="FCFCF9"/>
                    </a:solidFill>
                  </a:tcPr>
                </a:tc>
                <a:tc>
                  <a:txBody>
                    <a:bodyPr/>
                    <a:lstStyle/>
                    <a:p>
                      <a:r>
                        <a:rPr sz="1300" b="0">
                          <a:solidFill>
                            <a:srgbClr val="16202A"/>
                          </a:solidFill>
                          <a:latin typeface="Microsoft YaHei"/>
                        </a:rPr>
                        <a:t>边缘计算 + KMS</a:t>
                      </a:r>
                    </a:p>
                  </a:txBody>
                  <a:tcPr marL="45720" marR="45720" marT="36576" marB="36576">
                    <a:solidFill>
                      <a:srgbClr val="FCFCF9"/>
                    </a:solidFill>
                  </a:tcPr>
                </a:tc>
                <a:tc>
                  <a:txBody>
                    <a:bodyPr/>
                    <a:lstStyle/>
                    <a:p>
                      <a:r>
                        <a:rPr sz="1300" b="0">
                          <a:solidFill>
                            <a:srgbClr val="16202A"/>
                          </a:solidFill>
                          <a:latin typeface="Microsoft YaHei"/>
                        </a:rPr>
                        <a:t>优化求解、安全策略下发</a:t>
                      </a:r>
                    </a:p>
                  </a:txBody>
                  <a:tcPr marL="45720" marR="45720" marT="36576" marB="36576">
                    <a:solidFill>
                      <a:srgbClr val="FCFCF9"/>
                    </a:solidFill>
                  </a:tcPr>
                </a:tc>
                <a:extLst>
                  <a:ext uri="{0D108BD9-81ED-4DB2-BD59-A6C34878D82A}">
                    <a16:rowId xmlns:a16="http://schemas.microsoft.com/office/drawing/2014/main" val="10003"/>
                  </a:ext>
                </a:extLst>
              </a:tr>
              <a:tr h="694944">
                <a:tc>
                  <a:txBody>
                    <a:bodyPr/>
                    <a:lstStyle/>
                    <a:p>
                      <a:r>
                        <a:rPr sz="1300" b="0">
                          <a:solidFill>
                            <a:srgbClr val="16202A"/>
                          </a:solidFill>
                          <a:latin typeface="Microsoft YaHei"/>
                        </a:rPr>
                        <a:t>海：平台/AUV/RIS</a:t>
                      </a:r>
                    </a:p>
                  </a:txBody>
                  <a:tcPr marL="45720" marR="45720" marT="36576" marB="36576">
                    <a:solidFill>
                      <a:srgbClr val="FCFCF9"/>
                    </a:solidFill>
                  </a:tcPr>
                </a:tc>
                <a:tc>
                  <a:txBody>
                    <a:bodyPr/>
                    <a:lstStyle/>
                    <a:p>
                      <a:r>
                        <a:rPr sz="1300" b="0">
                          <a:solidFill>
                            <a:srgbClr val="16202A"/>
                          </a:solidFill>
                          <a:latin typeface="Microsoft YaHei"/>
                        </a:rPr>
                        <a:t>水下感知 + 可控传播</a:t>
                      </a:r>
                    </a:p>
                  </a:txBody>
                  <a:tcPr marL="45720" marR="45720" marT="36576" marB="36576">
                    <a:solidFill>
                      <a:srgbClr val="FCFCF9"/>
                    </a:solidFill>
                  </a:tcPr>
                </a:tc>
                <a:tc>
                  <a:txBody>
                    <a:bodyPr/>
                    <a:lstStyle/>
                    <a:p>
                      <a:r>
                        <a:rPr sz="1300" b="0">
                          <a:solidFill>
                            <a:srgbClr val="16202A"/>
                          </a:solidFill>
                          <a:latin typeface="Microsoft YaHei"/>
                        </a:rPr>
                        <a:t>磁异常检测、链路增强</a:t>
                      </a:r>
                    </a:p>
                  </a:txBody>
                  <a:tcPr marL="45720" marR="45720" marT="36576" marB="36576">
                    <a:solidFill>
                      <a:srgbClr val="FCFCF9"/>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960120" y="5376672"/>
            <a:ext cx="10058400" cy="594360"/>
          </a:xfrm>
          <a:prstGeom prst="rect">
            <a:avLst/>
          </a:prstGeom>
          <a:noFill/>
        </p:spPr>
        <p:txBody>
          <a:bodyPr wrap="square" lIns="45720" tIns="27432" rIns="45720" bIns="27432" anchor="t">
            <a:spAutoFit/>
          </a:bodyPr>
          <a:lstStyle/>
          <a:p>
            <a:pPr algn="l">
              <a:lnSpc>
                <a:spcPct val="112000"/>
              </a:lnSpc>
              <a:spcAft>
                <a:spcPts val="200"/>
              </a:spcAft>
            </a:pPr>
            <a:r>
              <a:rPr sz="1600" b="1" dirty="0" err="1">
                <a:solidFill>
                  <a:srgbClr val="E76F51"/>
                </a:solidFill>
                <a:latin typeface="Microsoft YaHei"/>
              </a:rPr>
              <a:t>设计边界：卫星侧提供遥感与密钥，UAV侧提供临时空中链路，岸基侧完成优化求解，海上</a:t>
            </a:r>
            <a:r>
              <a:rPr sz="1600" b="1" dirty="0">
                <a:solidFill>
                  <a:srgbClr val="E76F51"/>
                </a:solidFill>
                <a:latin typeface="Microsoft YaHei"/>
              </a:rPr>
              <a:t>/</a:t>
            </a:r>
            <a:r>
              <a:rPr sz="1600" b="1" dirty="0" err="1">
                <a:solidFill>
                  <a:srgbClr val="E76F51"/>
                </a:solidFill>
                <a:latin typeface="Microsoft YaHei"/>
              </a:rPr>
              <a:t>水下侧提供感知与可重构传播。四层功能共同决定后续变量、目标函数和约束</a:t>
            </a:r>
            <a:r>
              <a:rPr sz="1600" b="1" dirty="0">
                <a:solidFill>
                  <a:srgbClr val="E76F51"/>
                </a:solidFill>
                <a:latin typeface="Microsoft YaHei"/>
              </a:rPr>
              <a:t>。</a:t>
            </a:r>
          </a:p>
        </p:txBody>
      </p:sp>
      <p:sp>
        <p:nvSpPr>
          <p:cNvPr id="9" name="Rectangle 8"/>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1" name="TextBox 10"/>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08/77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DATA LOGIC</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一、灾后远海监测场景</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真实数据、物理背景与可控仿真的组合方式</a:t>
            </a:r>
          </a:p>
        </p:txBody>
      </p:sp>
      <p:sp>
        <p:nvSpPr>
          <p:cNvPr id="7" name="Rectangle 6"/>
          <p:cNvSpPr/>
          <p:nvPr/>
        </p:nvSpPr>
        <p:spPr>
          <a:xfrm>
            <a:off x="777240" y="1371600"/>
            <a:ext cx="3246120" cy="4160520"/>
          </a:xfrm>
          <a:prstGeom prst="rect">
            <a:avLst/>
          </a:prstGeom>
          <a:solidFill>
            <a:srgbClr val="EFF9F7"/>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664208"/>
            <a:ext cx="1463040" cy="292608"/>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Microsoft YaHei"/>
              </a:rPr>
              <a:t>真实背景</a:t>
            </a:r>
          </a:p>
        </p:txBody>
      </p:sp>
      <p:sp>
        <p:nvSpPr>
          <p:cNvPr id="9" name="Oval 8"/>
          <p:cNvSpPr/>
          <p:nvPr/>
        </p:nvSpPr>
        <p:spPr>
          <a:xfrm>
            <a:off x="1005840" y="2176272"/>
            <a:ext cx="100584" cy="10058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8" y="2103120"/>
            <a:ext cx="2496312"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DeepOWT</a:t>
            </a:r>
            <a:r>
              <a:rPr sz="1200" b="0" dirty="0">
                <a:solidFill>
                  <a:srgbClr val="16202A"/>
                </a:solidFill>
                <a:latin typeface="Microsoft YaHei"/>
              </a:rPr>
              <a:t> </a:t>
            </a:r>
            <a:r>
              <a:rPr sz="1600" b="0" dirty="0" err="1">
                <a:solidFill>
                  <a:srgbClr val="16202A"/>
                </a:solidFill>
                <a:latin typeface="Microsoft YaHei"/>
              </a:rPr>
              <a:t>给出海上风电基础设施空间分布</a:t>
            </a:r>
            <a:endParaRPr sz="1200" b="0" dirty="0">
              <a:solidFill>
                <a:srgbClr val="16202A"/>
              </a:solidFill>
              <a:latin typeface="Microsoft YaHei"/>
            </a:endParaRPr>
          </a:p>
        </p:txBody>
      </p:sp>
      <p:sp>
        <p:nvSpPr>
          <p:cNvPr id="11" name="Oval 10"/>
          <p:cNvSpPr/>
          <p:nvPr/>
        </p:nvSpPr>
        <p:spPr>
          <a:xfrm>
            <a:off x="1005840" y="2938272"/>
            <a:ext cx="100584" cy="10058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07008" y="2865120"/>
            <a:ext cx="2496312" cy="556691"/>
          </a:xfrm>
          <a:prstGeom prst="rect">
            <a:avLst/>
          </a:prstGeom>
          <a:noFill/>
        </p:spPr>
        <p:txBody>
          <a:bodyPr wrap="square" lIns="45720" tIns="27432" rIns="45720" bIns="27432" anchor="t">
            <a:spAutoFit/>
          </a:bodyPr>
          <a:lstStyle/>
          <a:p>
            <a:pPr algn="l">
              <a:lnSpc>
                <a:spcPct val="105000"/>
              </a:lnSpc>
              <a:spcAft>
                <a:spcPts val="200"/>
              </a:spcAft>
            </a:pPr>
            <a:r>
              <a:rPr sz="1600" b="0" dirty="0">
                <a:solidFill>
                  <a:srgbClr val="16202A"/>
                </a:solidFill>
                <a:latin typeface="Microsoft YaHei"/>
              </a:rPr>
              <a:t>NOAA</a:t>
            </a:r>
            <a:r>
              <a:rPr sz="1200" b="0" dirty="0">
                <a:solidFill>
                  <a:srgbClr val="16202A"/>
                </a:solidFill>
                <a:latin typeface="Microsoft YaHei"/>
              </a:rPr>
              <a:t> </a:t>
            </a:r>
            <a:r>
              <a:rPr sz="1600" b="0" dirty="0" err="1">
                <a:solidFill>
                  <a:srgbClr val="16202A"/>
                </a:solidFill>
                <a:latin typeface="Microsoft YaHei"/>
              </a:rPr>
              <a:t>IBTrACS</a:t>
            </a:r>
            <a:r>
              <a:rPr sz="1200" b="0" dirty="0">
                <a:solidFill>
                  <a:srgbClr val="16202A"/>
                </a:solidFill>
                <a:latin typeface="Microsoft YaHei"/>
              </a:rPr>
              <a:t> </a:t>
            </a:r>
            <a:r>
              <a:rPr sz="1600" b="0" dirty="0" err="1">
                <a:solidFill>
                  <a:srgbClr val="16202A"/>
                </a:solidFill>
                <a:latin typeface="Microsoft YaHei"/>
              </a:rPr>
              <a:t>给出台风轨迹背景</a:t>
            </a:r>
            <a:endParaRPr sz="1200" b="0" dirty="0">
              <a:solidFill>
                <a:srgbClr val="16202A"/>
              </a:solidFill>
              <a:latin typeface="Microsoft YaHei"/>
            </a:endParaRPr>
          </a:p>
        </p:txBody>
      </p:sp>
      <p:sp>
        <p:nvSpPr>
          <p:cNvPr id="13" name="Oval 12"/>
          <p:cNvSpPr/>
          <p:nvPr/>
        </p:nvSpPr>
        <p:spPr>
          <a:xfrm>
            <a:off x="1005840" y="3700272"/>
            <a:ext cx="100584" cy="10058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07008" y="3627120"/>
            <a:ext cx="2496312" cy="556691"/>
          </a:xfrm>
          <a:prstGeom prst="rect">
            <a:avLst/>
          </a:prstGeom>
          <a:noFill/>
        </p:spPr>
        <p:txBody>
          <a:bodyPr wrap="square" lIns="45720" tIns="27432" rIns="45720" bIns="27432" anchor="t">
            <a:spAutoFit/>
          </a:bodyPr>
          <a:lstStyle/>
          <a:p>
            <a:pPr algn="l">
              <a:lnSpc>
                <a:spcPct val="105000"/>
              </a:lnSpc>
              <a:spcAft>
                <a:spcPts val="200"/>
              </a:spcAft>
            </a:pPr>
            <a:r>
              <a:rPr sz="1600" b="0" dirty="0">
                <a:solidFill>
                  <a:srgbClr val="16202A"/>
                </a:solidFill>
                <a:latin typeface="Microsoft YaHei"/>
              </a:rPr>
              <a:t>Natural</a:t>
            </a:r>
            <a:r>
              <a:rPr sz="1200" b="0" dirty="0">
                <a:solidFill>
                  <a:srgbClr val="16202A"/>
                </a:solidFill>
                <a:latin typeface="Microsoft YaHei"/>
              </a:rPr>
              <a:t> </a:t>
            </a:r>
            <a:r>
              <a:rPr sz="1600" b="0" dirty="0">
                <a:solidFill>
                  <a:srgbClr val="16202A"/>
                </a:solidFill>
                <a:latin typeface="Microsoft YaHei"/>
              </a:rPr>
              <a:t>Earth</a:t>
            </a:r>
            <a:r>
              <a:rPr sz="1200" b="0" dirty="0">
                <a:solidFill>
                  <a:srgbClr val="16202A"/>
                </a:solidFill>
                <a:latin typeface="Microsoft YaHei"/>
              </a:rPr>
              <a:t> </a:t>
            </a:r>
            <a:r>
              <a:rPr sz="1600" b="0" dirty="0" err="1">
                <a:solidFill>
                  <a:srgbClr val="16202A"/>
                </a:solidFill>
                <a:latin typeface="Microsoft YaHei"/>
              </a:rPr>
              <a:t>提供海岸线底图</a:t>
            </a:r>
            <a:endParaRPr sz="1200" b="0" dirty="0">
              <a:solidFill>
                <a:srgbClr val="16202A"/>
              </a:solidFill>
              <a:latin typeface="Microsoft YaHei"/>
            </a:endParaRPr>
          </a:p>
        </p:txBody>
      </p:sp>
      <p:sp>
        <p:nvSpPr>
          <p:cNvPr id="15" name="Rectangle 14"/>
          <p:cNvSpPr/>
          <p:nvPr/>
        </p:nvSpPr>
        <p:spPr>
          <a:xfrm>
            <a:off x="4434840" y="1371600"/>
            <a:ext cx="3246120" cy="4160520"/>
          </a:xfrm>
          <a:prstGeom prst="rect">
            <a:avLst/>
          </a:prstGeom>
          <a:solidFill>
            <a:srgbClr val="FFF7EE"/>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81728" y="1664208"/>
            <a:ext cx="1463040" cy="292608"/>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E76F51"/>
                </a:solidFill>
                <a:latin typeface="Microsoft YaHei"/>
              </a:rPr>
              <a:t>感知背景</a:t>
            </a:r>
          </a:p>
        </p:txBody>
      </p:sp>
      <p:sp>
        <p:nvSpPr>
          <p:cNvPr id="17" name="Oval 16"/>
          <p:cNvSpPr/>
          <p:nvPr/>
        </p:nvSpPr>
        <p:spPr>
          <a:xfrm>
            <a:off x="4663440" y="2176272"/>
            <a:ext cx="100584" cy="100584"/>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64607" y="2103120"/>
            <a:ext cx="2496312" cy="556691"/>
          </a:xfrm>
          <a:prstGeom prst="rect">
            <a:avLst/>
          </a:prstGeom>
          <a:noFill/>
        </p:spPr>
        <p:txBody>
          <a:bodyPr wrap="square" lIns="45720" tIns="27432" rIns="45720" bIns="27432" anchor="t">
            <a:spAutoFit/>
          </a:bodyPr>
          <a:lstStyle/>
          <a:p>
            <a:pPr algn="l">
              <a:lnSpc>
                <a:spcPct val="105000"/>
              </a:lnSpc>
              <a:spcAft>
                <a:spcPts val="200"/>
              </a:spcAft>
            </a:pPr>
            <a:r>
              <a:rPr sz="1600" b="0" dirty="0">
                <a:solidFill>
                  <a:srgbClr val="16202A"/>
                </a:solidFill>
                <a:latin typeface="Microsoft YaHei"/>
              </a:rPr>
              <a:t>WMM2025</a:t>
            </a:r>
            <a:r>
              <a:rPr sz="1200" b="0" dirty="0">
                <a:solidFill>
                  <a:srgbClr val="16202A"/>
                </a:solidFill>
                <a:latin typeface="Microsoft YaHei"/>
              </a:rPr>
              <a:t> </a:t>
            </a:r>
            <a:r>
              <a:rPr sz="1600" b="0" dirty="0" err="1">
                <a:solidFill>
                  <a:srgbClr val="16202A"/>
                </a:solidFill>
                <a:latin typeface="Microsoft YaHei"/>
              </a:rPr>
              <a:t>给出地磁背景尺度</a:t>
            </a:r>
            <a:endParaRPr sz="1200" b="0" dirty="0">
              <a:solidFill>
                <a:srgbClr val="16202A"/>
              </a:solidFill>
              <a:latin typeface="Microsoft YaHei"/>
            </a:endParaRPr>
          </a:p>
        </p:txBody>
      </p:sp>
      <p:sp>
        <p:nvSpPr>
          <p:cNvPr id="19" name="Oval 18"/>
          <p:cNvSpPr/>
          <p:nvPr/>
        </p:nvSpPr>
        <p:spPr>
          <a:xfrm>
            <a:off x="4663440" y="2938272"/>
            <a:ext cx="100584" cy="100584"/>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64607" y="2865120"/>
            <a:ext cx="2496312" cy="298159"/>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海缆异常用偶极扰动构造</a:t>
            </a:r>
            <a:endParaRPr sz="1200" b="0" dirty="0">
              <a:solidFill>
                <a:srgbClr val="16202A"/>
              </a:solidFill>
              <a:latin typeface="Microsoft YaHei"/>
            </a:endParaRPr>
          </a:p>
        </p:txBody>
      </p:sp>
      <p:sp>
        <p:nvSpPr>
          <p:cNvPr id="21" name="Oval 20"/>
          <p:cNvSpPr/>
          <p:nvPr/>
        </p:nvSpPr>
        <p:spPr>
          <a:xfrm>
            <a:off x="4663440" y="3700272"/>
            <a:ext cx="100584" cy="100584"/>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64607" y="3627120"/>
            <a:ext cx="2496312" cy="298159"/>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异常分数转化为调度权重</a:t>
            </a:r>
            <a:endParaRPr sz="1200" b="0" dirty="0">
              <a:solidFill>
                <a:srgbClr val="16202A"/>
              </a:solidFill>
              <a:latin typeface="Microsoft YaHei"/>
            </a:endParaRPr>
          </a:p>
        </p:txBody>
      </p:sp>
      <p:sp>
        <p:nvSpPr>
          <p:cNvPr id="23" name="Rectangle 22"/>
          <p:cNvSpPr/>
          <p:nvPr/>
        </p:nvSpPr>
        <p:spPr>
          <a:xfrm>
            <a:off x="8092440" y="1371600"/>
            <a:ext cx="3246120" cy="4160520"/>
          </a:xfrm>
          <a:prstGeom prst="rect">
            <a:avLst/>
          </a:prstGeom>
          <a:solidFill>
            <a:srgbClr val="F2F6FB"/>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39327" y="1664208"/>
            <a:ext cx="1463040" cy="292608"/>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457B9D"/>
                </a:solidFill>
                <a:latin typeface="Microsoft YaHei"/>
              </a:rPr>
              <a:t>可控仿真</a:t>
            </a:r>
          </a:p>
        </p:txBody>
      </p:sp>
      <p:sp>
        <p:nvSpPr>
          <p:cNvPr id="25" name="Oval 24"/>
          <p:cNvSpPr/>
          <p:nvPr/>
        </p:nvSpPr>
        <p:spPr>
          <a:xfrm>
            <a:off x="8321040" y="2176272"/>
            <a:ext cx="100584" cy="100584"/>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22208" y="2103120"/>
            <a:ext cx="2496312"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通信信道和RIS采用可复现实验仿真</a:t>
            </a:r>
            <a:endParaRPr sz="1200" b="0" dirty="0">
              <a:solidFill>
                <a:srgbClr val="16202A"/>
              </a:solidFill>
              <a:latin typeface="Microsoft YaHei"/>
            </a:endParaRPr>
          </a:p>
        </p:txBody>
      </p:sp>
      <p:sp>
        <p:nvSpPr>
          <p:cNvPr id="27" name="Oval 26"/>
          <p:cNvSpPr/>
          <p:nvPr/>
        </p:nvSpPr>
        <p:spPr>
          <a:xfrm>
            <a:off x="8321040" y="2938272"/>
            <a:ext cx="100584" cy="100584"/>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22208" y="2865120"/>
            <a:ext cx="2496312" cy="298159"/>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优化算法固定随机种子</a:t>
            </a:r>
            <a:endParaRPr sz="1200" b="0" dirty="0">
              <a:solidFill>
                <a:srgbClr val="16202A"/>
              </a:solidFill>
              <a:latin typeface="Microsoft YaHei"/>
            </a:endParaRPr>
          </a:p>
        </p:txBody>
      </p:sp>
      <p:sp>
        <p:nvSpPr>
          <p:cNvPr id="29" name="Oval 28"/>
          <p:cNvSpPr/>
          <p:nvPr/>
        </p:nvSpPr>
        <p:spPr>
          <a:xfrm>
            <a:off x="8321040" y="3700272"/>
            <a:ext cx="100584" cy="100584"/>
          </a:xfrm>
          <a:prstGeom prst="ellipse">
            <a:avLst/>
          </a:prstGeom>
          <a:solidFill>
            <a:srgbClr val="457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22208" y="3627120"/>
            <a:ext cx="2496312"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每个结果图都可由脚本再生成</a:t>
            </a:r>
            <a:endParaRPr sz="1200" b="0" dirty="0">
              <a:solidFill>
                <a:srgbClr val="16202A"/>
              </a:solidFill>
              <a:latin typeface="Microsoft YaHei"/>
            </a:endParaRPr>
          </a:p>
        </p:txBody>
      </p:sp>
      <p:sp>
        <p:nvSpPr>
          <p:cNvPr id="31" name="TextBox 30"/>
          <p:cNvSpPr txBox="1"/>
          <p:nvPr/>
        </p:nvSpPr>
        <p:spPr>
          <a:xfrm>
            <a:off x="868680" y="5559552"/>
            <a:ext cx="10195560" cy="862672"/>
          </a:xfrm>
          <a:prstGeom prst="rect">
            <a:avLst/>
          </a:prstGeom>
          <a:noFill/>
        </p:spPr>
        <p:txBody>
          <a:bodyPr wrap="square" lIns="45720" tIns="27432" rIns="45720" bIns="27432" anchor="t">
            <a:spAutoFit/>
          </a:bodyPr>
          <a:lstStyle/>
          <a:p>
            <a:pPr algn="l">
              <a:lnSpc>
                <a:spcPct val="112000"/>
              </a:lnSpc>
              <a:spcAft>
                <a:spcPts val="200"/>
              </a:spcAft>
            </a:pPr>
            <a:r>
              <a:rPr sz="1600" b="0" dirty="0">
                <a:solidFill>
                  <a:srgbClr val="56606A"/>
                </a:solidFill>
                <a:latin typeface="Microsoft YaHei"/>
              </a:rPr>
              <a:t>方法说明：真实公开数据用于约束场景空间位置与灾害背景，物理模型用于给出磁场、链路和能耗的量纲关系；可控仿真用于比较算法变量变化带来的因果影响。这样既避免把全部结果建立在纯合成场景上，也避免真实数据缺少通信控制变量的问题</a:t>
            </a:r>
            <a:r>
              <a:rPr sz="1240" b="0" dirty="0">
                <a:solidFill>
                  <a:srgbClr val="56606A"/>
                </a:solidFill>
                <a:latin typeface="Microsoft YaHei"/>
              </a:rPr>
              <a:t>。</a:t>
            </a:r>
          </a:p>
        </p:txBody>
      </p:sp>
      <p:sp>
        <p:nvSpPr>
          <p:cNvPr id="32" name="Rectangle 3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34" name="TextBox 3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09/77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DATA</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一、灾后远海监测场景</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数据来源矩阵</a:t>
            </a:r>
          </a:p>
        </p:txBody>
      </p:sp>
      <p:pic>
        <p:nvPicPr>
          <p:cNvPr id="7" name="Picture 6" descr="data_source_matrix.png"/>
          <p:cNvPicPr>
            <a:picLocks noChangeAspect="1"/>
          </p:cNvPicPr>
          <p:nvPr/>
        </p:nvPicPr>
        <p:blipFill>
          <a:blip r:embed="rId2"/>
          <a:stretch>
            <a:fillRect/>
          </a:stretch>
        </p:blipFill>
        <p:spPr>
          <a:xfrm>
            <a:off x="548640" y="1773360"/>
            <a:ext cx="7955279" cy="3905638"/>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2492542"/>
          </a:xfrm>
          <a:prstGeom prst="rect">
            <a:avLst/>
          </a:prstGeom>
          <a:noFill/>
        </p:spPr>
        <p:txBody>
          <a:bodyPr wrap="square" lIns="45720" tIns="27432" rIns="45720" bIns="27432" anchor="t">
            <a:spAutoFit/>
          </a:bodyPr>
          <a:lstStyle/>
          <a:p>
            <a:pPr algn="l">
              <a:lnSpc>
                <a:spcPct val="114000"/>
              </a:lnSpc>
              <a:spcAft>
                <a:spcPts val="200"/>
              </a:spcAft>
            </a:pPr>
            <a:r>
              <a:rPr sz="1400" b="0" dirty="0" err="1">
                <a:solidFill>
                  <a:srgbClr val="16202A"/>
                </a:solidFill>
                <a:latin typeface="Microsoft YaHei"/>
              </a:rPr>
              <a:t>该表将公开数据与仿真实验逐一对应。DeepOWT用于选择海上风电节点，IBTrACS用于提供台风轨迹背景，Natural</a:t>
            </a:r>
            <a:r>
              <a:rPr sz="1400" b="0" dirty="0">
                <a:solidFill>
                  <a:srgbClr val="16202A"/>
                </a:solidFill>
                <a:latin typeface="Microsoft YaHei"/>
              </a:rPr>
              <a:t> Earth用于海岸线底图，WMM2025用于地磁背景尺度。通信信道与RIS部分采用固定随机种子的可控仿真，以便隔离算法贡献并保证结果可复现。</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DeepOWT · IBTrACS · WMM2025 · Natural Earth · Sentinel-1</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10/77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MAP</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一、灾后远海监测场景</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真实台风轨迹、风电节点与海缆风险区域叠加图</a:t>
            </a:r>
          </a:p>
        </p:txBody>
      </p:sp>
      <p:pic>
        <p:nvPicPr>
          <p:cNvPr id="7" name="Picture 6" descr="typhoon_deepowt_context.png"/>
          <p:cNvPicPr>
            <a:picLocks noChangeAspect="1"/>
          </p:cNvPicPr>
          <p:nvPr/>
        </p:nvPicPr>
        <p:blipFill>
          <a:blip r:embed="rId2"/>
          <a:stretch>
            <a:fillRect/>
          </a:stretch>
        </p:blipFill>
        <p:spPr>
          <a:xfrm>
            <a:off x="2330550" y="1280160"/>
            <a:ext cx="4391459" cy="4892040"/>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7" y="1965960"/>
            <a:ext cx="2450593" cy="2001382"/>
          </a:xfrm>
          <a:prstGeom prst="rect">
            <a:avLst/>
          </a:prstGeom>
          <a:noFill/>
        </p:spPr>
        <p:txBody>
          <a:bodyPr wrap="square" lIns="45720" tIns="27432" rIns="45720" bIns="27432" anchor="t">
            <a:spAutoFit/>
          </a:bodyPr>
          <a:lstStyle/>
          <a:p>
            <a:pPr algn="l">
              <a:lnSpc>
                <a:spcPct val="114000"/>
              </a:lnSpc>
              <a:spcAft>
                <a:spcPts val="200"/>
              </a:spcAft>
            </a:pPr>
            <a:r>
              <a:rPr sz="1400" b="0" dirty="0" err="1">
                <a:solidFill>
                  <a:srgbClr val="16202A"/>
                </a:solidFill>
                <a:latin typeface="Microsoft YaHei"/>
              </a:rPr>
              <a:t>该地图由NOAA</a:t>
            </a:r>
            <a:r>
              <a:rPr sz="1400" b="0" dirty="0">
                <a:solidFill>
                  <a:srgbClr val="16202A"/>
                </a:solidFill>
                <a:latin typeface="Microsoft YaHei"/>
              </a:rPr>
              <a:t> </a:t>
            </a:r>
            <a:r>
              <a:rPr sz="1400" b="0" dirty="0" err="1">
                <a:solidFill>
                  <a:srgbClr val="16202A"/>
                </a:solidFill>
                <a:latin typeface="Microsoft YaHei"/>
              </a:rPr>
              <a:t>IBTrACS台风轨迹、Natural</a:t>
            </a:r>
            <a:r>
              <a:rPr sz="1400" b="0" dirty="0">
                <a:solidFill>
                  <a:srgbClr val="16202A"/>
                </a:solidFill>
                <a:latin typeface="Microsoft YaHei"/>
              </a:rPr>
              <a:t> Earth海岸线和DeepOWT海上风电坐标共同构成。图中节点来自真实地理背景下筛选出的远海基础设施；岸基站、RIS平台和海缆异常点进一步定义了通信、感知和优化的空间关系。</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NOAA IBTrACS + Natural Earth coastline + DeepOWT</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11/77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96012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2A9D8F"/>
                </a:solidFill>
                <a:latin typeface="Aptos"/>
              </a:rPr>
              <a:t>二</a:t>
            </a:r>
          </a:p>
        </p:txBody>
      </p:sp>
      <p:sp>
        <p:nvSpPr>
          <p:cNvPr id="4" name="TextBox 3"/>
          <p:cNvSpPr txBox="1"/>
          <p:nvPr/>
        </p:nvSpPr>
        <p:spPr>
          <a:xfrm>
            <a:off x="1664208" y="658368"/>
            <a:ext cx="8046720" cy="548640"/>
          </a:xfrm>
          <a:prstGeom prst="rect">
            <a:avLst/>
          </a:prstGeom>
          <a:noFill/>
        </p:spPr>
        <p:txBody>
          <a:bodyPr wrap="square" lIns="45720" tIns="27432" rIns="45720" bIns="27432" anchor="t">
            <a:spAutoFit/>
          </a:bodyPr>
          <a:lstStyle/>
          <a:p>
            <a:pPr algn="l">
              <a:lnSpc>
                <a:spcPct val="105000"/>
              </a:lnSpc>
              <a:spcAft>
                <a:spcPts val="200"/>
              </a:spcAft>
            </a:pPr>
            <a:r>
              <a:rPr sz="2800" b="1">
                <a:solidFill>
                  <a:srgbClr val="FFFFFF"/>
                </a:solidFill>
                <a:latin typeface="Microsoft YaHei"/>
              </a:rPr>
              <a:t>空天地海系统架构</a:t>
            </a:r>
          </a:p>
        </p:txBody>
      </p:sp>
      <p:sp>
        <p:nvSpPr>
          <p:cNvPr id="5" name="TextBox 4"/>
          <p:cNvSpPr txBox="1"/>
          <p:nvPr/>
        </p:nvSpPr>
        <p:spPr>
          <a:xfrm>
            <a:off x="1691640" y="1389888"/>
            <a:ext cx="9052560" cy="502920"/>
          </a:xfrm>
          <a:prstGeom prst="rect">
            <a:avLst/>
          </a:prstGeom>
          <a:noFill/>
        </p:spPr>
        <p:txBody>
          <a:bodyPr wrap="square" lIns="45720" tIns="27432" rIns="45720" bIns="27432" anchor="t">
            <a:spAutoFit/>
          </a:bodyPr>
          <a:lstStyle/>
          <a:p>
            <a:pPr algn="l">
              <a:lnSpc>
                <a:spcPct val="105000"/>
              </a:lnSpc>
              <a:spcAft>
                <a:spcPts val="200"/>
              </a:spcAft>
            </a:pPr>
            <a:r>
              <a:rPr sz="1500" b="0">
                <a:solidFill>
                  <a:srgbClr val="DAE2E7"/>
                </a:solidFill>
                <a:latin typeface="Microsoft YaHei"/>
              </a:rPr>
              <a:t>把灾后任务拆给不同层级节点：卫星负责态势和密钥，UAV负责临时链路，海上/水下节点负责感知与可重构传播。</a:t>
            </a:r>
          </a:p>
        </p:txBody>
      </p:sp>
      <p:sp>
        <p:nvSpPr>
          <p:cNvPr id="6" name="TextBox 5"/>
          <p:cNvSpPr txBox="1"/>
          <p:nvPr/>
        </p:nvSpPr>
        <p:spPr>
          <a:xfrm>
            <a:off x="1719072" y="2331720"/>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1</a:t>
            </a:r>
          </a:p>
        </p:txBody>
      </p:sp>
      <p:sp>
        <p:nvSpPr>
          <p:cNvPr id="7" name="TextBox 6"/>
          <p:cNvSpPr txBox="1"/>
          <p:nvPr/>
        </p:nvSpPr>
        <p:spPr>
          <a:xfrm>
            <a:off x="2148840" y="2313432"/>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空：卫星遥感和QKD密钥供给。</a:t>
            </a:r>
          </a:p>
        </p:txBody>
      </p:sp>
      <p:sp>
        <p:nvSpPr>
          <p:cNvPr id="8" name="TextBox 7"/>
          <p:cNvSpPr txBox="1"/>
          <p:nvPr/>
        </p:nvSpPr>
        <p:spPr>
          <a:xfrm>
            <a:off x="1719072" y="2990087"/>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2</a:t>
            </a:r>
          </a:p>
        </p:txBody>
      </p:sp>
      <p:sp>
        <p:nvSpPr>
          <p:cNvPr id="9" name="TextBox 8"/>
          <p:cNvSpPr txBox="1"/>
          <p:nvPr/>
        </p:nvSpPr>
        <p:spPr>
          <a:xfrm>
            <a:off x="2148840" y="2971799"/>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天：UAV移动中继与轨迹优化。</a:t>
            </a:r>
          </a:p>
        </p:txBody>
      </p:sp>
      <p:sp>
        <p:nvSpPr>
          <p:cNvPr id="10" name="TextBox 9"/>
          <p:cNvSpPr txBox="1"/>
          <p:nvPr/>
        </p:nvSpPr>
        <p:spPr>
          <a:xfrm>
            <a:off x="1719072" y="3648456"/>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3</a:t>
            </a:r>
          </a:p>
        </p:txBody>
      </p:sp>
      <p:sp>
        <p:nvSpPr>
          <p:cNvPr id="11" name="TextBox 10"/>
          <p:cNvSpPr txBox="1"/>
          <p:nvPr/>
        </p:nvSpPr>
        <p:spPr>
          <a:xfrm>
            <a:off x="2148840" y="3630168"/>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海：AUV磁探测、海上RIS平台和风电节点数据回传。</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Section transition</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12/77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SYSTEM INTRO</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二、空天地海系统架构</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系统架构导言：从节点分工到优化变量</a:t>
            </a:r>
          </a:p>
        </p:txBody>
      </p:sp>
      <p:sp>
        <p:nvSpPr>
          <p:cNvPr id="7" name="Rectangle 6"/>
          <p:cNvSpPr/>
          <p:nvPr/>
        </p:nvSpPr>
        <p:spPr>
          <a:xfrm>
            <a:off x="777240" y="1417320"/>
            <a:ext cx="10652760" cy="3758184"/>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673352"/>
            <a:ext cx="10012680" cy="978794"/>
          </a:xfrm>
          <a:prstGeom prst="rect">
            <a:avLst/>
          </a:prstGeom>
          <a:noFill/>
        </p:spPr>
        <p:txBody>
          <a:bodyPr wrap="square" lIns="45720" tIns="27432" rIns="45720" bIns="27432" anchor="t">
            <a:spAutoFit/>
          </a:bodyPr>
          <a:lstStyle/>
          <a:p>
            <a:pPr algn="l">
              <a:lnSpc>
                <a:spcPct val="114000"/>
              </a:lnSpc>
              <a:spcAft>
                <a:spcPts val="200"/>
              </a:spcAft>
            </a:pPr>
            <a:r>
              <a:rPr b="0" dirty="0">
                <a:solidFill>
                  <a:srgbClr val="16202A"/>
                </a:solidFill>
                <a:latin typeface="Microsoft YaHei"/>
              </a:rPr>
              <a:t>空天地海一体化系统的核心在于把不同空间层级的能力分配给明确的物理任务。卫星提供广域态势和密钥来源，UAV提供可移动空中接入，岸基站承担计算和密钥管理，海上/</a:t>
            </a:r>
            <a:r>
              <a:rPr b="0" dirty="0" err="1">
                <a:solidFill>
                  <a:srgbClr val="16202A"/>
                </a:solidFill>
                <a:latin typeface="Microsoft YaHei"/>
              </a:rPr>
              <a:t>水下平台提供数据采集、磁探测与可重构传播</a:t>
            </a:r>
            <a:r>
              <a:rPr b="0" dirty="0">
                <a:solidFill>
                  <a:srgbClr val="16202A"/>
                </a:solidFill>
                <a:latin typeface="Microsoft YaHei"/>
              </a:rPr>
              <a:t>。</a:t>
            </a:r>
          </a:p>
        </p:txBody>
      </p:sp>
      <p:sp>
        <p:nvSpPr>
          <p:cNvPr id="9" name="TextBox 8"/>
          <p:cNvSpPr txBox="1"/>
          <p:nvPr/>
        </p:nvSpPr>
        <p:spPr>
          <a:xfrm>
            <a:off x="1097280" y="2843784"/>
            <a:ext cx="10012680" cy="978794"/>
          </a:xfrm>
          <a:prstGeom prst="rect">
            <a:avLst/>
          </a:prstGeom>
          <a:noFill/>
        </p:spPr>
        <p:txBody>
          <a:bodyPr wrap="square" lIns="45720" tIns="27432" rIns="45720" bIns="27432" anchor="t">
            <a:spAutoFit/>
          </a:bodyPr>
          <a:lstStyle/>
          <a:p>
            <a:pPr algn="l">
              <a:lnSpc>
                <a:spcPct val="114000"/>
              </a:lnSpc>
              <a:spcAft>
                <a:spcPts val="200"/>
              </a:spcAft>
            </a:pPr>
            <a:r>
              <a:rPr b="0" dirty="0">
                <a:solidFill>
                  <a:srgbClr val="16202A"/>
                </a:solidFill>
                <a:latin typeface="Microsoft YaHei"/>
              </a:rPr>
              <a:t>这种分工会直接决定优化变量的来源：UAV位置形成轨迹变量，RIS控制形成相位矩阵，岸基调度形成二进制服务变量，QKD供给形成密钥预算，磁异常输出形成任务权重。系统图中的每条信息流都要能在模型中找到对应的变量或约束。</a:t>
            </a:r>
          </a:p>
        </p:txBody>
      </p:sp>
      <p:sp>
        <p:nvSpPr>
          <p:cNvPr id="10" name="TextBox 9"/>
          <p:cNvSpPr txBox="1"/>
          <p:nvPr/>
        </p:nvSpPr>
        <p:spPr>
          <a:xfrm>
            <a:off x="1097280" y="4014216"/>
            <a:ext cx="10012680" cy="663002"/>
          </a:xfrm>
          <a:prstGeom prst="rect">
            <a:avLst/>
          </a:prstGeom>
          <a:noFill/>
        </p:spPr>
        <p:txBody>
          <a:bodyPr wrap="square" lIns="45720" tIns="27432" rIns="45720" bIns="27432" anchor="t">
            <a:spAutoFit/>
          </a:bodyPr>
          <a:lstStyle/>
          <a:p>
            <a:pPr algn="l">
              <a:lnSpc>
                <a:spcPct val="114000"/>
              </a:lnSpc>
              <a:spcAft>
                <a:spcPts val="200"/>
              </a:spcAft>
            </a:pPr>
            <a:r>
              <a:rPr b="0" dirty="0">
                <a:solidFill>
                  <a:srgbClr val="16202A"/>
                </a:solidFill>
                <a:latin typeface="Microsoft YaHei"/>
              </a:rPr>
              <a:t>本章因此先讲清楚节点、数据流和安全流的关系，再进入数学建模。这样做可以使后续公式不成为孤立符号，每一个符号都能回到具体的工程动作。</a:t>
            </a:r>
          </a:p>
        </p:txBody>
      </p:sp>
      <p:sp>
        <p:nvSpPr>
          <p:cNvPr id="11" name="TextBox 10"/>
          <p:cNvSpPr txBox="1"/>
          <p:nvPr/>
        </p:nvSpPr>
        <p:spPr>
          <a:xfrm>
            <a:off x="868680" y="5742432"/>
            <a:ext cx="10287000" cy="475488"/>
          </a:xfrm>
          <a:prstGeom prst="rect">
            <a:avLst/>
          </a:prstGeom>
          <a:noFill/>
        </p:spPr>
        <p:txBody>
          <a:bodyPr wrap="square" lIns="45720" tIns="27432" rIns="45720" bIns="27432" anchor="t">
            <a:spAutoFit/>
          </a:bodyPr>
          <a:lstStyle/>
          <a:p>
            <a:pPr algn="l">
              <a:lnSpc>
                <a:spcPct val="112000"/>
              </a:lnSpc>
              <a:spcAft>
                <a:spcPts val="200"/>
              </a:spcAft>
            </a:pPr>
            <a:r>
              <a:rPr sz="1400" b="1">
                <a:solidFill>
                  <a:srgbClr val="2A9D8F"/>
                </a:solidFill>
                <a:latin typeface="Microsoft YaHei"/>
              </a:rPr>
              <a:t>本章作用：建立“系统节点—信息流—优化变量”的一一对应关系。</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Academic narrative bridge</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13/77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SYSTEM LOGIC</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二、空天地海系统架构</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系统闭环：感知、调度、通信与安全回传</a:t>
            </a:r>
          </a:p>
        </p:txBody>
      </p:sp>
      <p:sp>
        <p:nvSpPr>
          <p:cNvPr id="7" name="Rectangle 6"/>
          <p:cNvSpPr/>
          <p:nvPr/>
        </p:nvSpPr>
        <p:spPr>
          <a:xfrm>
            <a:off x="749808" y="1417320"/>
            <a:ext cx="4892040" cy="11430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7" y="1563624"/>
            <a:ext cx="146304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2A9D8F"/>
                </a:solidFill>
                <a:latin typeface="Microsoft YaHei"/>
              </a:rPr>
              <a:t>1 感知</a:t>
            </a:r>
          </a:p>
        </p:txBody>
      </p:sp>
      <p:sp>
        <p:nvSpPr>
          <p:cNvPr id="9" name="TextBox 8"/>
          <p:cNvSpPr txBox="1"/>
          <p:nvPr/>
        </p:nvSpPr>
        <p:spPr>
          <a:xfrm>
            <a:off x="978407" y="1947672"/>
            <a:ext cx="4343400" cy="556691"/>
          </a:xfrm>
          <a:prstGeom prst="rect">
            <a:avLst/>
          </a:prstGeom>
          <a:noFill/>
        </p:spPr>
        <p:txBody>
          <a:bodyPr wrap="square" lIns="45720" tIns="27432" rIns="45720" bIns="27432" anchor="t">
            <a:spAutoFit/>
          </a:bodyPr>
          <a:lstStyle/>
          <a:p>
            <a:pPr algn="l">
              <a:lnSpc>
                <a:spcPct val="105000"/>
              </a:lnSpc>
              <a:spcAft>
                <a:spcPts val="200"/>
              </a:spcAft>
            </a:pPr>
            <a:r>
              <a:rPr sz="1600" b="0" dirty="0">
                <a:solidFill>
                  <a:srgbClr val="16202A"/>
                </a:solidFill>
                <a:latin typeface="Microsoft YaHei"/>
              </a:rPr>
              <a:t>AUV/</a:t>
            </a:r>
            <a:r>
              <a:rPr sz="1600" b="0" dirty="0" err="1">
                <a:solidFill>
                  <a:srgbClr val="16202A"/>
                </a:solidFill>
                <a:latin typeface="Microsoft YaHei"/>
              </a:rPr>
              <a:t>浮标发现海缆附近磁异常，产生风险优先级</a:t>
            </a:r>
            <a:r>
              <a:rPr sz="1600" b="0" dirty="0">
                <a:solidFill>
                  <a:srgbClr val="16202A"/>
                </a:solidFill>
                <a:latin typeface="Microsoft YaHei"/>
              </a:rPr>
              <a:t>。</a:t>
            </a:r>
          </a:p>
        </p:txBody>
      </p:sp>
      <p:sp>
        <p:nvSpPr>
          <p:cNvPr id="10" name="Rectangle 9"/>
          <p:cNvSpPr/>
          <p:nvPr/>
        </p:nvSpPr>
        <p:spPr>
          <a:xfrm>
            <a:off x="6281928" y="1417320"/>
            <a:ext cx="4892040" cy="11430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8" y="1563624"/>
            <a:ext cx="146304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E76F51"/>
                </a:solidFill>
                <a:latin typeface="Microsoft YaHei"/>
              </a:rPr>
              <a:t>2 建链</a:t>
            </a:r>
          </a:p>
        </p:txBody>
      </p:sp>
      <p:sp>
        <p:nvSpPr>
          <p:cNvPr id="12" name="TextBox 11"/>
          <p:cNvSpPr txBox="1"/>
          <p:nvPr/>
        </p:nvSpPr>
        <p:spPr>
          <a:xfrm>
            <a:off x="6510528" y="1947672"/>
            <a:ext cx="4343400"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UAV临时接入远海节点，RIS调整反射相位改善边缘链路</a:t>
            </a:r>
            <a:r>
              <a:rPr sz="1600" b="0" dirty="0">
                <a:solidFill>
                  <a:srgbClr val="16202A"/>
                </a:solidFill>
                <a:latin typeface="Microsoft YaHei"/>
              </a:rPr>
              <a:t>。</a:t>
            </a:r>
          </a:p>
        </p:txBody>
      </p:sp>
      <p:sp>
        <p:nvSpPr>
          <p:cNvPr id="13" name="Rectangle 12"/>
          <p:cNvSpPr/>
          <p:nvPr/>
        </p:nvSpPr>
        <p:spPr>
          <a:xfrm>
            <a:off x="749808" y="3081528"/>
            <a:ext cx="4892040" cy="11430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7" y="3227832"/>
            <a:ext cx="146304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2A9D8F"/>
                </a:solidFill>
                <a:latin typeface="Microsoft YaHei"/>
              </a:rPr>
              <a:t>3 保护</a:t>
            </a:r>
          </a:p>
        </p:txBody>
      </p:sp>
      <p:sp>
        <p:nvSpPr>
          <p:cNvPr id="15" name="TextBox 14"/>
          <p:cNvSpPr txBox="1"/>
          <p:nvPr/>
        </p:nvSpPr>
        <p:spPr>
          <a:xfrm>
            <a:off x="978407" y="3611880"/>
            <a:ext cx="4343400"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卫星QKD和岸基KMS为关键告警、控制指令和会话刷新分配密钥</a:t>
            </a:r>
            <a:r>
              <a:rPr sz="1600" b="0" dirty="0">
                <a:solidFill>
                  <a:srgbClr val="16202A"/>
                </a:solidFill>
                <a:latin typeface="Microsoft YaHei"/>
              </a:rPr>
              <a:t>。</a:t>
            </a:r>
          </a:p>
        </p:txBody>
      </p:sp>
      <p:sp>
        <p:nvSpPr>
          <p:cNvPr id="16" name="Rectangle 15"/>
          <p:cNvSpPr/>
          <p:nvPr/>
        </p:nvSpPr>
        <p:spPr>
          <a:xfrm>
            <a:off x="6281928" y="3081528"/>
            <a:ext cx="4892040" cy="11430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0528" y="3227832"/>
            <a:ext cx="1463040" cy="292608"/>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E76F51"/>
                </a:solidFill>
                <a:latin typeface="Microsoft YaHei"/>
              </a:rPr>
              <a:t>4 优化</a:t>
            </a:r>
          </a:p>
        </p:txBody>
      </p:sp>
      <p:sp>
        <p:nvSpPr>
          <p:cNvPr id="18" name="TextBox 17"/>
          <p:cNvSpPr txBox="1"/>
          <p:nvPr/>
        </p:nvSpPr>
        <p:spPr>
          <a:xfrm>
            <a:off x="6510528" y="3611880"/>
            <a:ext cx="4343400"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统一求解轨迹、相位、功率、带宽、调度和密钥分配</a:t>
            </a:r>
            <a:r>
              <a:rPr sz="1600" b="0" dirty="0">
                <a:solidFill>
                  <a:srgbClr val="16202A"/>
                </a:solidFill>
                <a:latin typeface="Microsoft YaHei"/>
              </a:rPr>
              <a:t>。</a:t>
            </a:r>
          </a:p>
        </p:txBody>
      </p:sp>
      <p:sp>
        <p:nvSpPr>
          <p:cNvPr id="19" name="TextBox 18"/>
          <p:cNvSpPr txBox="1"/>
          <p:nvPr/>
        </p:nvSpPr>
        <p:spPr>
          <a:xfrm>
            <a:off x="868680" y="5230368"/>
            <a:ext cx="9875520" cy="358816"/>
          </a:xfrm>
          <a:prstGeom prst="rect">
            <a:avLst/>
          </a:prstGeom>
          <a:noFill/>
        </p:spPr>
        <p:txBody>
          <a:bodyPr wrap="square" lIns="45720" tIns="27432" rIns="45720" bIns="27432" anchor="t">
            <a:spAutoFit/>
          </a:bodyPr>
          <a:lstStyle/>
          <a:p>
            <a:pPr algn="l">
              <a:lnSpc>
                <a:spcPct val="105000"/>
              </a:lnSpc>
              <a:spcAft>
                <a:spcPts val="200"/>
              </a:spcAft>
            </a:pPr>
            <a:r>
              <a:rPr sz="2000" b="0" dirty="0" err="1">
                <a:solidFill>
                  <a:srgbClr val="56606A"/>
                </a:solidFill>
                <a:latin typeface="Microsoft YaHei"/>
              </a:rPr>
              <a:t>这四步对应后续优化模型中的权重、信道、密钥约束和资源变量</a:t>
            </a:r>
            <a:r>
              <a:rPr sz="2000" b="0" dirty="0">
                <a:solidFill>
                  <a:srgbClr val="56606A"/>
                </a:solidFill>
                <a:latin typeface="Microsoft YaHei"/>
              </a:rPr>
              <a:t>。</a:t>
            </a:r>
          </a:p>
        </p:txBody>
      </p:sp>
      <p:sp>
        <p:nvSpPr>
          <p:cNvPr id="20" name="Rectangle 19"/>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22" name="TextBox 21"/>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14/77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ARCHITECTURE</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二、空天地海系统架构</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空天地海一体化系统总体架构</a:t>
            </a:r>
          </a:p>
        </p:txBody>
      </p:sp>
      <p:pic>
        <p:nvPicPr>
          <p:cNvPr id="7" name="Picture 6" descr="system_architecture_gpt.png"/>
          <p:cNvPicPr>
            <a:picLocks noChangeAspect="1"/>
          </p:cNvPicPr>
          <p:nvPr/>
        </p:nvPicPr>
        <p:blipFill>
          <a:blip r:embed="rId2"/>
          <a:stretch>
            <a:fillRect/>
          </a:stretch>
        </p:blipFill>
        <p:spPr>
          <a:xfrm>
            <a:off x="310559" y="1257299"/>
            <a:ext cx="8557280" cy="4879607"/>
          </a:xfrm>
          <a:prstGeom prst="rect">
            <a:avLst/>
          </a:prstGeom>
        </p:spPr>
      </p:pic>
      <p:sp>
        <p:nvSpPr>
          <p:cNvPr id="8" name="Rectangle 7"/>
          <p:cNvSpPr/>
          <p:nvPr/>
        </p:nvSpPr>
        <p:spPr>
          <a:xfrm>
            <a:off x="9103988" y="125730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86868" y="151333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机制说明</a:t>
            </a:r>
          </a:p>
        </p:txBody>
      </p:sp>
      <p:sp>
        <p:nvSpPr>
          <p:cNvPr id="10" name="TextBox 9"/>
          <p:cNvSpPr txBox="1"/>
          <p:nvPr/>
        </p:nvSpPr>
        <p:spPr>
          <a:xfrm>
            <a:off x="9286867" y="1943100"/>
            <a:ext cx="2434636" cy="224696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该架构图给出四层节点之间的信息流与控制流。卫星层提供广域态势与QKD密钥，空中UAV层提供临时中继，地面岸基层完成优化求解与密钥管理，海上/</a:t>
            </a:r>
            <a:r>
              <a:rPr sz="1400" b="0" dirty="0" err="1">
                <a:solidFill>
                  <a:srgbClr val="16202A"/>
                </a:solidFill>
                <a:latin typeface="Microsoft YaHei"/>
              </a:rPr>
              <a:t>水下层提供风电、海缆和磁探测数据。后续所有模型变量都从这些节点功能中抽象出来</a:t>
            </a:r>
            <a:r>
              <a:rPr sz="1400" b="0" dirty="0">
                <a:solidFill>
                  <a:srgbClr val="16202A"/>
                </a:solidFill>
                <a:latin typeface="Microsoft YaHei"/>
              </a:rPr>
              <a:t>。</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System architecture diagram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15/77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NODES</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二、空天地海系统架构</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系统节点功能与数学建模映射</a:t>
            </a:r>
          </a:p>
        </p:txBody>
      </p:sp>
      <p:graphicFrame>
        <p:nvGraphicFramePr>
          <p:cNvPr id="7" name="Table 6"/>
          <p:cNvGraphicFramePr>
            <a:graphicFrameLocks noGrp="1"/>
          </p:cNvGraphicFramePr>
          <p:nvPr/>
        </p:nvGraphicFramePr>
        <p:xfrm>
          <a:off x="731520" y="1325880"/>
          <a:ext cx="10789919" cy="4251960"/>
        </p:xfrm>
        <a:graphic>
          <a:graphicData uri="http://schemas.openxmlformats.org/drawingml/2006/table">
            <a:tbl>
              <a:tblPr firstRow="1" bandRow="1">
                <a:tableStyleId>{5C22544A-7EE6-4342-B048-85BDC9FD1C3A}</a:tableStyleId>
              </a:tblPr>
              <a:tblGrid>
                <a:gridCol w="2157984">
                  <a:extLst>
                    <a:ext uri="{9D8B030D-6E8A-4147-A177-3AD203B41FA5}">
                      <a16:colId xmlns:a16="http://schemas.microsoft.com/office/drawing/2014/main" val="20000"/>
                    </a:ext>
                  </a:extLst>
                </a:gridCol>
                <a:gridCol w="4100169">
                  <a:extLst>
                    <a:ext uri="{9D8B030D-6E8A-4147-A177-3AD203B41FA5}">
                      <a16:colId xmlns:a16="http://schemas.microsoft.com/office/drawing/2014/main" val="20001"/>
                    </a:ext>
                  </a:extLst>
                </a:gridCol>
                <a:gridCol w="4531766">
                  <a:extLst>
                    <a:ext uri="{9D8B030D-6E8A-4147-A177-3AD203B41FA5}">
                      <a16:colId xmlns:a16="http://schemas.microsoft.com/office/drawing/2014/main" val="20002"/>
                    </a:ext>
                  </a:extLst>
                </a:gridCol>
              </a:tblGrid>
              <a:tr h="607422">
                <a:tc>
                  <a:txBody>
                    <a:bodyPr/>
                    <a:lstStyle/>
                    <a:p>
                      <a:r>
                        <a:rPr sz="1120" b="1">
                          <a:solidFill>
                            <a:srgbClr val="FFFFFF"/>
                          </a:solidFill>
                          <a:latin typeface="Microsoft YaHei"/>
                        </a:rPr>
                        <a:t>节点</a:t>
                      </a:r>
                    </a:p>
                  </a:txBody>
                  <a:tcPr marL="45720" marR="45720" marT="36576" marB="36576">
                    <a:solidFill>
                      <a:srgbClr val="1D2B39"/>
                    </a:solidFill>
                  </a:tcPr>
                </a:tc>
                <a:tc>
                  <a:txBody>
                    <a:bodyPr/>
                    <a:lstStyle/>
                    <a:p>
                      <a:r>
                        <a:rPr sz="1120" b="1">
                          <a:solidFill>
                            <a:srgbClr val="FFFFFF"/>
                          </a:solidFill>
                          <a:latin typeface="Microsoft YaHei"/>
                        </a:rPr>
                        <a:t>功能</a:t>
                      </a:r>
                    </a:p>
                  </a:txBody>
                  <a:tcPr marL="45720" marR="45720" marT="36576" marB="36576">
                    <a:solidFill>
                      <a:srgbClr val="1D2B39"/>
                    </a:solidFill>
                  </a:tcPr>
                </a:tc>
                <a:tc>
                  <a:txBody>
                    <a:bodyPr/>
                    <a:lstStyle/>
                    <a:p>
                      <a:r>
                        <a:rPr sz="1120" b="1">
                          <a:solidFill>
                            <a:srgbClr val="FFFFFF"/>
                          </a:solidFill>
                          <a:latin typeface="Microsoft YaHei"/>
                        </a:rPr>
                        <a:t>进入模型的位置</a:t>
                      </a:r>
                    </a:p>
                  </a:txBody>
                  <a:tcPr marL="45720" marR="45720" marT="36576" marB="36576">
                    <a:solidFill>
                      <a:srgbClr val="1D2B39"/>
                    </a:solidFill>
                  </a:tcPr>
                </a:tc>
                <a:extLst>
                  <a:ext uri="{0D108BD9-81ED-4DB2-BD59-A6C34878D82A}">
                    <a16:rowId xmlns:a16="http://schemas.microsoft.com/office/drawing/2014/main" val="10000"/>
                  </a:ext>
                </a:extLst>
              </a:tr>
              <a:tr h="607422">
                <a:tc>
                  <a:txBody>
                    <a:bodyPr/>
                    <a:lstStyle/>
                    <a:p>
                      <a:r>
                        <a:rPr sz="1120" b="0">
                          <a:solidFill>
                            <a:srgbClr val="16202A"/>
                          </a:solidFill>
                          <a:latin typeface="Microsoft YaHei"/>
                        </a:rPr>
                        <a:t>LEO卫星</a:t>
                      </a:r>
                    </a:p>
                  </a:txBody>
                  <a:tcPr marL="45720" marR="45720" marT="36576" marB="36576">
                    <a:solidFill>
                      <a:srgbClr val="FCFCF9"/>
                    </a:solidFill>
                  </a:tcPr>
                </a:tc>
                <a:tc>
                  <a:txBody>
                    <a:bodyPr/>
                    <a:lstStyle/>
                    <a:p>
                      <a:r>
                        <a:rPr sz="1120" b="0">
                          <a:solidFill>
                            <a:srgbClr val="16202A"/>
                          </a:solidFill>
                          <a:latin typeface="Microsoft YaHei"/>
                        </a:rPr>
                        <a:t>SAR遥感、QKD密钥下发</a:t>
                      </a:r>
                    </a:p>
                  </a:txBody>
                  <a:tcPr marL="45720" marR="45720" marT="36576" marB="36576">
                    <a:solidFill>
                      <a:srgbClr val="FCFCF9"/>
                    </a:solidFill>
                  </a:tcPr>
                </a:tc>
                <a:tc>
                  <a:txBody>
                    <a:bodyPr/>
                    <a:lstStyle/>
                    <a:p>
                      <a:r>
                        <a:rPr sz="1120" b="0">
                          <a:solidFill>
                            <a:srgbClr val="16202A"/>
                          </a:solidFill>
                          <a:latin typeface="Microsoft YaHei"/>
                        </a:rPr>
                        <a:t>密钥预算、灾后态势</a:t>
                      </a:r>
                    </a:p>
                  </a:txBody>
                  <a:tcPr marL="45720" marR="45720" marT="36576" marB="36576">
                    <a:solidFill>
                      <a:srgbClr val="FCFCF9"/>
                    </a:solidFill>
                  </a:tcPr>
                </a:tc>
                <a:extLst>
                  <a:ext uri="{0D108BD9-81ED-4DB2-BD59-A6C34878D82A}">
                    <a16:rowId xmlns:a16="http://schemas.microsoft.com/office/drawing/2014/main" val="10001"/>
                  </a:ext>
                </a:extLst>
              </a:tr>
              <a:tr h="607422">
                <a:tc>
                  <a:txBody>
                    <a:bodyPr/>
                    <a:lstStyle/>
                    <a:p>
                      <a:r>
                        <a:rPr sz="1120" b="0">
                          <a:solidFill>
                            <a:srgbClr val="16202A"/>
                          </a:solidFill>
                          <a:latin typeface="Microsoft YaHei"/>
                        </a:rPr>
                        <a:t>UAV</a:t>
                      </a:r>
                    </a:p>
                  </a:txBody>
                  <a:tcPr marL="45720" marR="45720" marT="36576" marB="36576">
                    <a:solidFill>
                      <a:srgbClr val="FCFCF9"/>
                    </a:solidFill>
                  </a:tcPr>
                </a:tc>
                <a:tc>
                  <a:txBody>
                    <a:bodyPr/>
                    <a:lstStyle/>
                    <a:p>
                      <a:r>
                        <a:rPr sz="1120" b="0">
                          <a:solidFill>
                            <a:srgbClr val="16202A"/>
                          </a:solidFill>
                          <a:latin typeface="Microsoft YaHei"/>
                        </a:rPr>
                        <a:t>移动中继、临时空中基站</a:t>
                      </a:r>
                    </a:p>
                  </a:txBody>
                  <a:tcPr marL="45720" marR="45720" marT="36576" marB="36576">
                    <a:solidFill>
                      <a:srgbClr val="FCFCF9"/>
                    </a:solidFill>
                  </a:tcPr>
                </a:tc>
                <a:tc>
                  <a:txBody>
                    <a:bodyPr/>
                    <a:lstStyle/>
                    <a:p>
                      <a:r>
                        <a:rPr sz="1120" b="0">
                          <a:solidFill>
                            <a:srgbClr val="16202A"/>
                          </a:solidFill>
                          <a:latin typeface="Microsoft YaHei"/>
                        </a:rPr>
                        <a:t>飞行轨迹、飞行能耗、速度约束</a:t>
                      </a:r>
                    </a:p>
                  </a:txBody>
                  <a:tcPr marL="45720" marR="45720" marT="36576" marB="36576">
                    <a:solidFill>
                      <a:srgbClr val="FCFCF9"/>
                    </a:solidFill>
                  </a:tcPr>
                </a:tc>
                <a:extLst>
                  <a:ext uri="{0D108BD9-81ED-4DB2-BD59-A6C34878D82A}">
                    <a16:rowId xmlns:a16="http://schemas.microsoft.com/office/drawing/2014/main" val="10002"/>
                  </a:ext>
                </a:extLst>
              </a:tr>
              <a:tr h="607422">
                <a:tc>
                  <a:txBody>
                    <a:bodyPr/>
                    <a:lstStyle/>
                    <a:p>
                      <a:r>
                        <a:rPr sz="1120" b="0">
                          <a:solidFill>
                            <a:srgbClr val="16202A"/>
                          </a:solidFill>
                          <a:latin typeface="Microsoft YaHei"/>
                        </a:rPr>
                        <a:t>岸基6G/KMS</a:t>
                      </a:r>
                    </a:p>
                  </a:txBody>
                  <a:tcPr marL="45720" marR="45720" marT="36576" marB="36576">
                    <a:solidFill>
                      <a:srgbClr val="FCFCF9"/>
                    </a:solidFill>
                  </a:tcPr>
                </a:tc>
                <a:tc>
                  <a:txBody>
                    <a:bodyPr/>
                    <a:lstStyle/>
                    <a:p>
                      <a:r>
                        <a:rPr sz="1120" b="0">
                          <a:solidFill>
                            <a:srgbClr val="16202A"/>
                          </a:solidFill>
                          <a:latin typeface="Microsoft YaHei"/>
                        </a:rPr>
                        <a:t>优化求解、密钥管理</a:t>
                      </a:r>
                    </a:p>
                  </a:txBody>
                  <a:tcPr marL="45720" marR="45720" marT="36576" marB="36576">
                    <a:solidFill>
                      <a:srgbClr val="FCFCF9"/>
                    </a:solidFill>
                  </a:tcPr>
                </a:tc>
                <a:tc>
                  <a:txBody>
                    <a:bodyPr/>
                    <a:lstStyle/>
                    <a:p>
                      <a:r>
                        <a:rPr sz="1120" b="0">
                          <a:solidFill>
                            <a:srgbClr val="16202A"/>
                          </a:solidFill>
                          <a:latin typeface="Microsoft YaHei"/>
                        </a:rPr>
                        <a:t>密钥分配、安全策略</a:t>
                      </a:r>
                    </a:p>
                  </a:txBody>
                  <a:tcPr marL="45720" marR="45720" marT="36576" marB="36576">
                    <a:solidFill>
                      <a:srgbClr val="FCFCF9"/>
                    </a:solidFill>
                  </a:tcPr>
                </a:tc>
                <a:extLst>
                  <a:ext uri="{0D108BD9-81ED-4DB2-BD59-A6C34878D82A}">
                    <a16:rowId xmlns:a16="http://schemas.microsoft.com/office/drawing/2014/main" val="10003"/>
                  </a:ext>
                </a:extLst>
              </a:tr>
              <a:tr h="607422">
                <a:tc>
                  <a:txBody>
                    <a:bodyPr/>
                    <a:lstStyle/>
                    <a:p>
                      <a:r>
                        <a:rPr sz="1120" b="0">
                          <a:solidFill>
                            <a:srgbClr val="16202A"/>
                          </a:solidFill>
                          <a:latin typeface="Microsoft YaHei"/>
                        </a:rPr>
                        <a:t>RIS平台</a:t>
                      </a:r>
                    </a:p>
                  </a:txBody>
                  <a:tcPr marL="45720" marR="45720" marT="36576" marB="36576">
                    <a:solidFill>
                      <a:srgbClr val="FCFCF9"/>
                    </a:solidFill>
                  </a:tcPr>
                </a:tc>
                <a:tc>
                  <a:txBody>
                    <a:bodyPr/>
                    <a:lstStyle/>
                    <a:p>
                      <a:r>
                        <a:rPr sz="1120" b="0">
                          <a:solidFill>
                            <a:srgbClr val="16202A"/>
                          </a:solidFill>
                          <a:latin typeface="Microsoft YaHei"/>
                        </a:rPr>
                        <a:t>被动波束赋形</a:t>
                      </a:r>
                    </a:p>
                  </a:txBody>
                  <a:tcPr marL="45720" marR="45720" marT="36576" marB="36576">
                    <a:solidFill>
                      <a:srgbClr val="FCFCF9"/>
                    </a:solidFill>
                  </a:tcPr>
                </a:tc>
                <a:tc>
                  <a:txBody>
                    <a:bodyPr/>
                    <a:lstStyle/>
                    <a:p>
                      <a:r>
                        <a:rPr sz="1120" b="0">
                          <a:solidFill>
                            <a:srgbClr val="16202A"/>
                          </a:solidFill>
                          <a:latin typeface="Microsoft YaHei"/>
                        </a:rPr>
                        <a:t>相位矩阵、2-bit硬件码本</a:t>
                      </a:r>
                    </a:p>
                  </a:txBody>
                  <a:tcPr marL="45720" marR="45720" marT="36576" marB="36576">
                    <a:solidFill>
                      <a:srgbClr val="FCFCF9"/>
                    </a:solidFill>
                  </a:tcPr>
                </a:tc>
                <a:extLst>
                  <a:ext uri="{0D108BD9-81ED-4DB2-BD59-A6C34878D82A}">
                    <a16:rowId xmlns:a16="http://schemas.microsoft.com/office/drawing/2014/main" val="10004"/>
                  </a:ext>
                </a:extLst>
              </a:tr>
              <a:tr h="607422">
                <a:tc>
                  <a:txBody>
                    <a:bodyPr/>
                    <a:lstStyle/>
                    <a:p>
                      <a:r>
                        <a:rPr sz="1120" b="0">
                          <a:solidFill>
                            <a:srgbClr val="16202A"/>
                          </a:solidFill>
                          <a:latin typeface="Microsoft YaHei"/>
                        </a:rPr>
                        <a:t>AUV/浮标</a:t>
                      </a:r>
                    </a:p>
                  </a:txBody>
                  <a:tcPr marL="45720" marR="45720" marT="36576" marB="36576">
                    <a:solidFill>
                      <a:srgbClr val="FCFCF9"/>
                    </a:solidFill>
                  </a:tcPr>
                </a:tc>
                <a:tc>
                  <a:txBody>
                    <a:bodyPr/>
                    <a:lstStyle/>
                    <a:p>
                      <a:r>
                        <a:rPr sz="1120" b="0">
                          <a:solidFill>
                            <a:srgbClr val="16202A"/>
                          </a:solidFill>
                          <a:latin typeface="Microsoft YaHei"/>
                        </a:rPr>
                        <a:t>磁异常检测与数据上浮</a:t>
                      </a:r>
                    </a:p>
                  </a:txBody>
                  <a:tcPr marL="45720" marR="45720" marT="36576" marB="36576">
                    <a:solidFill>
                      <a:srgbClr val="FCFCF9"/>
                    </a:solidFill>
                  </a:tcPr>
                </a:tc>
                <a:tc>
                  <a:txBody>
                    <a:bodyPr/>
                    <a:lstStyle/>
                    <a:p>
                      <a:r>
                        <a:rPr sz="1120" b="0">
                          <a:solidFill>
                            <a:srgbClr val="16202A"/>
                          </a:solidFill>
                          <a:latin typeface="Microsoft YaHei"/>
                        </a:rPr>
                        <a:t>任务权重、关键数据量</a:t>
                      </a:r>
                    </a:p>
                  </a:txBody>
                  <a:tcPr marL="45720" marR="45720" marT="36576" marB="36576">
                    <a:solidFill>
                      <a:srgbClr val="FCFCF9"/>
                    </a:solidFill>
                  </a:tcPr>
                </a:tc>
                <a:extLst>
                  <a:ext uri="{0D108BD9-81ED-4DB2-BD59-A6C34878D82A}">
                    <a16:rowId xmlns:a16="http://schemas.microsoft.com/office/drawing/2014/main" val="10005"/>
                  </a:ext>
                </a:extLst>
              </a:tr>
              <a:tr h="607428">
                <a:tc>
                  <a:txBody>
                    <a:bodyPr/>
                    <a:lstStyle/>
                    <a:p>
                      <a:r>
                        <a:rPr sz="1120" b="0">
                          <a:solidFill>
                            <a:srgbClr val="16202A"/>
                          </a:solidFill>
                          <a:latin typeface="Microsoft YaHei"/>
                        </a:rPr>
                        <a:t>电网中心</a:t>
                      </a:r>
                    </a:p>
                  </a:txBody>
                  <a:tcPr marL="45720" marR="45720" marT="36576" marB="36576">
                    <a:solidFill>
                      <a:srgbClr val="FCFCF9"/>
                    </a:solidFill>
                  </a:tcPr>
                </a:tc>
                <a:tc>
                  <a:txBody>
                    <a:bodyPr/>
                    <a:lstStyle/>
                    <a:p>
                      <a:r>
                        <a:rPr sz="1120" b="0">
                          <a:solidFill>
                            <a:srgbClr val="16202A"/>
                          </a:solidFill>
                          <a:latin typeface="Microsoft YaHei"/>
                        </a:rPr>
                        <a:t>告警处置与调度</a:t>
                      </a:r>
                    </a:p>
                  </a:txBody>
                  <a:tcPr marL="45720" marR="45720" marT="36576" marB="36576">
                    <a:solidFill>
                      <a:srgbClr val="FCFCF9"/>
                    </a:solidFill>
                  </a:tcPr>
                </a:tc>
                <a:tc>
                  <a:txBody>
                    <a:bodyPr/>
                    <a:lstStyle/>
                    <a:p>
                      <a:r>
                        <a:rPr sz="1120" b="0">
                          <a:solidFill>
                            <a:srgbClr val="16202A"/>
                          </a:solidFill>
                          <a:latin typeface="Microsoft YaHei"/>
                        </a:rPr>
                        <a:t>任务优先级与业务目标</a:t>
                      </a:r>
                    </a:p>
                  </a:txBody>
                  <a:tcPr marL="45720" marR="45720" marT="36576" marB="36576">
                    <a:solidFill>
                      <a:srgbClr val="FCFCF9"/>
                    </a:solidFill>
                  </a:tcPr>
                </a:tc>
                <a:extLst>
                  <a:ext uri="{0D108BD9-81ED-4DB2-BD59-A6C34878D82A}">
                    <a16:rowId xmlns:a16="http://schemas.microsoft.com/office/drawing/2014/main" val="10006"/>
                  </a:ext>
                </a:extLst>
              </a:tr>
            </a:tbl>
          </a:graphicData>
        </a:graphic>
      </p:graphicFrame>
      <p:sp>
        <p:nvSpPr>
          <p:cNvPr id="8" name="Rectangle 7"/>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0" name="TextBox 9"/>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16/77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DUAL FLOW</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二、空天地海系统架构</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业务数据流与安全控制流</a:t>
            </a:r>
          </a:p>
        </p:txBody>
      </p:sp>
      <p:pic>
        <p:nvPicPr>
          <p:cNvPr id="7" name="Picture 6" descr="dual_flow_gpt.png"/>
          <p:cNvPicPr>
            <a:picLocks noChangeAspect="1"/>
          </p:cNvPicPr>
          <p:nvPr/>
        </p:nvPicPr>
        <p:blipFill>
          <a:blip r:embed="rId2"/>
          <a:stretch>
            <a:fillRect/>
          </a:stretch>
        </p:blipFill>
        <p:spPr>
          <a:xfrm>
            <a:off x="502920" y="1335024"/>
            <a:ext cx="8434018" cy="4746657"/>
          </a:xfrm>
          <a:prstGeom prst="rect">
            <a:avLst/>
          </a:prstGeom>
        </p:spPr>
      </p:pic>
      <p:sp>
        <p:nvSpPr>
          <p:cNvPr id="8" name="Rectangle 7"/>
          <p:cNvSpPr/>
          <p:nvPr/>
        </p:nvSpPr>
        <p:spPr>
          <a:xfrm>
            <a:off x="912239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0527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机制说明</a:t>
            </a:r>
          </a:p>
        </p:txBody>
      </p:sp>
      <p:sp>
        <p:nvSpPr>
          <p:cNvPr id="10" name="TextBox 9"/>
          <p:cNvSpPr txBox="1"/>
          <p:nvPr/>
        </p:nvSpPr>
        <p:spPr>
          <a:xfrm>
            <a:off x="9305278" y="1965960"/>
            <a:ext cx="2450592" cy="175580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图中区分了两类信息流：业务数据流主要经过UAV和RIS增强链路回传，安全控制流由QKD密钥预算保护。两者在调度层耦合，因为关键业务数据必须同时满足无线速率约束和密钥供给约束。</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Data and security-control flows</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17/77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QKD</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二、空天地海系统架构</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量子密钥分发与密钥预算约束</a:t>
            </a:r>
          </a:p>
        </p:txBody>
      </p:sp>
      <p:pic>
        <p:nvPicPr>
          <p:cNvPr id="7" name="Picture 6" descr="qkd_mechanism_gpt.png"/>
          <p:cNvPicPr>
            <a:picLocks noChangeAspect="1"/>
          </p:cNvPicPr>
          <p:nvPr/>
        </p:nvPicPr>
        <p:blipFill>
          <a:blip r:embed="rId2"/>
          <a:stretch>
            <a:fillRect/>
          </a:stretch>
        </p:blipFill>
        <p:spPr>
          <a:xfrm>
            <a:off x="219032" y="1251439"/>
            <a:ext cx="8692340" cy="4892040"/>
          </a:xfrm>
          <a:prstGeom prst="rect">
            <a:avLst/>
          </a:prstGeom>
        </p:spPr>
      </p:pic>
      <p:sp>
        <p:nvSpPr>
          <p:cNvPr id="8" name="Rectangle 7"/>
          <p:cNvSpPr/>
          <p:nvPr/>
        </p:nvSpPr>
        <p:spPr>
          <a:xfrm>
            <a:off x="9128535" y="1251439"/>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11415" y="1507471"/>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机制说明</a:t>
            </a:r>
          </a:p>
        </p:txBody>
      </p:sp>
      <p:sp>
        <p:nvSpPr>
          <p:cNvPr id="10" name="TextBox 9"/>
          <p:cNvSpPr txBox="1"/>
          <p:nvPr/>
        </p:nvSpPr>
        <p:spPr>
          <a:xfrm>
            <a:off x="9248328" y="1937239"/>
            <a:ext cx="2577687" cy="2560573"/>
          </a:xfrm>
          <a:prstGeom prst="rect">
            <a:avLst/>
          </a:prstGeom>
          <a:noFill/>
        </p:spPr>
        <p:txBody>
          <a:bodyPr wrap="square" lIns="45720" tIns="27432" rIns="45720" bIns="27432" anchor="t">
            <a:spAutoFit/>
          </a:bodyPr>
          <a:lstStyle/>
          <a:p>
            <a:pPr algn="l">
              <a:lnSpc>
                <a:spcPct val="114000"/>
              </a:lnSpc>
              <a:spcAft>
                <a:spcPts val="200"/>
              </a:spcAft>
            </a:pPr>
            <a:r>
              <a:rPr sz="1600" b="0" dirty="0" err="1">
                <a:solidFill>
                  <a:srgbClr val="16202A"/>
                </a:solidFill>
                <a:latin typeface="Microsoft YaHei"/>
              </a:rPr>
              <a:t>该图解释QKD在系统中的工程角色：卫星链路主要周期性提供密钥材料，业务数据仍由UAV</a:t>
            </a:r>
            <a:r>
              <a:rPr sz="1600" b="0" dirty="0">
                <a:solidFill>
                  <a:srgbClr val="16202A"/>
                </a:solidFill>
                <a:latin typeface="Microsoft YaHei"/>
              </a:rPr>
              <a:t>/</a:t>
            </a:r>
            <a:r>
              <a:rPr sz="1600" b="0" dirty="0" err="1">
                <a:solidFill>
                  <a:srgbClr val="16202A"/>
                </a:solidFill>
                <a:latin typeface="Microsoft YaHei"/>
              </a:rPr>
              <a:t>RIS增强链路承担。密钥进入岸基密钥管理系统后，被分配给不同节点的关键数据流，因此在优化模型中表现为每个时隙的总密钥供给约束</a:t>
            </a:r>
            <a:r>
              <a:rPr sz="1600" b="0" dirty="0">
                <a:solidFill>
                  <a:srgbClr val="16202A"/>
                </a:solidFill>
                <a:latin typeface="Microsoft YaHei"/>
              </a:rPr>
              <a:t>。</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QKD key management mechanism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18/77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MAGNETIC SENSING</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二、空天地海系统架构</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量子磁力计海缆异常检测机制</a:t>
            </a:r>
          </a:p>
        </p:txBody>
      </p:sp>
      <p:pic>
        <p:nvPicPr>
          <p:cNvPr id="7" name="Picture 6" descr="magnetometer_mechanism_gpt.png"/>
          <p:cNvPicPr>
            <a:picLocks noChangeAspect="1"/>
          </p:cNvPicPr>
          <p:nvPr/>
        </p:nvPicPr>
        <p:blipFill>
          <a:blip r:embed="rId2"/>
          <a:stretch>
            <a:fillRect/>
          </a:stretch>
        </p:blipFill>
        <p:spPr>
          <a:xfrm>
            <a:off x="363862" y="1257300"/>
            <a:ext cx="8692339" cy="4892040"/>
          </a:xfrm>
          <a:prstGeom prst="rect">
            <a:avLst/>
          </a:prstGeom>
        </p:spPr>
      </p:pic>
      <p:sp>
        <p:nvSpPr>
          <p:cNvPr id="8" name="Rectangle 7"/>
          <p:cNvSpPr/>
          <p:nvPr/>
        </p:nvSpPr>
        <p:spPr>
          <a:xfrm>
            <a:off x="9183768" y="1271016"/>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9366648" y="1527048"/>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机制说明</a:t>
            </a:r>
          </a:p>
        </p:txBody>
      </p:sp>
      <p:sp>
        <p:nvSpPr>
          <p:cNvPr id="10" name="TextBox 9"/>
          <p:cNvSpPr txBox="1"/>
          <p:nvPr/>
        </p:nvSpPr>
        <p:spPr>
          <a:xfrm>
            <a:off x="9266738" y="1956816"/>
            <a:ext cx="2614510" cy="2279855"/>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量子磁力计测量海缆附近的局部磁场扰动，并与WMM2025背景磁场进行差分。差分结果经过归一化后形成异常分数；该分数作为风险输入进入通信调度权重，使高风险海缆节点在资源受限时获得更高优先级。</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Quantum magnetic sensing mechanism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19/77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RIS</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二、空天地海系统架构</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可重构智能反射超表面传播机制</a:t>
            </a:r>
          </a:p>
        </p:txBody>
      </p:sp>
      <p:pic>
        <p:nvPicPr>
          <p:cNvPr id="7" name="Picture 6" descr="ris_mechanism_gpt.png"/>
          <p:cNvPicPr>
            <a:picLocks noChangeAspect="1"/>
          </p:cNvPicPr>
          <p:nvPr/>
        </p:nvPicPr>
        <p:blipFill>
          <a:blip r:embed="rId2"/>
          <a:stretch>
            <a:fillRect/>
          </a:stretch>
        </p:blipFill>
        <p:spPr>
          <a:xfrm>
            <a:off x="625140" y="1175702"/>
            <a:ext cx="8193604" cy="5042218"/>
          </a:xfrm>
          <a:prstGeom prst="rect">
            <a:avLst/>
          </a:prstGeom>
        </p:spPr>
      </p:pic>
      <p:sp>
        <p:nvSpPr>
          <p:cNvPr id="8" name="Rectangle 7"/>
          <p:cNvSpPr/>
          <p:nvPr/>
        </p:nvSpPr>
        <p:spPr>
          <a:xfrm>
            <a:off x="9052559" y="125730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39" y="151333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机制说明</a:t>
            </a:r>
          </a:p>
        </p:txBody>
      </p:sp>
      <p:sp>
        <p:nvSpPr>
          <p:cNvPr id="10" name="TextBox 9"/>
          <p:cNvSpPr txBox="1"/>
          <p:nvPr/>
        </p:nvSpPr>
        <p:spPr>
          <a:xfrm>
            <a:off x="9235438" y="1943100"/>
            <a:ext cx="2449243" cy="2279855"/>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RIS由大量可调反射单元组成。每个单元只能选择有限相位状态，本项目采用2-bit码本。通过相位对齐，RIS使直达链路和反射链路在UAV接收端尽量相干叠加，从而提高远海弱覆盖区域的等效信道增益。</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RIS propagation mechanism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20/77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96012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2A9D8F"/>
                </a:solidFill>
                <a:latin typeface="Aptos"/>
              </a:rPr>
              <a:t>三</a:t>
            </a:r>
          </a:p>
        </p:txBody>
      </p:sp>
      <p:sp>
        <p:nvSpPr>
          <p:cNvPr id="4" name="TextBox 3"/>
          <p:cNvSpPr txBox="1"/>
          <p:nvPr/>
        </p:nvSpPr>
        <p:spPr>
          <a:xfrm>
            <a:off x="1664208" y="658368"/>
            <a:ext cx="8046720" cy="548640"/>
          </a:xfrm>
          <a:prstGeom prst="rect">
            <a:avLst/>
          </a:prstGeom>
          <a:noFill/>
        </p:spPr>
        <p:txBody>
          <a:bodyPr wrap="square" lIns="45720" tIns="27432" rIns="45720" bIns="27432" anchor="t">
            <a:spAutoFit/>
          </a:bodyPr>
          <a:lstStyle/>
          <a:p>
            <a:pPr algn="l">
              <a:lnSpc>
                <a:spcPct val="105000"/>
              </a:lnSpc>
              <a:spcAft>
                <a:spcPts val="200"/>
              </a:spcAft>
            </a:pPr>
            <a:r>
              <a:rPr sz="2800" b="1">
                <a:solidFill>
                  <a:srgbClr val="FFFFFF"/>
                </a:solidFill>
                <a:latin typeface="Microsoft YaHei"/>
              </a:rPr>
              <a:t>优化建模</a:t>
            </a:r>
          </a:p>
        </p:txBody>
      </p:sp>
      <p:sp>
        <p:nvSpPr>
          <p:cNvPr id="5" name="TextBox 4"/>
          <p:cNvSpPr txBox="1"/>
          <p:nvPr/>
        </p:nvSpPr>
        <p:spPr>
          <a:xfrm>
            <a:off x="1691640" y="1389888"/>
            <a:ext cx="9052560" cy="502920"/>
          </a:xfrm>
          <a:prstGeom prst="rect">
            <a:avLst/>
          </a:prstGeom>
          <a:noFill/>
        </p:spPr>
        <p:txBody>
          <a:bodyPr wrap="square" lIns="45720" tIns="27432" rIns="45720" bIns="27432" anchor="t">
            <a:spAutoFit/>
          </a:bodyPr>
          <a:lstStyle/>
          <a:p>
            <a:pPr algn="l">
              <a:lnSpc>
                <a:spcPct val="105000"/>
              </a:lnSpc>
              <a:spcAft>
                <a:spcPts val="200"/>
              </a:spcAft>
            </a:pPr>
            <a:r>
              <a:rPr sz="1500" b="0">
                <a:solidFill>
                  <a:srgbClr val="DAE2E7"/>
                </a:solidFill>
                <a:latin typeface="Microsoft YaHei"/>
              </a:rPr>
              <a:t>把系统图中的工程对象转成变量、目标函数和约束，形成可求解的能效-安全联合优化问题。</a:t>
            </a:r>
          </a:p>
        </p:txBody>
      </p:sp>
      <p:sp>
        <p:nvSpPr>
          <p:cNvPr id="6" name="TextBox 5"/>
          <p:cNvSpPr txBox="1"/>
          <p:nvPr/>
        </p:nvSpPr>
        <p:spPr>
          <a:xfrm>
            <a:off x="1719072" y="2331720"/>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1</a:t>
            </a:r>
          </a:p>
        </p:txBody>
      </p:sp>
      <p:sp>
        <p:nvSpPr>
          <p:cNvPr id="7" name="TextBox 6"/>
          <p:cNvSpPr txBox="1"/>
          <p:nvPr/>
        </p:nvSpPr>
        <p:spPr>
          <a:xfrm>
            <a:off x="2148840" y="2313432"/>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信道模型刻画RIS相干叠加。</a:t>
            </a:r>
          </a:p>
        </p:txBody>
      </p:sp>
      <p:sp>
        <p:nvSpPr>
          <p:cNvPr id="8" name="TextBox 7"/>
          <p:cNvSpPr txBox="1"/>
          <p:nvPr/>
        </p:nvSpPr>
        <p:spPr>
          <a:xfrm>
            <a:off x="1719072" y="2990087"/>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2</a:t>
            </a:r>
          </a:p>
        </p:txBody>
      </p:sp>
      <p:sp>
        <p:nvSpPr>
          <p:cNvPr id="9" name="TextBox 8"/>
          <p:cNvSpPr txBox="1"/>
          <p:nvPr/>
        </p:nvSpPr>
        <p:spPr>
          <a:xfrm>
            <a:off x="2148840" y="2971799"/>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QKD模型刻画密钥供给瓶颈。</a:t>
            </a:r>
          </a:p>
        </p:txBody>
      </p:sp>
      <p:sp>
        <p:nvSpPr>
          <p:cNvPr id="10" name="TextBox 9"/>
          <p:cNvSpPr txBox="1"/>
          <p:nvPr/>
        </p:nvSpPr>
        <p:spPr>
          <a:xfrm>
            <a:off x="1719072" y="3648456"/>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3</a:t>
            </a:r>
          </a:p>
        </p:txBody>
      </p:sp>
      <p:sp>
        <p:nvSpPr>
          <p:cNvPr id="11" name="TextBox 10"/>
          <p:cNvSpPr txBox="1"/>
          <p:nvPr/>
        </p:nvSpPr>
        <p:spPr>
          <a:xfrm>
            <a:off x="2148840" y="3630168"/>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磁异常模型把感知结果转成任务权重。</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Section transition</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21/77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MODEL INTRO</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优化建模导言：从工程限制到数学约束</a:t>
            </a:r>
          </a:p>
        </p:txBody>
      </p:sp>
      <p:sp>
        <p:nvSpPr>
          <p:cNvPr id="7" name="Rectangle 6"/>
          <p:cNvSpPr/>
          <p:nvPr/>
        </p:nvSpPr>
        <p:spPr>
          <a:xfrm>
            <a:off x="777240" y="1417320"/>
            <a:ext cx="10652760" cy="3946342"/>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673352"/>
            <a:ext cx="10012680" cy="978794"/>
          </a:xfrm>
          <a:prstGeom prst="rect">
            <a:avLst/>
          </a:prstGeom>
          <a:noFill/>
        </p:spPr>
        <p:txBody>
          <a:bodyPr wrap="square" lIns="45720" tIns="27432" rIns="45720" bIns="27432" anchor="t">
            <a:spAutoFit/>
          </a:bodyPr>
          <a:lstStyle/>
          <a:p>
            <a:pPr algn="l">
              <a:lnSpc>
                <a:spcPct val="114000"/>
              </a:lnSpc>
              <a:spcAft>
                <a:spcPts val="200"/>
              </a:spcAft>
            </a:pPr>
            <a:r>
              <a:rPr b="0" dirty="0">
                <a:solidFill>
                  <a:srgbClr val="16202A"/>
                </a:solidFill>
                <a:latin typeface="Microsoft YaHei"/>
              </a:rPr>
              <a:t>建模的第一步是区分可控变量、外部输入和评价目标。可控变量包括轨迹、RIS相位、功率、带宽、调度和密钥分配；外部输入包括节点坐标、台风场景、磁异常背景和QKD供给；评价目标则是单位能耗下获得多少风险加权安全数据。</a:t>
            </a:r>
          </a:p>
        </p:txBody>
      </p:sp>
      <p:sp>
        <p:nvSpPr>
          <p:cNvPr id="9" name="TextBox 8"/>
          <p:cNvSpPr txBox="1"/>
          <p:nvPr/>
        </p:nvSpPr>
        <p:spPr>
          <a:xfrm>
            <a:off x="1097280" y="2843784"/>
            <a:ext cx="10012680" cy="978794"/>
          </a:xfrm>
          <a:prstGeom prst="rect">
            <a:avLst/>
          </a:prstGeom>
          <a:noFill/>
        </p:spPr>
        <p:txBody>
          <a:bodyPr wrap="square" lIns="45720" tIns="27432" rIns="45720" bIns="27432" anchor="t">
            <a:spAutoFit/>
          </a:bodyPr>
          <a:lstStyle/>
          <a:p>
            <a:pPr algn="l">
              <a:lnSpc>
                <a:spcPct val="114000"/>
              </a:lnSpc>
              <a:spcAft>
                <a:spcPts val="200"/>
              </a:spcAft>
            </a:pPr>
            <a:r>
              <a:rPr b="0" dirty="0">
                <a:solidFill>
                  <a:srgbClr val="16202A"/>
                </a:solidFill>
                <a:latin typeface="Microsoft YaHei"/>
              </a:rPr>
              <a:t>每类工程限制都被写成约束：UAV机动能力对应速度与端点约束，RIS硬件对应单位模和离散码本约束，无线链路对应可达速率约束，QKD对应安全数据与密钥消耗约束，磁异常作为任务权重输入模型。</a:t>
            </a:r>
          </a:p>
        </p:txBody>
      </p:sp>
      <p:sp>
        <p:nvSpPr>
          <p:cNvPr id="10" name="TextBox 9"/>
          <p:cNvSpPr txBox="1"/>
          <p:nvPr/>
        </p:nvSpPr>
        <p:spPr>
          <a:xfrm>
            <a:off x="1097280" y="4014216"/>
            <a:ext cx="10012680" cy="663002"/>
          </a:xfrm>
          <a:prstGeom prst="rect">
            <a:avLst/>
          </a:prstGeom>
          <a:noFill/>
        </p:spPr>
        <p:txBody>
          <a:bodyPr wrap="square" lIns="45720" tIns="27432" rIns="45720" bIns="27432" anchor="t">
            <a:spAutoFit/>
          </a:bodyPr>
          <a:lstStyle/>
          <a:p>
            <a:pPr algn="l">
              <a:lnSpc>
                <a:spcPct val="114000"/>
              </a:lnSpc>
              <a:spcAft>
                <a:spcPts val="200"/>
              </a:spcAft>
            </a:pPr>
            <a:r>
              <a:rPr b="0" dirty="0" err="1">
                <a:solidFill>
                  <a:srgbClr val="16202A"/>
                </a:solidFill>
                <a:latin typeface="Microsoft YaHei"/>
              </a:rPr>
              <a:t>由此得到的问题同时具有分式目标、二进制调度、离散相位、非凸轨迹和耦合资源分配。后续公式页将按“信道</a:t>
            </a:r>
            <a:r>
              <a:rPr b="0" dirty="0">
                <a:solidFill>
                  <a:srgbClr val="16202A"/>
                </a:solidFill>
                <a:latin typeface="Microsoft YaHei"/>
              </a:rPr>
              <a:t>—</a:t>
            </a:r>
            <a:r>
              <a:rPr b="0" dirty="0" err="1">
                <a:solidFill>
                  <a:srgbClr val="16202A"/>
                </a:solidFill>
                <a:latin typeface="Microsoft YaHei"/>
              </a:rPr>
              <a:t>密钥</a:t>
            </a:r>
            <a:r>
              <a:rPr b="0" dirty="0">
                <a:solidFill>
                  <a:srgbClr val="16202A"/>
                </a:solidFill>
                <a:latin typeface="Microsoft YaHei"/>
              </a:rPr>
              <a:t>—</a:t>
            </a:r>
            <a:r>
              <a:rPr b="0" dirty="0" err="1">
                <a:solidFill>
                  <a:srgbClr val="16202A"/>
                </a:solidFill>
                <a:latin typeface="Microsoft YaHei"/>
              </a:rPr>
              <a:t>优先级</a:t>
            </a:r>
            <a:r>
              <a:rPr b="0" dirty="0">
                <a:solidFill>
                  <a:srgbClr val="16202A"/>
                </a:solidFill>
                <a:latin typeface="Microsoft YaHei"/>
              </a:rPr>
              <a:t>—</a:t>
            </a:r>
            <a:r>
              <a:rPr b="0" dirty="0" err="1">
                <a:solidFill>
                  <a:srgbClr val="16202A"/>
                </a:solidFill>
                <a:latin typeface="Microsoft YaHei"/>
              </a:rPr>
              <a:t>能耗</a:t>
            </a:r>
            <a:r>
              <a:rPr b="0" dirty="0">
                <a:solidFill>
                  <a:srgbClr val="16202A"/>
                </a:solidFill>
                <a:latin typeface="Microsoft YaHei"/>
              </a:rPr>
              <a:t>—</a:t>
            </a:r>
            <a:r>
              <a:rPr b="0" dirty="0" err="1">
                <a:solidFill>
                  <a:srgbClr val="16202A"/>
                </a:solidFill>
                <a:latin typeface="Microsoft YaHei"/>
              </a:rPr>
              <a:t>完整目标”的顺序展开</a:t>
            </a:r>
            <a:r>
              <a:rPr b="0" dirty="0">
                <a:solidFill>
                  <a:srgbClr val="16202A"/>
                </a:solidFill>
                <a:latin typeface="Microsoft YaHei"/>
              </a:rPr>
              <a:t>。</a:t>
            </a:r>
          </a:p>
        </p:txBody>
      </p:sp>
      <p:sp>
        <p:nvSpPr>
          <p:cNvPr id="11" name="TextBox 10"/>
          <p:cNvSpPr txBox="1"/>
          <p:nvPr/>
        </p:nvSpPr>
        <p:spPr>
          <a:xfrm>
            <a:off x="868680" y="5742432"/>
            <a:ext cx="10287000" cy="475488"/>
          </a:xfrm>
          <a:prstGeom prst="rect">
            <a:avLst/>
          </a:prstGeom>
          <a:noFill/>
        </p:spPr>
        <p:txBody>
          <a:bodyPr wrap="square" lIns="45720" tIns="27432" rIns="45720" bIns="27432" anchor="t">
            <a:spAutoFit/>
          </a:bodyPr>
          <a:lstStyle/>
          <a:p>
            <a:pPr algn="l">
              <a:lnSpc>
                <a:spcPct val="112000"/>
              </a:lnSpc>
              <a:spcAft>
                <a:spcPts val="200"/>
              </a:spcAft>
            </a:pPr>
            <a:r>
              <a:rPr sz="1400" b="1">
                <a:solidFill>
                  <a:srgbClr val="2A9D8F"/>
                </a:solidFill>
                <a:latin typeface="Microsoft YaHei"/>
              </a:rPr>
              <a:t>本章作用：把工程系统转化为一个混合整数、非凸、分式优化问题。</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Academic narrative bridge</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22/77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SYSTEM MODEL</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优化变量与约束体系</a:t>
            </a:r>
          </a:p>
        </p:txBody>
      </p:sp>
      <p:graphicFrame>
        <p:nvGraphicFramePr>
          <p:cNvPr id="7" name="Table 6"/>
          <p:cNvGraphicFramePr>
            <a:graphicFrameLocks noGrp="1"/>
          </p:cNvGraphicFramePr>
          <p:nvPr/>
        </p:nvGraphicFramePr>
        <p:xfrm>
          <a:off x="777240" y="1325880"/>
          <a:ext cx="10561319" cy="4297680"/>
        </p:xfrm>
        <a:graphic>
          <a:graphicData uri="http://schemas.openxmlformats.org/drawingml/2006/table">
            <a:tbl>
              <a:tblPr firstRow="1" bandRow="1">
                <a:tableStyleId>{5C22544A-7EE6-4342-B048-85BDC9FD1C3A}</a:tableStyleId>
              </a:tblPr>
              <a:tblGrid>
                <a:gridCol w="2323490">
                  <a:extLst>
                    <a:ext uri="{9D8B030D-6E8A-4147-A177-3AD203B41FA5}">
                      <a16:colId xmlns:a16="http://schemas.microsoft.com/office/drawing/2014/main" val="20000"/>
                    </a:ext>
                  </a:extLst>
                </a:gridCol>
                <a:gridCol w="4541367">
                  <a:extLst>
                    <a:ext uri="{9D8B030D-6E8A-4147-A177-3AD203B41FA5}">
                      <a16:colId xmlns:a16="http://schemas.microsoft.com/office/drawing/2014/main" val="20001"/>
                    </a:ext>
                  </a:extLst>
                </a:gridCol>
                <a:gridCol w="3696462">
                  <a:extLst>
                    <a:ext uri="{9D8B030D-6E8A-4147-A177-3AD203B41FA5}">
                      <a16:colId xmlns:a16="http://schemas.microsoft.com/office/drawing/2014/main" val="20002"/>
                    </a:ext>
                  </a:extLst>
                </a:gridCol>
              </a:tblGrid>
              <a:tr h="613954">
                <a:tc>
                  <a:txBody>
                    <a:bodyPr/>
                    <a:lstStyle/>
                    <a:p>
                      <a:r>
                        <a:rPr sz="1200" b="1">
                          <a:solidFill>
                            <a:srgbClr val="FFFFFF"/>
                          </a:solidFill>
                          <a:latin typeface="Microsoft YaHei"/>
                        </a:rPr>
                        <a:t>变量组</a:t>
                      </a:r>
                    </a:p>
                  </a:txBody>
                  <a:tcPr marL="45720" marR="45720" marT="36576" marB="36576">
                    <a:solidFill>
                      <a:srgbClr val="1D2B39"/>
                    </a:solidFill>
                  </a:tcPr>
                </a:tc>
                <a:tc>
                  <a:txBody>
                    <a:bodyPr/>
                    <a:lstStyle/>
                    <a:p>
                      <a:r>
                        <a:rPr sz="1200" b="1">
                          <a:solidFill>
                            <a:srgbClr val="FFFFFF"/>
                          </a:solidFill>
                          <a:latin typeface="Microsoft YaHei"/>
                        </a:rPr>
                        <a:t>物理含义</a:t>
                      </a:r>
                    </a:p>
                  </a:txBody>
                  <a:tcPr marL="45720" marR="45720" marT="36576" marB="36576">
                    <a:solidFill>
                      <a:srgbClr val="1D2B39"/>
                    </a:solidFill>
                  </a:tcPr>
                </a:tc>
                <a:tc>
                  <a:txBody>
                    <a:bodyPr/>
                    <a:lstStyle/>
                    <a:p>
                      <a:r>
                        <a:rPr sz="1200" b="1">
                          <a:solidFill>
                            <a:srgbClr val="FFFFFF"/>
                          </a:solidFill>
                          <a:latin typeface="Microsoft YaHei"/>
                        </a:rPr>
                        <a:t>主要约束</a:t>
                      </a:r>
                    </a:p>
                  </a:txBody>
                  <a:tcPr marL="45720" marR="45720" marT="36576" marB="36576">
                    <a:solidFill>
                      <a:srgbClr val="1D2B39"/>
                    </a:solidFill>
                  </a:tcPr>
                </a:tc>
                <a:extLst>
                  <a:ext uri="{0D108BD9-81ED-4DB2-BD59-A6C34878D82A}">
                    <a16:rowId xmlns:a16="http://schemas.microsoft.com/office/drawing/2014/main" val="10000"/>
                  </a:ext>
                </a:extLst>
              </a:tr>
              <a:tr h="613954">
                <a:tc>
                  <a:txBody>
                    <a:bodyPr/>
                    <a:lstStyle/>
                    <a:p>
                      <a:r>
                        <a:rPr sz="1200" b="0">
                          <a:solidFill>
                            <a:srgbClr val="16202A"/>
                          </a:solidFill>
                          <a:latin typeface="Microsoft YaHei"/>
                        </a:rPr>
                        <a:t>UAV轨迹</a:t>
                      </a:r>
                    </a:p>
                  </a:txBody>
                  <a:tcPr marL="45720" marR="45720" marT="36576" marB="36576">
                    <a:solidFill>
                      <a:srgbClr val="FCFCF9"/>
                    </a:solidFill>
                  </a:tcPr>
                </a:tc>
                <a:tc>
                  <a:txBody>
                    <a:bodyPr/>
                    <a:lstStyle/>
                    <a:p>
                      <a:r>
                        <a:rPr sz="1200" b="0">
                          <a:solidFill>
                            <a:srgbClr val="16202A"/>
                          </a:solidFill>
                          <a:latin typeface="Microsoft YaHei"/>
                        </a:rPr>
                        <a:t>每个时隙的空中中继位置</a:t>
                      </a:r>
                    </a:p>
                  </a:txBody>
                  <a:tcPr marL="45720" marR="45720" marT="36576" marB="36576">
                    <a:solidFill>
                      <a:srgbClr val="FCFCF9"/>
                    </a:solidFill>
                  </a:tcPr>
                </a:tc>
                <a:tc>
                  <a:txBody>
                    <a:bodyPr/>
                    <a:lstStyle/>
                    <a:p>
                      <a:r>
                        <a:rPr sz="1200" b="0">
                          <a:solidFill>
                            <a:srgbClr val="16202A"/>
                          </a:solidFill>
                          <a:latin typeface="Microsoft YaHei"/>
                        </a:rPr>
                        <a:t>速度、初末点、电量</a:t>
                      </a:r>
                    </a:p>
                  </a:txBody>
                  <a:tcPr marL="45720" marR="45720" marT="36576" marB="36576">
                    <a:solidFill>
                      <a:srgbClr val="FCFCF9"/>
                    </a:solidFill>
                  </a:tcPr>
                </a:tc>
                <a:extLst>
                  <a:ext uri="{0D108BD9-81ED-4DB2-BD59-A6C34878D82A}">
                    <a16:rowId xmlns:a16="http://schemas.microsoft.com/office/drawing/2014/main" val="10001"/>
                  </a:ext>
                </a:extLst>
              </a:tr>
              <a:tr h="613954">
                <a:tc>
                  <a:txBody>
                    <a:bodyPr/>
                    <a:lstStyle/>
                    <a:p>
                      <a:r>
                        <a:rPr sz="1200" b="0">
                          <a:solidFill>
                            <a:srgbClr val="16202A"/>
                          </a:solidFill>
                          <a:latin typeface="Microsoft YaHei"/>
                        </a:rPr>
                        <a:t>RIS相位</a:t>
                      </a:r>
                    </a:p>
                  </a:txBody>
                  <a:tcPr marL="45720" marR="45720" marT="36576" marB="36576">
                    <a:solidFill>
                      <a:srgbClr val="FCFCF9"/>
                    </a:solidFill>
                  </a:tcPr>
                </a:tc>
                <a:tc>
                  <a:txBody>
                    <a:bodyPr/>
                    <a:lstStyle/>
                    <a:p>
                      <a:r>
                        <a:rPr sz="1200" b="0">
                          <a:solidFill>
                            <a:srgbClr val="16202A"/>
                          </a:solidFill>
                          <a:latin typeface="Microsoft YaHei"/>
                        </a:rPr>
                        <a:t>每个反射单元的相位状态</a:t>
                      </a:r>
                    </a:p>
                  </a:txBody>
                  <a:tcPr marL="45720" marR="45720" marT="36576" marB="36576">
                    <a:solidFill>
                      <a:srgbClr val="FCFCF9"/>
                    </a:solidFill>
                  </a:tcPr>
                </a:tc>
                <a:tc>
                  <a:txBody>
                    <a:bodyPr/>
                    <a:lstStyle/>
                    <a:p>
                      <a:r>
                        <a:rPr sz="1200" b="0">
                          <a:solidFill>
                            <a:srgbClr val="16202A"/>
                          </a:solidFill>
                          <a:latin typeface="Microsoft YaHei"/>
                        </a:rPr>
                        <a:t>单位模、2-bit离散码本</a:t>
                      </a:r>
                    </a:p>
                  </a:txBody>
                  <a:tcPr marL="45720" marR="45720" marT="36576" marB="36576">
                    <a:solidFill>
                      <a:srgbClr val="FCFCF9"/>
                    </a:solidFill>
                  </a:tcPr>
                </a:tc>
                <a:extLst>
                  <a:ext uri="{0D108BD9-81ED-4DB2-BD59-A6C34878D82A}">
                    <a16:rowId xmlns:a16="http://schemas.microsoft.com/office/drawing/2014/main" val="10002"/>
                  </a:ext>
                </a:extLst>
              </a:tr>
              <a:tr h="613954">
                <a:tc>
                  <a:txBody>
                    <a:bodyPr/>
                    <a:lstStyle/>
                    <a:p>
                      <a:r>
                        <a:rPr sz="1200" b="0">
                          <a:solidFill>
                            <a:srgbClr val="16202A"/>
                          </a:solidFill>
                          <a:latin typeface="Microsoft YaHei"/>
                        </a:rPr>
                        <a:t>功率与带宽</a:t>
                      </a:r>
                    </a:p>
                  </a:txBody>
                  <a:tcPr marL="45720" marR="45720" marT="36576" marB="36576">
                    <a:solidFill>
                      <a:srgbClr val="FCFCF9"/>
                    </a:solidFill>
                  </a:tcPr>
                </a:tc>
                <a:tc>
                  <a:txBody>
                    <a:bodyPr/>
                    <a:lstStyle/>
                    <a:p>
                      <a:r>
                        <a:rPr sz="1200" b="0">
                          <a:solidFill>
                            <a:srgbClr val="16202A"/>
                          </a:solidFill>
                          <a:latin typeface="Microsoft YaHei"/>
                        </a:rPr>
                        <a:t>各节点的无线资源分配</a:t>
                      </a:r>
                    </a:p>
                  </a:txBody>
                  <a:tcPr marL="45720" marR="45720" marT="36576" marB="36576">
                    <a:solidFill>
                      <a:srgbClr val="FCFCF9"/>
                    </a:solidFill>
                  </a:tcPr>
                </a:tc>
                <a:tc>
                  <a:txBody>
                    <a:bodyPr/>
                    <a:lstStyle/>
                    <a:p>
                      <a:r>
                        <a:rPr sz="1200" b="0">
                          <a:solidFill>
                            <a:srgbClr val="16202A"/>
                          </a:solidFill>
                          <a:latin typeface="Microsoft YaHei"/>
                        </a:rPr>
                        <a:t>功率上限、总带宽</a:t>
                      </a:r>
                    </a:p>
                  </a:txBody>
                  <a:tcPr marL="45720" marR="45720" marT="36576" marB="36576">
                    <a:solidFill>
                      <a:srgbClr val="FCFCF9"/>
                    </a:solidFill>
                  </a:tcPr>
                </a:tc>
                <a:extLst>
                  <a:ext uri="{0D108BD9-81ED-4DB2-BD59-A6C34878D82A}">
                    <a16:rowId xmlns:a16="http://schemas.microsoft.com/office/drawing/2014/main" val="10003"/>
                  </a:ext>
                </a:extLst>
              </a:tr>
              <a:tr h="613954">
                <a:tc>
                  <a:txBody>
                    <a:bodyPr/>
                    <a:lstStyle/>
                    <a:p>
                      <a:r>
                        <a:rPr sz="1200" b="0">
                          <a:solidFill>
                            <a:srgbClr val="16202A"/>
                          </a:solidFill>
                          <a:latin typeface="Microsoft YaHei"/>
                        </a:rPr>
                        <a:t>节点调度</a:t>
                      </a:r>
                    </a:p>
                  </a:txBody>
                  <a:tcPr marL="45720" marR="45720" marT="36576" marB="36576">
                    <a:solidFill>
                      <a:srgbClr val="FCFCF9"/>
                    </a:solidFill>
                  </a:tcPr>
                </a:tc>
                <a:tc>
                  <a:txBody>
                    <a:bodyPr/>
                    <a:lstStyle/>
                    <a:p>
                      <a:r>
                        <a:rPr sz="1200" b="0">
                          <a:solidFill>
                            <a:srgbClr val="16202A"/>
                          </a:solidFill>
                          <a:latin typeface="Microsoft YaHei"/>
                        </a:rPr>
                        <a:t>每时隙被服务的海上/水下节点</a:t>
                      </a:r>
                    </a:p>
                  </a:txBody>
                  <a:tcPr marL="45720" marR="45720" marT="36576" marB="36576">
                    <a:solidFill>
                      <a:srgbClr val="FCFCF9"/>
                    </a:solidFill>
                  </a:tcPr>
                </a:tc>
                <a:tc>
                  <a:txBody>
                    <a:bodyPr/>
                    <a:lstStyle/>
                    <a:p>
                      <a:r>
                        <a:rPr sz="1200" b="0">
                          <a:solidFill>
                            <a:srgbClr val="16202A"/>
                          </a:solidFill>
                          <a:latin typeface="Microsoft YaHei"/>
                        </a:rPr>
                        <a:t>二进制选择、容量限制</a:t>
                      </a:r>
                    </a:p>
                  </a:txBody>
                  <a:tcPr marL="45720" marR="45720" marT="36576" marB="36576">
                    <a:solidFill>
                      <a:srgbClr val="FCFCF9"/>
                    </a:solidFill>
                  </a:tcPr>
                </a:tc>
                <a:extLst>
                  <a:ext uri="{0D108BD9-81ED-4DB2-BD59-A6C34878D82A}">
                    <a16:rowId xmlns:a16="http://schemas.microsoft.com/office/drawing/2014/main" val="10004"/>
                  </a:ext>
                </a:extLst>
              </a:tr>
              <a:tr h="613954">
                <a:tc>
                  <a:txBody>
                    <a:bodyPr/>
                    <a:lstStyle/>
                    <a:p>
                      <a:r>
                        <a:rPr sz="1200" b="0">
                          <a:solidFill>
                            <a:srgbClr val="16202A"/>
                          </a:solidFill>
                          <a:latin typeface="Microsoft YaHei"/>
                        </a:rPr>
                        <a:t>安全数据量</a:t>
                      </a:r>
                    </a:p>
                  </a:txBody>
                  <a:tcPr marL="45720" marR="45720" marT="36576" marB="36576">
                    <a:solidFill>
                      <a:srgbClr val="FCFCF9"/>
                    </a:solidFill>
                  </a:tcPr>
                </a:tc>
                <a:tc>
                  <a:txBody>
                    <a:bodyPr/>
                    <a:lstStyle/>
                    <a:p>
                      <a:r>
                        <a:rPr sz="1200" b="0">
                          <a:solidFill>
                            <a:srgbClr val="16202A"/>
                          </a:solidFill>
                          <a:latin typeface="Microsoft YaHei"/>
                        </a:rPr>
                        <a:t>需要密钥保护的关键告警与控制数据</a:t>
                      </a:r>
                    </a:p>
                  </a:txBody>
                  <a:tcPr marL="45720" marR="45720" marT="36576" marB="36576">
                    <a:solidFill>
                      <a:srgbClr val="FCFCF9"/>
                    </a:solidFill>
                  </a:tcPr>
                </a:tc>
                <a:tc>
                  <a:txBody>
                    <a:bodyPr/>
                    <a:lstStyle/>
                    <a:p>
                      <a:r>
                        <a:rPr sz="1200" b="0">
                          <a:solidFill>
                            <a:srgbClr val="16202A"/>
                          </a:solidFill>
                          <a:latin typeface="Microsoft YaHei"/>
                        </a:rPr>
                        <a:t>速率和密钥共同限制</a:t>
                      </a:r>
                    </a:p>
                  </a:txBody>
                  <a:tcPr marL="45720" marR="45720" marT="36576" marB="36576">
                    <a:solidFill>
                      <a:srgbClr val="FCFCF9"/>
                    </a:solidFill>
                  </a:tcPr>
                </a:tc>
                <a:extLst>
                  <a:ext uri="{0D108BD9-81ED-4DB2-BD59-A6C34878D82A}">
                    <a16:rowId xmlns:a16="http://schemas.microsoft.com/office/drawing/2014/main" val="10005"/>
                  </a:ext>
                </a:extLst>
              </a:tr>
              <a:tr h="613956">
                <a:tc>
                  <a:txBody>
                    <a:bodyPr/>
                    <a:lstStyle/>
                    <a:p>
                      <a:r>
                        <a:rPr sz="1200" b="0">
                          <a:solidFill>
                            <a:srgbClr val="16202A"/>
                          </a:solidFill>
                          <a:latin typeface="Microsoft YaHei"/>
                        </a:rPr>
                        <a:t>密钥分配</a:t>
                      </a:r>
                    </a:p>
                  </a:txBody>
                  <a:tcPr marL="45720" marR="45720" marT="36576" marB="36576">
                    <a:solidFill>
                      <a:srgbClr val="FCFCF9"/>
                    </a:solidFill>
                  </a:tcPr>
                </a:tc>
                <a:tc>
                  <a:txBody>
                    <a:bodyPr/>
                    <a:lstStyle/>
                    <a:p>
                      <a:r>
                        <a:rPr sz="1200" b="0">
                          <a:solidFill>
                            <a:srgbClr val="16202A"/>
                          </a:solidFill>
                          <a:latin typeface="Microsoft YaHei"/>
                        </a:rPr>
                        <a:t>QKD密钥预算在节点之间的分配</a:t>
                      </a:r>
                    </a:p>
                  </a:txBody>
                  <a:tcPr marL="45720" marR="45720" marT="36576" marB="36576">
                    <a:solidFill>
                      <a:srgbClr val="FCFCF9"/>
                    </a:solidFill>
                  </a:tcPr>
                </a:tc>
                <a:tc>
                  <a:txBody>
                    <a:bodyPr/>
                    <a:lstStyle/>
                    <a:p>
                      <a:r>
                        <a:rPr sz="1200" b="0">
                          <a:solidFill>
                            <a:srgbClr val="16202A"/>
                          </a:solidFill>
                          <a:latin typeface="Microsoft YaHei"/>
                        </a:rPr>
                        <a:t>总密钥供给上限</a:t>
                      </a:r>
                    </a:p>
                  </a:txBody>
                  <a:tcPr marL="45720" marR="45720" marT="36576" marB="36576">
                    <a:solidFill>
                      <a:srgbClr val="FCFCF9"/>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868680" y="5705856"/>
            <a:ext cx="10058400" cy="384048"/>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建模逻辑：系统架构中的每个工程动作都被映射为一个变量组；系统物理限制被写成约束；最终目标函数在这些约束下最大化加权安全数据能效。</a:t>
            </a:r>
          </a:p>
        </p:txBody>
      </p:sp>
      <p:sp>
        <p:nvSpPr>
          <p:cNvPr id="9" name="Rectangle 8"/>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1" name="TextBox 10"/>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23/77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SYMBOLS I</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索引、集合与物理常量定义</a:t>
            </a:r>
          </a:p>
        </p:txBody>
      </p:sp>
      <p:sp>
        <p:nvSpPr>
          <p:cNvPr id="7" name="TextBox 6"/>
          <p:cNvSpPr txBox="1"/>
          <p:nvPr/>
        </p:nvSpPr>
        <p:spPr>
          <a:xfrm>
            <a:off x="841248" y="1078992"/>
            <a:ext cx="2103120" cy="219456"/>
          </a:xfrm>
          <a:prstGeom prst="rect">
            <a:avLst/>
          </a:prstGeom>
          <a:noFill/>
        </p:spPr>
        <p:txBody>
          <a:bodyPr wrap="square" lIns="45720" tIns="27432" rIns="45720" bIns="27432" anchor="t">
            <a:spAutoFit/>
          </a:bodyPr>
          <a:lstStyle/>
          <a:p>
            <a:pPr algn="l">
              <a:lnSpc>
                <a:spcPct val="105000"/>
              </a:lnSpc>
              <a:spcAft>
                <a:spcPts val="200"/>
              </a:spcAft>
            </a:pPr>
            <a:r>
              <a:rPr sz="1250" b="1">
                <a:solidFill>
                  <a:srgbClr val="2A9D8F"/>
                </a:solidFill>
                <a:latin typeface="Microsoft YaHei"/>
              </a:rPr>
              <a:t>离散索引</a:t>
            </a:r>
          </a:p>
        </p:txBody>
      </p:sp>
      <p:sp>
        <p:nvSpPr>
          <p:cNvPr id="8" name="Rectangle 7"/>
          <p:cNvSpPr/>
          <p:nvPr/>
        </p:nvSpPr>
        <p:spPr>
          <a:xfrm>
            <a:off x="777240" y="1298448"/>
            <a:ext cx="4041648" cy="118872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ymbol_index_sets.png"/>
          <p:cNvPicPr>
            <a:picLocks noChangeAspect="1"/>
          </p:cNvPicPr>
          <p:nvPr/>
        </p:nvPicPr>
        <p:blipFill>
          <a:blip r:embed="rId2"/>
          <a:stretch>
            <a:fillRect/>
          </a:stretch>
        </p:blipFill>
        <p:spPr>
          <a:xfrm>
            <a:off x="1786702" y="1371602"/>
            <a:ext cx="3489386" cy="1344167"/>
          </a:xfrm>
          <a:prstGeom prst="rect">
            <a:avLst/>
          </a:prstGeom>
        </p:spPr>
      </p:pic>
      <p:sp>
        <p:nvSpPr>
          <p:cNvPr id="10" name="Rectangle 9"/>
          <p:cNvSpPr/>
          <p:nvPr/>
        </p:nvSpPr>
        <p:spPr>
          <a:xfrm>
            <a:off x="5074920" y="1298448"/>
            <a:ext cx="6172200" cy="118872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76088" y="1463039"/>
            <a:ext cx="576986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离散索引说明</a:t>
            </a:r>
          </a:p>
        </p:txBody>
      </p:sp>
      <p:sp>
        <p:nvSpPr>
          <p:cNvPr id="12" name="TextBox 11"/>
          <p:cNvSpPr txBox="1"/>
          <p:nvPr/>
        </p:nvSpPr>
        <p:spPr>
          <a:xfrm>
            <a:off x="5276088" y="1773646"/>
            <a:ext cx="5769864" cy="466923"/>
          </a:xfrm>
          <a:prstGeom prst="rect">
            <a:avLst/>
          </a:prstGeom>
          <a:noFill/>
        </p:spPr>
        <p:txBody>
          <a:bodyPr wrap="square" lIns="45720" tIns="27432" rIns="45720" bIns="27432" anchor="t">
            <a:spAutoFit/>
          </a:bodyPr>
          <a:lstStyle/>
          <a:p>
            <a:pPr algn="l">
              <a:lnSpc>
                <a:spcPct val="116000"/>
              </a:lnSpc>
              <a:spcAft>
                <a:spcPts val="200"/>
              </a:spcAft>
            </a:pPr>
            <a:r>
              <a:rPr sz="1200" b="0" dirty="0" err="1">
                <a:solidFill>
                  <a:srgbClr val="16202A"/>
                </a:solidFill>
                <a:latin typeface="Microsoft YaHei"/>
              </a:rPr>
              <a:t>三类索引分别对应监测节点、离散时隙和RIS反射单元。后续所有求和、调度和相位更新都围绕这三个维度展开</a:t>
            </a:r>
            <a:r>
              <a:rPr sz="1200" b="0" dirty="0">
                <a:solidFill>
                  <a:srgbClr val="16202A"/>
                </a:solidFill>
                <a:latin typeface="Microsoft YaHei"/>
              </a:rPr>
              <a:t>。</a:t>
            </a:r>
          </a:p>
        </p:txBody>
      </p:sp>
      <p:sp>
        <p:nvSpPr>
          <p:cNvPr id="13" name="TextBox 12"/>
          <p:cNvSpPr txBox="1"/>
          <p:nvPr/>
        </p:nvSpPr>
        <p:spPr>
          <a:xfrm>
            <a:off x="841248" y="2706624"/>
            <a:ext cx="2103120" cy="219456"/>
          </a:xfrm>
          <a:prstGeom prst="rect">
            <a:avLst/>
          </a:prstGeom>
          <a:noFill/>
        </p:spPr>
        <p:txBody>
          <a:bodyPr wrap="square" lIns="45720" tIns="27432" rIns="45720" bIns="27432" anchor="t">
            <a:spAutoFit/>
          </a:bodyPr>
          <a:lstStyle/>
          <a:p>
            <a:pPr algn="l">
              <a:lnSpc>
                <a:spcPct val="105000"/>
              </a:lnSpc>
              <a:spcAft>
                <a:spcPts val="200"/>
              </a:spcAft>
            </a:pPr>
            <a:r>
              <a:rPr sz="1250" b="1">
                <a:solidFill>
                  <a:srgbClr val="E76F51"/>
                </a:solidFill>
                <a:latin typeface="Microsoft YaHei"/>
              </a:rPr>
              <a:t>相位码本</a:t>
            </a:r>
          </a:p>
        </p:txBody>
      </p:sp>
      <p:sp>
        <p:nvSpPr>
          <p:cNvPr id="14" name="Rectangle 13"/>
          <p:cNvSpPr/>
          <p:nvPr/>
        </p:nvSpPr>
        <p:spPr>
          <a:xfrm>
            <a:off x="777240" y="2926080"/>
            <a:ext cx="4041648" cy="118872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ymbol_codebook.png"/>
          <p:cNvPicPr>
            <a:picLocks noChangeAspect="1"/>
          </p:cNvPicPr>
          <p:nvPr/>
        </p:nvPicPr>
        <p:blipFill>
          <a:blip r:embed="rId3"/>
          <a:stretch>
            <a:fillRect/>
          </a:stretch>
        </p:blipFill>
        <p:spPr>
          <a:xfrm>
            <a:off x="1285499" y="3291139"/>
            <a:ext cx="5135537" cy="997397"/>
          </a:xfrm>
          <a:prstGeom prst="rect">
            <a:avLst/>
          </a:prstGeom>
        </p:spPr>
      </p:pic>
      <p:sp>
        <p:nvSpPr>
          <p:cNvPr id="16" name="Rectangle 15"/>
          <p:cNvSpPr/>
          <p:nvPr/>
        </p:nvSpPr>
        <p:spPr>
          <a:xfrm>
            <a:off x="5074920" y="2926080"/>
            <a:ext cx="6172200" cy="118872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76088" y="3090672"/>
            <a:ext cx="576986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相位码本说明</a:t>
            </a:r>
          </a:p>
        </p:txBody>
      </p:sp>
      <p:sp>
        <p:nvSpPr>
          <p:cNvPr id="18" name="TextBox 17"/>
          <p:cNvSpPr txBox="1"/>
          <p:nvPr/>
        </p:nvSpPr>
        <p:spPr>
          <a:xfrm>
            <a:off x="5276088" y="3429000"/>
            <a:ext cx="5769864" cy="466923"/>
          </a:xfrm>
          <a:prstGeom prst="rect">
            <a:avLst/>
          </a:prstGeom>
          <a:noFill/>
        </p:spPr>
        <p:txBody>
          <a:bodyPr wrap="square" lIns="45720" tIns="27432" rIns="45720" bIns="27432" anchor="t">
            <a:spAutoFit/>
          </a:bodyPr>
          <a:lstStyle/>
          <a:p>
            <a:pPr algn="l">
              <a:lnSpc>
                <a:spcPct val="116000"/>
              </a:lnSpc>
              <a:spcAft>
                <a:spcPts val="200"/>
              </a:spcAft>
            </a:pPr>
            <a:r>
              <a:rPr sz="1200" b="0" dirty="0">
                <a:solidFill>
                  <a:srgbClr val="16202A"/>
                </a:solidFill>
                <a:latin typeface="Microsoft YaHei"/>
              </a:rPr>
              <a:t>2-bit码本给出RIS硬件允许选择的四个相位状态。连续相位先由对齐规则得到，再投影到该离散集合。</a:t>
            </a:r>
          </a:p>
        </p:txBody>
      </p:sp>
      <p:sp>
        <p:nvSpPr>
          <p:cNvPr id="19" name="TextBox 18"/>
          <p:cNvSpPr txBox="1"/>
          <p:nvPr/>
        </p:nvSpPr>
        <p:spPr>
          <a:xfrm>
            <a:off x="841248" y="4334256"/>
            <a:ext cx="2103120" cy="219456"/>
          </a:xfrm>
          <a:prstGeom prst="rect">
            <a:avLst/>
          </a:prstGeom>
          <a:noFill/>
        </p:spPr>
        <p:txBody>
          <a:bodyPr wrap="square" lIns="45720" tIns="27432" rIns="45720" bIns="27432" anchor="t">
            <a:spAutoFit/>
          </a:bodyPr>
          <a:lstStyle/>
          <a:p>
            <a:pPr algn="l">
              <a:lnSpc>
                <a:spcPct val="105000"/>
              </a:lnSpc>
              <a:spcAft>
                <a:spcPts val="200"/>
              </a:spcAft>
            </a:pPr>
            <a:r>
              <a:rPr sz="1250" b="1">
                <a:solidFill>
                  <a:srgbClr val="457B9D"/>
                </a:solidFill>
                <a:latin typeface="Microsoft YaHei"/>
              </a:rPr>
              <a:t>固定参数</a:t>
            </a:r>
          </a:p>
        </p:txBody>
      </p:sp>
      <p:sp>
        <p:nvSpPr>
          <p:cNvPr id="20" name="Rectangle 19"/>
          <p:cNvSpPr/>
          <p:nvPr/>
        </p:nvSpPr>
        <p:spPr>
          <a:xfrm>
            <a:off x="777240" y="4553712"/>
            <a:ext cx="4041648" cy="118872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ymbol_physical_parameters.png"/>
          <p:cNvPicPr>
            <a:picLocks noChangeAspect="1"/>
          </p:cNvPicPr>
          <p:nvPr/>
        </p:nvPicPr>
        <p:blipFill>
          <a:blip r:embed="rId4"/>
          <a:stretch>
            <a:fillRect/>
          </a:stretch>
        </p:blipFill>
        <p:spPr>
          <a:xfrm>
            <a:off x="1285499" y="4718304"/>
            <a:ext cx="3834788" cy="1110997"/>
          </a:xfrm>
          <a:prstGeom prst="rect">
            <a:avLst/>
          </a:prstGeom>
        </p:spPr>
      </p:pic>
      <p:sp>
        <p:nvSpPr>
          <p:cNvPr id="22" name="Rectangle 21"/>
          <p:cNvSpPr/>
          <p:nvPr/>
        </p:nvSpPr>
        <p:spPr>
          <a:xfrm>
            <a:off x="5074920" y="4587097"/>
            <a:ext cx="6172200" cy="118872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76088" y="4718304"/>
            <a:ext cx="576986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固定参数说明</a:t>
            </a:r>
          </a:p>
        </p:txBody>
      </p:sp>
      <p:sp>
        <p:nvSpPr>
          <p:cNvPr id="24" name="TextBox 23"/>
          <p:cNvSpPr txBox="1"/>
          <p:nvPr/>
        </p:nvSpPr>
        <p:spPr>
          <a:xfrm>
            <a:off x="5276088" y="5062799"/>
            <a:ext cx="5769864" cy="466923"/>
          </a:xfrm>
          <a:prstGeom prst="rect">
            <a:avLst/>
          </a:prstGeom>
          <a:noFill/>
        </p:spPr>
        <p:txBody>
          <a:bodyPr wrap="square" lIns="45720" tIns="27432" rIns="45720" bIns="27432" anchor="t">
            <a:spAutoFit/>
          </a:bodyPr>
          <a:lstStyle/>
          <a:p>
            <a:pPr algn="l">
              <a:lnSpc>
                <a:spcPct val="116000"/>
              </a:lnSpc>
              <a:spcAft>
                <a:spcPts val="200"/>
              </a:spcAft>
            </a:pPr>
            <a:r>
              <a:rPr sz="1200" b="0" dirty="0" err="1">
                <a:solidFill>
                  <a:srgbClr val="16202A"/>
                </a:solidFill>
                <a:latin typeface="Microsoft YaHei"/>
              </a:rPr>
              <a:t>这些参数定义系统边界：时隙长度、飞行高度、噪声水平、功率</a:t>
            </a:r>
            <a:r>
              <a:rPr sz="1200" b="0" dirty="0">
                <a:solidFill>
                  <a:srgbClr val="16202A"/>
                </a:solidFill>
                <a:latin typeface="Microsoft YaHei"/>
              </a:rPr>
              <a:t>/</a:t>
            </a:r>
            <a:r>
              <a:rPr sz="1200" b="0" dirty="0" err="1">
                <a:solidFill>
                  <a:srgbClr val="16202A"/>
                </a:solidFill>
                <a:latin typeface="Microsoft YaHei"/>
              </a:rPr>
              <a:t>带宽</a:t>
            </a:r>
            <a:r>
              <a:rPr sz="1200" b="0" dirty="0">
                <a:solidFill>
                  <a:srgbClr val="16202A"/>
                </a:solidFill>
                <a:latin typeface="Microsoft YaHei"/>
              </a:rPr>
              <a:t>/</a:t>
            </a:r>
            <a:r>
              <a:rPr sz="1200" b="0" dirty="0" err="1">
                <a:solidFill>
                  <a:srgbClr val="16202A"/>
                </a:solidFill>
                <a:latin typeface="Microsoft YaHei"/>
              </a:rPr>
              <a:t>速度上限，以及每个时隙可用的QKD密钥预算</a:t>
            </a:r>
            <a:r>
              <a:rPr sz="1200" b="0" dirty="0">
                <a:solidFill>
                  <a:srgbClr val="16202A"/>
                </a:solidFill>
                <a:latin typeface="Microsoft YaHei"/>
              </a:rPr>
              <a:t>。</a:t>
            </a:r>
          </a:p>
        </p:txBody>
      </p:sp>
      <p:sp>
        <p:nvSpPr>
          <p:cNvPr id="25" name="Rectangle 24"/>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27" name="TextBox 26"/>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24/77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SYMBOLS II</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决策变量、状态变量与收益变量定义</a:t>
            </a:r>
          </a:p>
        </p:txBody>
      </p:sp>
      <p:sp>
        <p:nvSpPr>
          <p:cNvPr id="7" name="TextBox 6"/>
          <p:cNvSpPr txBox="1"/>
          <p:nvPr/>
        </p:nvSpPr>
        <p:spPr>
          <a:xfrm>
            <a:off x="841248" y="1042416"/>
            <a:ext cx="2514600" cy="201168"/>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457B9D"/>
                </a:solidFill>
                <a:latin typeface="Microsoft YaHei"/>
              </a:rPr>
              <a:t>几何与相位变量</a:t>
            </a:r>
          </a:p>
        </p:txBody>
      </p:sp>
      <p:sp>
        <p:nvSpPr>
          <p:cNvPr id="8" name="Rectangle 7"/>
          <p:cNvSpPr/>
          <p:nvPr/>
        </p:nvSpPr>
        <p:spPr>
          <a:xfrm>
            <a:off x="777240" y="1243584"/>
            <a:ext cx="4892040" cy="932688"/>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ymbol_geometry_phase.png"/>
          <p:cNvPicPr>
            <a:picLocks noChangeAspect="1"/>
          </p:cNvPicPr>
          <p:nvPr/>
        </p:nvPicPr>
        <p:blipFill>
          <a:blip r:embed="rId2"/>
          <a:stretch>
            <a:fillRect/>
          </a:stretch>
        </p:blipFill>
        <p:spPr>
          <a:xfrm>
            <a:off x="1010545" y="1522998"/>
            <a:ext cx="4449237" cy="864108"/>
          </a:xfrm>
          <a:prstGeom prst="rect">
            <a:avLst/>
          </a:prstGeom>
        </p:spPr>
      </p:pic>
      <p:sp>
        <p:nvSpPr>
          <p:cNvPr id="10" name="Rectangle 9"/>
          <p:cNvSpPr/>
          <p:nvPr/>
        </p:nvSpPr>
        <p:spPr>
          <a:xfrm>
            <a:off x="5943600" y="1243584"/>
            <a:ext cx="5349240" cy="93268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44768" y="1371600"/>
            <a:ext cx="4946903" cy="274320"/>
          </a:xfrm>
          <a:prstGeom prst="rect">
            <a:avLst/>
          </a:prstGeom>
          <a:noFill/>
        </p:spPr>
        <p:txBody>
          <a:bodyPr wrap="square" lIns="45720" tIns="27432" rIns="45720" bIns="27432" anchor="t">
            <a:spAutoFit/>
          </a:bodyPr>
          <a:lstStyle/>
          <a:p>
            <a:pPr algn="l">
              <a:lnSpc>
                <a:spcPct val="105000"/>
              </a:lnSpc>
              <a:spcAft>
                <a:spcPts val="200"/>
              </a:spcAft>
            </a:pPr>
            <a:r>
              <a:rPr sz="1350" b="1" dirty="0" err="1">
                <a:solidFill>
                  <a:srgbClr val="457B9D"/>
                </a:solidFill>
                <a:latin typeface="Microsoft YaHei"/>
              </a:rPr>
              <a:t>几何与相位变量说明</a:t>
            </a:r>
            <a:endParaRPr sz="1350" b="1" dirty="0">
              <a:solidFill>
                <a:srgbClr val="457B9D"/>
              </a:solidFill>
              <a:latin typeface="Microsoft YaHei"/>
            </a:endParaRPr>
          </a:p>
        </p:txBody>
      </p:sp>
      <p:sp>
        <p:nvSpPr>
          <p:cNvPr id="12" name="TextBox 11"/>
          <p:cNvSpPr txBox="1"/>
          <p:nvPr/>
        </p:nvSpPr>
        <p:spPr>
          <a:xfrm>
            <a:off x="6096000" y="1705724"/>
            <a:ext cx="5085455" cy="236283"/>
          </a:xfrm>
          <a:prstGeom prst="rect">
            <a:avLst/>
          </a:prstGeom>
          <a:noFill/>
        </p:spPr>
        <p:txBody>
          <a:bodyPr wrap="square" lIns="45720" tIns="27432" rIns="45720" bIns="27432" anchor="t">
            <a:spAutoFit/>
          </a:bodyPr>
          <a:lstStyle/>
          <a:p>
            <a:pPr algn="l">
              <a:lnSpc>
                <a:spcPct val="116000"/>
              </a:lnSpc>
              <a:spcAft>
                <a:spcPts val="200"/>
              </a:spcAft>
            </a:pPr>
            <a:r>
              <a:rPr sz="1100" b="0" dirty="0" err="1">
                <a:solidFill>
                  <a:srgbClr val="16202A"/>
                </a:solidFill>
                <a:latin typeface="Microsoft YaHei"/>
              </a:rPr>
              <a:t>轨迹变量决定UAV空中中继的位置；相位矩阵决定RIS反射链路的相干叠加方式</a:t>
            </a:r>
            <a:r>
              <a:rPr sz="1100" b="0" dirty="0">
                <a:solidFill>
                  <a:srgbClr val="16202A"/>
                </a:solidFill>
                <a:latin typeface="Microsoft YaHei"/>
              </a:rPr>
              <a:t>。</a:t>
            </a:r>
          </a:p>
        </p:txBody>
      </p:sp>
      <p:sp>
        <p:nvSpPr>
          <p:cNvPr id="13" name="TextBox 12"/>
          <p:cNvSpPr txBox="1"/>
          <p:nvPr/>
        </p:nvSpPr>
        <p:spPr>
          <a:xfrm>
            <a:off x="841248" y="2340864"/>
            <a:ext cx="2514600" cy="201168"/>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2A9D8F"/>
                </a:solidFill>
                <a:latin typeface="Microsoft YaHei"/>
              </a:rPr>
              <a:t>调度与无线资源变量</a:t>
            </a:r>
          </a:p>
        </p:txBody>
      </p:sp>
      <p:sp>
        <p:nvSpPr>
          <p:cNvPr id="14" name="Rectangle 13"/>
          <p:cNvSpPr/>
          <p:nvPr/>
        </p:nvSpPr>
        <p:spPr>
          <a:xfrm>
            <a:off x="777240" y="2542032"/>
            <a:ext cx="4892040" cy="932688"/>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ymbol_schedule_resource.png"/>
          <p:cNvPicPr>
            <a:picLocks noChangeAspect="1"/>
          </p:cNvPicPr>
          <p:nvPr/>
        </p:nvPicPr>
        <p:blipFill>
          <a:blip r:embed="rId3"/>
          <a:stretch>
            <a:fillRect/>
          </a:stretch>
        </p:blipFill>
        <p:spPr>
          <a:xfrm>
            <a:off x="1450376" y="2853450"/>
            <a:ext cx="3810944" cy="740142"/>
          </a:xfrm>
          <a:prstGeom prst="rect">
            <a:avLst/>
          </a:prstGeom>
        </p:spPr>
      </p:pic>
      <p:sp>
        <p:nvSpPr>
          <p:cNvPr id="16" name="Rectangle 15"/>
          <p:cNvSpPr/>
          <p:nvPr/>
        </p:nvSpPr>
        <p:spPr>
          <a:xfrm>
            <a:off x="5943600" y="2542032"/>
            <a:ext cx="5349240" cy="93268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44768" y="2673194"/>
            <a:ext cx="4946903" cy="274320"/>
          </a:xfrm>
          <a:prstGeom prst="rect">
            <a:avLst/>
          </a:prstGeom>
          <a:noFill/>
        </p:spPr>
        <p:txBody>
          <a:bodyPr wrap="square" lIns="45720" tIns="27432" rIns="45720" bIns="27432" anchor="t">
            <a:spAutoFit/>
          </a:bodyPr>
          <a:lstStyle/>
          <a:p>
            <a:pPr algn="l">
              <a:lnSpc>
                <a:spcPct val="105000"/>
              </a:lnSpc>
              <a:spcAft>
                <a:spcPts val="200"/>
              </a:spcAft>
            </a:pPr>
            <a:r>
              <a:rPr sz="1350" b="1" dirty="0" err="1">
                <a:solidFill>
                  <a:srgbClr val="2A9D8F"/>
                </a:solidFill>
                <a:latin typeface="Microsoft YaHei"/>
              </a:rPr>
              <a:t>调度与无线资源变量说明</a:t>
            </a:r>
            <a:endParaRPr sz="1350" b="1" dirty="0">
              <a:solidFill>
                <a:srgbClr val="2A9D8F"/>
              </a:solidFill>
              <a:latin typeface="Microsoft YaHei"/>
            </a:endParaRPr>
          </a:p>
        </p:txBody>
      </p:sp>
      <p:sp>
        <p:nvSpPr>
          <p:cNvPr id="18" name="TextBox 17"/>
          <p:cNvSpPr txBox="1"/>
          <p:nvPr/>
        </p:nvSpPr>
        <p:spPr>
          <a:xfrm>
            <a:off x="6144768" y="2948803"/>
            <a:ext cx="4946903" cy="432619"/>
          </a:xfrm>
          <a:prstGeom prst="rect">
            <a:avLst/>
          </a:prstGeom>
          <a:noFill/>
        </p:spPr>
        <p:txBody>
          <a:bodyPr wrap="square" lIns="45720" tIns="27432" rIns="45720" bIns="27432" anchor="t">
            <a:spAutoFit/>
          </a:bodyPr>
          <a:lstStyle/>
          <a:p>
            <a:pPr algn="l">
              <a:lnSpc>
                <a:spcPct val="116000"/>
              </a:lnSpc>
              <a:spcAft>
                <a:spcPts val="200"/>
              </a:spcAft>
            </a:pPr>
            <a:r>
              <a:rPr sz="1100" b="0" dirty="0" err="1">
                <a:solidFill>
                  <a:srgbClr val="16202A"/>
                </a:solidFill>
                <a:latin typeface="Microsoft YaHei"/>
              </a:rPr>
              <a:t>调度变量表示节点是否被服务；功率和带宽变量表示该节点在当前时隙获得的无线资源</a:t>
            </a:r>
            <a:r>
              <a:rPr sz="1100" b="0" dirty="0">
                <a:solidFill>
                  <a:srgbClr val="16202A"/>
                </a:solidFill>
                <a:latin typeface="Microsoft YaHei"/>
              </a:rPr>
              <a:t>。</a:t>
            </a:r>
          </a:p>
        </p:txBody>
      </p:sp>
      <p:sp>
        <p:nvSpPr>
          <p:cNvPr id="19" name="TextBox 18"/>
          <p:cNvSpPr txBox="1"/>
          <p:nvPr/>
        </p:nvSpPr>
        <p:spPr>
          <a:xfrm>
            <a:off x="841248" y="3639312"/>
            <a:ext cx="2514600" cy="201168"/>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76F51"/>
                </a:solidFill>
                <a:latin typeface="Microsoft YaHei"/>
              </a:rPr>
              <a:t>安全与任务收益变量</a:t>
            </a:r>
          </a:p>
        </p:txBody>
      </p:sp>
      <p:sp>
        <p:nvSpPr>
          <p:cNvPr id="20" name="Rectangle 19"/>
          <p:cNvSpPr/>
          <p:nvPr/>
        </p:nvSpPr>
        <p:spPr>
          <a:xfrm>
            <a:off x="777240" y="3840480"/>
            <a:ext cx="4892040" cy="932688"/>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ymbol_security_priority.png"/>
          <p:cNvPicPr>
            <a:picLocks noChangeAspect="1"/>
          </p:cNvPicPr>
          <p:nvPr/>
        </p:nvPicPr>
        <p:blipFill>
          <a:blip r:embed="rId4"/>
          <a:stretch>
            <a:fillRect/>
          </a:stretch>
        </p:blipFill>
        <p:spPr>
          <a:xfrm>
            <a:off x="1575393" y="4151376"/>
            <a:ext cx="4049041" cy="786384"/>
          </a:xfrm>
          <a:prstGeom prst="rect">
            <a:avLst/>
          </a:prstGeom>
        </p:spPr>
      </p:pic>
      <p:sp>
        <p:nvSpPr>
          <p:cNvPr id="22" name="Rectangle 21"/>
          <p:cNvSpPr/>
          <p:nvPr/>
        </p:nvSpPr>
        <p:spPr>
          <a:xfrm>
            <a:off x="5943600" y="3840480"/>
            <a:ext cx="5349240" cy="93268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44768" y="3966947"/>
            <a:ext cx="4946903" cy="274320"/>
          </a:xfrm>
          <a:prstGeom prst="rect">
            <a:avLst/>
          </a:prstGeom>
          <a:noFill/>
        </p:spPr>
        <p:txBody>
          <a:bodyPr wrap="square" lIns="45720" tIns="27432" rIns="45720" bIns="27432" anchor="t">
            <a:spAutoFit/>
          </a:bodyPr>
          <a:lstStyle/>
          <a:p>
            <a:pPr algn="l">
              <a:lnSpc>
                <a:spcPct val="105000"/>
              </a:lnSpc>
              <a:spcAft>
                <a:spcPts val="200"/>
              </a:spcAft>
            </a:pPr>
            <a:r>
              <a:rPr sz="1350" b="1" dirty="0" err="1">
                <a:solidFill>
                  <a:srgbClr val="E76F51"/>
                </a:solidFill>
                <a:latin typeface="Microsoft YaHei"/>
              </a:rPr>
              <a:t>安全与任务收益变量说明</a:t>
            </a:r>
            <a:endParaRPr sz="1350" b="1" dirty="0">
              <a:solidFill>
                <a:srgbClr val="E76F51"/>
              </a:solidFill>
              <a:latin typeface="Microsoft YaHei"/>
            </a:endParaRPr>
          </a:p>
        </p:txBody>
      </p:sp>
      <p:sp>
        <p:nvSpPr>
          <p:cNvPr id="24" name="TextBox 23"/>
          <p:cNvSpPr txBox="1"/>
          <p:nvPr/>
        </p:nvSpPr>
        <p:spPr>
          <a:xfrm>
            <a:off x="6163057" y="4262010"/>
            <a:ext cx="4946903" cy="415498"/>
          </a:xfrm>
          <a:prstGeom prst="rect">
            <a:avLst/>
          </a:prstGeom>
          <a:noFill/>
        </p:spPr>
        <p:txBody>
          <a:bodyPr wrap="square" lIns="45720" tIns="27432" rIns="45720" bIns="27432" anchor="t">
            <a:spAutoFit/>
          </a:bodyPr>
          <a:lstStyle/>
          <a:p>
            <a:pPr algn="l">
              <a:lnSpc>
                <a:spcPct val="116000"/>
              </a:lnSpc>
              <a:spcAft>
                <a:spcPts val="200"/>
              </a:spcAft>
            </a:pPr>
            <a:r>
              <a:rPr sz="1050" b="0" dirty="0" err="1">
                <a:solidFill>
                  <a:srgbClr val="16202A"/>
                </a:solidFill>
                <a:latin typeface="Microsoft YaHei"/>
              </a:rPr>
              <a:t>安全数据量进入目标函数；密钥分配决定安全约束可行性；任务权重由磁异常和信息新鲜度生成</a:t>
            </a:r>
            <a:r>
              <a:rPr sz="1050" b="0" dirty="0">
                <a:solidFill>
                  <a:srgbClr val="16202A"/>
                </a:solidFill>
                <a:latin typeface="Microsoft YaHei"/>
              </a:rPr>
              <a:t>。</a:t>
            </a:r>
          </a:p>
        </p:txBody>
      </p:sp>
      <p:sp>
        <p:nvSpPr>
          <p:cNvPr id="25" name="TextBox 24"/>
          <p:cNvSpPr txBox="1"/>
          <p:nvPr/>
        </p:nvSpPr>
        <p:spPr>
          <a:xfrm>
            <a:off x="841248" y="4937760"/>
            <a:ext cx="2514600" cy="201168"/>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Microsoft YaHei"/>
              </a:rPr>
              <a:t>联合变量集合</a:t>
            </a:r>
          </a:p>
        </p:txBody>
      </p:sp>
      <p:sp>
        <p:nvSpPr>
          <p:cNvPr id="26" name="Rectangle 25"/>
          <p:cNvSpPr/>
          <p:nvPr/>
        </p:nvSpPr>
        <p:spPr>
          <a:xfrm>
            <a:off x="777240" y="5138928"/>
            <a:ext cx="4892040" cy="932688"/>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symbol_joint_variable.png"/>
          <p:cNvPicPr>
            <a:picLocks noChangeAspect="1"/>
          </p:cNvPicPr>
          <p:nvPr/>
        </p:nvPicPr>
        <p:blipFill>
          <a:blip r:embed="rId5"/>
          <a:stretch>
            <a:fillRect/>
          </a:stretch>
        </p:blipFill>
        <p:spPr>
          <a:xfrm>
            <a:off x="2035804" y="5436108"/>
            <a:ext cx="3907795" cy="758952"/>
          </a:xfrm>
          <a:prstGeom prst="rect">
            <a:avLst/>
          </a:prstGeom>
        </p:spPr>
      </p:pic>
      <p:sp>
        <p:nvSpPr>
          <p:cNvPr id="28" name="Rectangle 27"/>
          <p:cNvSpPr/>
          <p:nvPr/>
        </p:nvSpPr>
        <p:spPr>
          <a:xfrm>
            <a:off x="5943600" y="5138928"/>
            <a:ext cx="5349240" cy="93268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44768" y="5251557"/>
            <a:ext cx="4946903" cy="274320"/>
          </a:xfrm>
          <a:prstGeom prst="rect">
            <a:avLst/>
          </a:prstGeom>
          <a:noFill/>
        </p:spPr>
        <p:txBody>
          <a:bodyPr wrap="square" lIns="45720" tIns="27432" rIns="45720" bIns="27432" anchor="t">
            <a:spAutoFit/>
          </a:bodyPr>
          <a:lstStyle/>
          <a:p>
            <a:pPr algn="l">
              <a:lnSpc>
                <a:spcPct val="105000"/>
              </a:lnSpc>
              <a:spcAft>
                <a:spcPts val="200"/>
              </a:spcAft>
            </a:pPr>
            <a:r>
              <a:rPr sz="1350" b="1" dirty="0" err="1">
                <a:solidFill>
                  <a:srgbClr val="E9C46A"/>
                </a:solidFill>
                <a:latin typeface="Microsoft YaHei"/>
              </a:rPr>
              <a:t>联合变量集合说明</a:t>
            </a:r>
            <a:endParaRPr sz="1350" b="1" dirty="0">
              <a:solidFill>
                <a:srgbClr val="E9C46A"/>
              </a:solidFill>
              <a:latin typeface="Microsoft YaHei"/>
            </a:endParaRPr>
          </a:p>
        </p:txBody>
      </p:sp>
      <p:sp>
        <p:nvSpPr>
          <p:cNvPr id="30" name="TextBox 29"/>
          <p:cNvSpPr txBox="1"/>
          <p:nvPr/>
        </p:nvSpPr>
        <p:spPr>
          <a:xfrm>
            <a:off x="6163057" y="5528566"/>
            <a:ext cx="4946903" cy="432619"/>
          </a:xfrm>
          <a:prstGeom prst="rect">
            <a:avLst/>
          </a:prstGeom>
          <a:noFill/>
        </p:spPr>
        <p:txBody>
          <a:bodyPr wrap="square" lIns="45720" tIns="27432" rIns="45720" bIns="27432" anchor="t">
            <a:spAutoFit/>
          </a:bodyPr>
          <a:lstStyle/>
          <a:p>
            <a:pPr algn="l">
              <a:lnSpc>
                <a:spcPct val="116000"/>
              </a:lnSpc>
              <a:spcAft>
                <a:spcPts val="200"/>
              </a:spcAft>
            </a:pPr>
            <a:r>
              <a:rPr sz="1100" b="0" dirty="0" err="1">
                <a:solidFill>
                  <a:srgbClr val="16202A"/>
                </a:solidFill>
                <a:latin typeface="Microsoft YaHei"/>
              </a:rPr>
              <a:t>联合变量集合把可控量统一写入完整优化问题，便于表达目标函数、Dinkelbach变换和交替优化更新</a:t>
            </a:r>
            <a:r>
              <a:rPr sz="1100" b="0" dirty="0">
                <a:solidFill>
                  <a:srgbClr val="16202A"/>
                </a:solidFill>
                <a:latin typeface="Microsoft YaHei"/>
              </a:rPr>
              <a:t>。</a:t>
            </a:r>
          </a:p>
        </p:txBody>
      </p:sp>
      <p:sp>
        <p:nvSpPr>
          <p:cNvPr id="31" name="Rectangle 3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33" name="TextBox 3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25/77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CHANNEL</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RIS辅助等效信道与可达速率模型</a:t>
            </a:r>
          </a:p>
        </p:txBody>
      </p:sp>
      <p:sp>
        <p:nvSpPr>
          <p:cNvPr id="7" name="Rectangle 6"/>
          <p:cNvSpPr/>
          <p:nvPr/>
        </p:nvSpPr>
        <p:spPr>
          <a:xfrm>
            <a:off x="731520" y="1417320"/>
            <a:ext cx="5623560" cy="438912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18488"/>
            <a:ext cx="516636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等效信道与速率</a:t>
            </a:r>
          </a:p>
        </p:txBody>
      </p:sp>
      <p:pic>
        <p:nvPicPr>
          <p:cNvPr id="9" name="Picture 8" descr="channel_rate.png"/>
          <p:cNvPicPr>
            <a:picLocks noChangeAspect="1"/>
          </p:cNvPicPr>
          <p:nvPr/>
        </p:nvPicPr>
        <p:blipFill>
          <a:blip r:embed="rId2"/>
          <a:stretch>
            <a:fillRect/>
          </a:stretch>
        </p:blipFill>
        <p:spPr>
          <a:xfrm>
            <a:off x="960120" y="2562127"/>
            <a:ext cx="5166360" cy="2483553"/>
          </a:xfrm>
          <a:prstGeom prst="rect">
            <a:avLst/>
          </a:prstGeom>
        </p:spPr>
      </p:pic>
      <p:sp>
        <p:nvSpPr>
          <p:cNvPr id="10" name="Rectangle 9"/>
          <p:cNvSpPr/>
          <p:nvPr/>
        </p:nvSpPr>
        <p:spPr>
          <a:xfrm>
            <a:off x="6537960" y="1444752"/>
            <a:ext cx="4572000" cy="201168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39128" y="1609344"/>
            <a:ext cx="416966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建模逻辑</a:t>
            </a:r>
          </a:p>
        </p:txBody>
      </p:sp>
      <p:sp>
        <p:nvSpPr>
          <p:cNvPr id="12" name="TextBox 11"/>
          <p:cNvSpPr txBox="1"/>
          <p:nvPr/>
        </p:nvSpPr>
        <p:spPr>
          <a:xfrm>
            <a:off x="6739128" y="1975104"/>
            <a:ext cx="4169663" cy="895373"/>
          </a:xfrm>
          <a:prstGeom prst="rect">
            <a:avLst/>
          </a:prstGeom>
          <a:noFill/>
        </p:spPr>
        <p:txBody>
          <a:bodyPr wrap="square" lIns="45720" tIns="27432" rIns="45720" bIns="27432" anchor="t">
            <a:spAutoFit/>
          </a:bodyPr>
          <a:lstStyle/>
          <a:p>
            <a:pPr algn="l">
              <a:lnSpc>
                <a:spcPct val="116000"/>
              </a:lnSpc>
              <a:spcAft>
                <a:spcPts val="200"/>
              </a:spcAft>
            </a:pPr>
            <a:r>
              <a:rPr sz="1200" b="0" dirty="0">
                <a:solidFill>
                  <a:srgbClr val="16202A"/>
                </a:solidFill>
                <a:latin typeface="Microsoft YaHei"/>
              </a:rPr>
              <a:t>第一式定义UAV在离散时隙内的三维位置，其中高度在本项目中固定，水平坐标由轨迹优化更新。第二式定义RIS对角相位矩阵，每个对角元素对应一个反射单元的复反射系数，单位模约束由硬件无源反射特性决定。</a:t>
            </a:r>
          </a:p>
        </p:txBody>
      </p:sp>
      <p:sp>
        <p:nvSpPr>
          <p:cNvPr id="13" name="Rectangle 12"/>
          <p:cNvSpPr/>
          <p:nvPr/>
        </p:nvSpPr>
        <p:spPr>
          <a:xfrm>
            <a:off x="6537960" y="3703320"/>
            <a:ext cx="4572000" cy="1874519"/>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9128" y="3867911"/>
            <a:ext cx="416966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速率推导</a:t>
            </a:r>
          </a:p>
        </p:txBody>
      </p:sp>
      <p:sp>
        <p:nvSpPr>
          <p:cNvPr id="15" name="TextBox 14"/>
          <p:cNvSpPr txBox="1"/>
          <p:nvPr/>
        </p:nvSpPr>
        <p:spPr>
          <a:xfrm>
            <a:off x="6739128" y="4233672"/>
            <a:ext cx="4169663" cy="1109599"/>
          </a:xfrm>
          <a:prstGeom prst="rect">
            <a:avLst/>
          </a:prstGeom>
          <a:noFill/>
        </p:spPr>
        <p:txBody>
          <a:bodyPr wrap="square" lIns="45720" tIns="27432" rIns="45720" bIns="27432" anchor="t">
            <a:spAutoFit/>
          </a:bodyPr>
          <a:lstStyle/>
          <a:p>
            <a:pPr algn="l">
              <a:lnSpc>
                <a:spcPct val="116000"/>
              </a:lnSpc>
              <a:spcAft>
                <a:spcPts val="200"/>
              </a:spcAft>
            </a:pPr>
            <a:r>
              <a:rPr sz="1200" b="0" dirty="0">
                <a:solidFill>
                  <a:srgbClr val="16202A"/>
                </a:solidFill>
                <a:latin typeface="Microsoft YaHei"/>
              </a:rPr>
              <a:t>第三式把直达链路和RIS级联链路相加形成等效信道。级联项先经过节点到RIS链路，再乘以RIS相位矩阵，最后经过RIS到UAV链路。第四式采用Shannon容量形式：带宽决定频谱资源，功率和等效信道增益决定信噪比，噪声谱密度与带宽共同决定噪声功率。</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26/77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CHANNEL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链路增益图与信道公式的关系</a:t>
            </a:r>
          </a:p>
        </p:txBody>
      </p:sp>
      <p:pic>
        <p:nvPicPr>
          <p:cNvPr id="7" name="Picture 6" descr="link_gain.png"/>
          <p:cNvPicPr>
            <a:picLocks noChangeAspect="1"/>
          </p:cNvPicPr>
          <p:nvPr/>
        </p:nvPicPr>
        <p:blipFill>
          <a:blip r:embed="rId2"/>
          <a:stretch>
            <a:fillRect/>
          </a:stretch>
        </p:blipFill>
        <p:spPr>
          <a:xfrm>
            <a:off x="658368" y="2009397"/>
            <a:ext cx="5715000" cy="2976364"/>
          </a:xfrm>
          <a:prstGeom prst="rect">
            <a:avLst/>
          </a:prstGeom>
        </p:spPr>
      </p:pic>
      <p:sp>
        <p:nvSpPr>
          <p:cNvPr id="8" name="Rectangle 7"/>
          <p:cNvSpPr/>
          <p:nvPr/>
        </p:nvSpPr>
        <p:spPr>
          <a:xfrm>
            <a:off x="6629400" y="1234440"/>
            <a:ext cx="4526280" cy="201168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0568" y="1399032"/>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图表内容</a:t>
            </a:r>
          </a:p>
        </p:txBody>
      </p:sp>
      <p:sp>
        <p:nvSpPr>
          <p:cNvPr id="10" name="TextBox 9"/>
          <p:cNvSpPr txBox="1"/>
          <p:nvPr/>
        </p:nvSpPr>
        <p:spPr>
          <a:xfrm>
            <a:off x="6830568" y="1764792"/>
            <a:ext cx="41239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左图比较不同传播控制策略下的远海链路速率，横轴是UAV与节点间的等效距离，纵轴是可达速率。无RIS曲线给出基线，随机RIS反映未进行相位控制时的反射效果，连续相位RIS给出理想上界，2-bit </a:t>
            </a:r>
            <a:r>
              <a:rPr sz="1400" b="0" dirty="0" err="1">
                <a:solidFill>
                  <a:srgbClr val="16202A"/>
                </a:solidFill>
                <a:latin typeface="Microsoft YaHei"/>
              </a:rPr>
              <a:t>RIS给出硬件量化后的可实现结果</a:t>
            </a:r>
            <a:r>
              <a:rPr sz="1400" b="0" dirty="0">
                <a:solidFill>
                  <a:srgbClr val="16202A"/>
                </a:solidFill>
                <a:latin typeface="Microsoft YaHei"/>
              </a:rPr>
              <a:t>。</a:t>
            </a:r>
          </a:p>
        </p:txBody>
      </p:sp>
      <p:sp>
        <p:nvSpPr>
          <p:cNvPr id="11" name="Rectangle 10"/>
          <p:cNvSpPr/>
          <p:nvPr/>
        </p:nvSpPr>
        <p:spPr>
          <a:xfrm>
            <a:off x="6629400" y="3584448"/>
            <a:ext cx="4526280" cy="1874519"/>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30568" y="3749039"/>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结果含义</a:t>
            </a:r>
          </a:p>
        </p:txBody>
      </p:sp>
      <p:sp>
        <p:nvSpPr>
          <p:cNvPr id="13" name="TextBox 12"/>
          <p:cNvSpPr txBox="1"/>
          <p:nvPr/>
        </p:nvSpPr>
        <p:spPr>
          <a:xfrm>
            <a:off x="6830568" y="4114800"/>
            <a:ext cx="41239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图中的曲线随距离增加而下降，体现了信道公式中的路径损耗。相位优化后曲线上移，说明级联链路在UAV处相干叠加，提高了等效信道幅度。2-bit曲线接近连续相位上界，说明离散码本保留了主要波束赋形收益，是后续采用2-bit硬件约束的依据。</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Channel model validation</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27/77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QKD CONSTRAINTS</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量子密钥供给与安全数据约束</a:t>
            </a:r>
          </a:p>
        </p:txBody>
      </p:sp>
      <p:sp>
        <p:nvSpPr>
          <p:cNvPr id="7" name="Rectangle 6"/>
          <p:cNvSpPr/>
          <p:nvPr/>
        </p:nvSpPr>
        <p:spPr>
          <a:xfrm>
            <a:off x="731520" y="1417320"/>
            <a:ext cx="4800600" cy="429768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18488"/>
            <a:ext cx="434340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76F51"/>
                </a:solidFill>
                <a:latin typeface="Microsoft YaHei"/>
              </a:rPr>
              <a:t>QKD密钥约束</a:t>
            </a:r>
          </a:p>
        </p:txBody>
      </p:sp>
      <p:pic>
        <p:nvPicPr>
          <p:cNvPr id="9" name="Picture 8" descr="qkd_constraints.png"/>
          <p:cNvPicPr>
            <a:picLocks noChangeAspect="1"/>
          </p:cNvPicPr>
          <p:nvPr/>
        </p:nvPicPr>
        <p:blipFill>
          <a:blip r:embed="rId2"/>
          <a:stretch>
            <a:fillRect/>
          </a:stretch>
        </p:blipFill>
        <p:spPr>
          <a:xfrm>
            <a:off x="813816" y="2766361"/>
            <a:ext cx="4666447" cy="1782477"/>
          </a:xfrm>
          <a:prstGeom prst="rect">
            <a:avLst/>
          </a:prstGeom>
        </p:spPr>
      </p:pic>
      <p:sp>
        <p:nvSpPr>
          <p:cNvPr id="10" name="Rectangle 9"/>
          <p:cNvSpPr/>
          <p:nvPr/>
        </p:nvSpPr>
        <p:spPr>
          <a:xfrm>
            <a:off x="6080760" y="1444752"/>
            <a:ext cx="4892040" cy="19202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81928" y="1609344"/>
            <a:ext cx="448970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约束含义</a:t>
            </a:r>
          </a:p>
        </p:txBody>
      </p:sp>
      <p:sp>
        <p:nvSpPr>
          <p:cNvPr id="12" name="TextBox 11"/>
          <p:cNvSpPr txBox="1"/>
          <p:nvPr/>
        </p:nvSpPr>
        <p:spPr>
          <a:xfrm>
            <a:off x="6281928" y="1975104"/>
            <a:ext cx="4489703"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第一式是通信容量上界：在一个时隙内被计入的安全数据不能超过无线链路可以承载的数据量。第二式是安全保护约束：每单位安全数据必须消耗相应密钥，密钥消耗系数越大，安全级别越接近一次一密。</a:t>
            </a:r>
          </a:p>
        </p:txBody>
      </p:sp>
      <p:sp>
        <p:nvSpPr>
          <p:cNvPr id="13" name="Rectangle 12"/>
          <p:cNvSpPr/>
          <p:nvPr/>
        </p:nvSpPr>
        <p:spPr>
          <a:xfrm>
            <a:off x="6080760" y="3657600"/>
            <a:ext cx="4892040" cy="196596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81928" y="3822191"/>
            <a:ext cx="448970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工程解释</a:t>
            </a:r>
          </a:p>
        </p:txBody>
      </p:sp>
      <p:sp>
        <p:nvSpPr>
          <p:cNvPr id="15" name="TextBox 14"/>
          <p:cNvSpPr txBox="1"/>
          <p:nvPr/>
        </p:nvSpPr>
        <p:spPr>
          <a:xfrm>
            <a:off x="6281928" y="4187952"/>
            <a:ext cx="4611092"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三式给出同一时隙内所有节点共享的QKD密钥供给上限。它使优化问题不能只追求更高无线速率，还必须判断哪些数据值得消耗有限密钥。最后一式说明密钥消耗系数的安全含义：一次一密要求密钥量与数据量同阶，会话刷新则消耗更少但安全强度较低。</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28/77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QKD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密钥供给曲线与安全数据瓶颈</a:t>
            </a:r>
          </a:p>
        </p:txBody>
      </p:sp>
      <p:pic>
        <p:nvPicPr>
          <p:cNvPr id="7" name="Picture 6" descr="qkd_secure_data.png"/>
          <p:cNvPicPr>
            <a:picLocks noChangeAspect="1"/>
          </p:cNvPicPr>
          <p:nvPr/>
        </p:nvPicPr>
        <p:blipFill>
          <a:blip r:embed="rId2"/>
          <a:stretch>
            <a:fillRect/>
          </a:stretch>
        </p:blipFill>
        <p:spPr>
          <a:xfrm>
            <a:off x="658368" y="1681502"/>
            <a:ext cx="5760720" cy="3531571"/>
          </a:xfrm>
          <a:prstGeom prst="rect">
            <a:avLst/>
          </a:prstGeom>
        </p:spPr>
      </p:pic>
      <p:sp>
        <p:nvSpPr>
          <p:cNvPr id="8" name="Rectangle 7"/>
          <p:cNvSpPr/>
          <p:nvPr/>
        </p:nvSpPr>
        <p:spPr>
          <a:xfrm>
            <a:off x="6629400" y="1280160"/>
            <a:ext cx="4526280" cy="1874519"/>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0568" y="1444751"/>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图表内容</a:t>
            </a:r>
          </a:p>
        </p:txBody>
      </p:sp>
      <p:sp>
        <p:nvSpPr>
          <p:cNvPr id="10" name="TextBox 9"/>
          <p:cNvSpPr txBox="1"/>
          <p:nvPr/>
        </p:nvSpPr>
        <p:spPr>
          <a:xfrm>
            <a:off x="6830568" y="1810512"/>
            <a:ext cx="4123944"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左图改变每个时隙可用的QKD密钥供给，记录最终能够安全回传的数据量。横轴表示密钥供给规模，纵轴表示安全数据吞吐；曲线前段上升较快，说明密钥是主要瓶颈。</a:t>
            </a:r>
          </a:p>
        </p:txBody>
      </p:sp>
      <p:sp>
        <p:nvSpPr>
          <p:cNvPr id="11" name="Rectangle 10"/>
          <p:cNvSpPr/>
          <p:nvPr/>
        </p:nvSpPr>
        <p:spPr>
          <a:xfrm>
            <a:off x="6629400" y="3474720"/>
            <a:ext cx="4526280" cy="210312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30568" y="3639312"/>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与公式的关系</a:t>
            </a:r>
          </a:p>
        </p:txBody>
      </p:sp>
      <p:sp>
        <p:nvSpPr>
          <p:cNvPr id="13" name="TextBox 12"/>
          <p:cNvSpPr txBox="1"/>
          <p:nvPr/>
        </p:nvSpPr>
        <p:spPr>
          <a:xfrm>
            <a:off x="6830567" y="4005072"/>
            <a:ext cx="4215875"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当密钥预算较小时，第二式和第三式共同限制安全数据量；随着密钥供给增加，安全数据逐渐接近无线链路容量上界，此时第一式成为主要限制。该图说明系统瓶颈会在安全资源和通信资源之间转移，因此需要把QKD和无线资源放在同一个优化模型中。</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QKD key budget sensitivity</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29/77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PRIORITY</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磁异常观测到任务优先级的数学映射</a:t>
            </a:r>
          </a:p>
        </p:txBody>
      </p:sp>
      <p:sp>
        <p:nvSpPr>
          <p:cNvPr id="7" name="Rectangle 6"/>
          <p:cNvSpPr/>
          <p:nvPr/>
        </p:nvSpPr>
        <p:spPr>
          <a:xfrm>
            <a:off x="731520" y="1463040"/>
            <a:ext cx="5120640" cy="393192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64208"/>
            <a:ext cx="466344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457B9D"/>
                </a:solidFill>
                <a:latin typeface="Microsoft YaHei"/>
              </a:rPr>
              <a:t>任务权重</a:t>
            </a:r>
          </a:p>
        </p:txBody>
      </p:sp>
      <p:pic>
        <p:nvPicPr>
          <p:cNvPr id="9" name="Picture 8" descr="magnetic_priority.png"/>
          <p:cNvPicPr>
            <a:picLocks noChangeAspect="1"/>
          </p:cNvPicPr>
          <p:nvPr/>
        </p:nvPicPr>
        <p:blipFill>
          <a:blip r:embed="rId2"/>
          <a:stretch>
            <a:fillRect/>
          </a:stretch>
        </p:blipFill>
        <p:spPr>
          <a:xfrm>
            <a:off x="1068460" y="2294387"/>
            <a:ext cx="4975724" cy="2391911"/>
          </a:xfrm>
          <a:prstGeom prst="rect">
            <a:avLst/>
          </a:prstGeom>
        </p:spPr>
      </p:pic>
      <p:sp>
        <p:nvSpPr>
          <p:cNvPr id="10" name="Rectangle 9"/>
          <p:cNvSpPr/>
          <p:nvPr/>
        </p:nvSpPr>
        <p:spPr>
          <a:xfrm>
            <a:off x="6144768" y="1417320"/>
            <a:ext cx="4846320" cy="20574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45936" y="1581912"/>
            <a:ext cx="44439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从观测到异常分数</a:t>
            </a:r>
          </a:p>
        </p:txBody>
      </p:sp>
      <p:sp>
        <p:nvSpPr>
          <p:cNvPr id="12" name="TextBox 11"/>
          <p:cNvSpPr txBox="1"/>
          <p:nvPr/>
        </p:nvSpPr>
        <p:spPr>
          <a:xfrm>
            <a:off x="6345936" y="1947672"/>
            <a:ext cx="4443983"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一式把量子磁力计观测值与WMM2025背景场相减，得到局部磁扰动。这样做可以去除大尺度地磁背景，使海缆附近的局部异常成为调度输入。第二式使用Sigmoid映射，把扰动幅值转为有界异常分数，避免少数极端观测值支配全部资源分配。</a:t>
            </a:r>
          </a:p>
        </p:txBody>
      </p:sp>
      <p:sp>
        <p:nvSpPr>
          <p:cNvPr id="13" name="Rectangle 12"/>
          <p:cNvSpPr/>
          <p:nvPr/>
        </p:nvSpPr>
        <p:spPr>
          <a:xfrm>
            <a:off x="6144768" y="3749039"/>
            <a:ext cx="4846320" cy="1874519"/>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5936" y="3913631"/>
            <a:ext cx="44439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从异常分数到收益函数</a:t>
            </a:r>
          </a:p>
        </p:txBody>
      </p:sp>
      <p:sp>
        <p:nvSpPr>
          <p:cNvPr id="15" name="TextBox 14"/>
          <p:cNvSpPr txBox="1"/>
          <p:nvPr/>
        </p:nvSpPr>
        <p:spPr>
          <a:xfrm>
            <a:off x="6345936" y="4279392"/>
            <a:ext cx="4443983"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三式把异常分数和信息年龄共同写入任务权重，表示越异常、越久未更新的节点越值得优先服务。第四式把每个节点的安全数据量乘以任务权重后求和，形成分式目标中的收益部分。因此磁探测通过权重影响调度、资源和轨迹更新。</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30/77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PRIORITY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磁异常优先级公式与热力图解读</a:t>
            </a:r>
          </a:p>
        </p:txBody>
      </p:sp>
      <p:pic>
        <p:nvPicPr>
          <p:cNvPr id="7" name="Picture 6" descr="magnetic_heatmap.png"/>
          <p:cNvPicPr>
            <a:picLocks noChangeAspect="1"/>
          </p:cNvPicPr>
          <p:nvPr/>
        </p:nvPicPr>
        <p:blipFill>
          <a:blip r:embed="rId2"/>
          <a:stretch>
            <a:fillRect/>
          </a:stretch>
        </p:blipFill>
        <p:spPr>
          <a:xfrm>
            <a:off x="1924159" y="1133856"/>
            <a:ext cx="2942412" cy="5046484"/>
          </a:xfrm>
          <a:prstGeom prst="rect">
            <a:avLst/>
          </a:prstGeom>
        </p:spPr>
      </p:pic>
      <p:sp>
        <p:nvSpPr>
          <p:cNvPr id="8" name="Rectangle 7"/>
          <p:cNvSpPr/>
          <p:nvPr/>
        </p:nvSpPr>
        <p:spPr>
          <a:xfrm>
            <a:off x="6080760" y="1261872"/>
            <a:ext cx="4983480" cy="164592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81928" y="1426463"/>
            <a:ext cx="45811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公式链条</a:t>
            </a:r>
          </a:p>
        </p:txBody>
      </p:sp>
      <p:sp>
        <p:nvSpPr>
          <p:cNvPr id="10" name="TextBox 9"/>
          <p:cNvSpPr txBox="1"/>
          <p:nvPr/>
        </p:nvSpPr>
        <p:spPr>
          <a:xfrm>
            <a:off x="6281927" y="1792224"/>
            <a:ext cx="4641777"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该图对应公式页中的前两步：先从观测磁场中扣除WMM2025背景，再把局部扰动映射为异常分数。热力图先采样到各个监测节点，再转化为节点优先级并进入优化模型。</a:t>
            </a:r>
          </a:p>
        </p:txBody>
      </p:sp>
      <p:sp>
        <p:nvSpPr>
          <p:cNvPr id="11" name="Rectangle 10"/>
          <p:cNvSpPr/>
          <p:nvPr/>
        </p:nvSpPr>
        <p:spPr>
          <a:xfrm>
            <a:off x="6080760" y="3200400"/>
            <a:ext cx="4983480" cy="20574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81928" y="3364992"/>
            <a:ext cx="45811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图表解读</a:t>
            </a:r>
          </a:p>
        </p:txBody>
      </p:sp>
      <p:sp>
        <p:nvSpPr>
          <p:cNvPr id="13" name="TextBox 12"/>
          <p:cNvSpPr txBox="1"/>
          <p:nvPr/>
        </p:nvSpPr>
        <p:spPr>
          <a:xfrm>
            <a:off x="6281928" y="3730752"/>
            <a:ext cx="45811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左图颜色表示局部磁扰动强弱，黑色线段表示海缆路径，黄色星标表示设定的异常中心，散点为可服务节点。颜色越接近高扰动区域，节点风险权重越高。后续调度热力图和轨迹图中的资源集中现象，正是由这一风险权重进入收益函数后产生的。</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Magnetic anomaly to priority mapping</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31/77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ENERGY MODEL</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系统总能耗模型</a:t>
            </a:r>
          </a:p>
        </p:txBody>
      </p:sp>
      <p:sp>
        <p:nvSpPr>
          <p:cNvPr id="7" name="Rectangle 6"/>
          <p:cNvSpPr/>
          <p:nvPr/>
        </p:nvSpPr>
        <p:spPr>
          <a:xfrm>
            <a:off x="777240" y="1417320"/>
            <a:ext cx="5303520" cy="438912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618488"/>
            <a:ext cx="484632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9C46A"/>
                </a:solidFill>
                <a:latin typeface="Microsoft YaHei"/>
              </a:rPr>
              <a:t>能耗模型</a:t>
            </a:r>
          </a:p>
        </p:txBody>
      </p:sp>
      <p:pic>
        <p:nvPicPr>
          <p:cNvPr id="9" name="Picture 8" descr="energy_model.png"/>
          <p:cNvPicPr>
            <a:picLocks noChangeAspect="1"/>
          </p:cNvPicPr>
          <p:nvPr/>
        </p:nvPicPr>
        <p:blipFill>
          <a:blip r:embed="rId2"/>
          <a:stretch>
            <a:fillRect/>
          </a:stretch>
        </p:blipFill>
        <p:spPr>
          <a:xfrm>
            <a:off x="1199112" y="2401523"/>
            <a:ext cx="5146824" cy="2474161"/>
          </a:xfrm>
          <a:prstGeom prst="rect">
            <a:avLst/>
          </a:prstGeom>
        </p:spPr>
      </p:pic>
      <p:sp>
        <p:nvSpPr>
          <p:cNvPr id="10" name="Rectangle 9"/>
          <p:cNvSpPr/>
          <p:nvPr/>
        </p:nvSpPr>
        <p:spPr>
          <a:xfrm>
            <a:off x="6446520" y="1417320"/>
            <a:ext cx="4617720" cy="18288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47688" y="1581912"/>
            <a:ext cx="42153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9C46A"/>
                </a:solidFill>
                <a:latin typeface="Microsoft YaHei"/>
              </a:rPr>
              <a:t>能耗分解</a:t>
            </a:r>
          </a:p>
        </p:txBody>
      </p:sp>
      <p:sp>
        <p:nvSpPr>
          <p:cNvPr id="12" name="TextBox 11"/>
          <p:cNvSpPr txBox="1"/>
          <p:nvPr/>
        </p:nvSpPr>
        <p:spPr>
          <a:xfrm>
            <a:off x="6647688" y="1947672"/>
            <a:ext cx="4215383" cy="1175258"/>
          </a:xfrm>
          <a:prstGeom prst="rect">
            <a:avLst/>
          </a:prstGeom>
          <a:noFill/>
        </p:spPr>
        <p:txBody>
          <a:bodyPr wrap="square" lIns="45720" tIns="27432" rIns="45720" bIns="27432" anchor="t">
            <a:spAutoFit/>
          </a:bodyPr>
          <a:lstStyle/>
          <a:p>
            <a:pPr algn="l">
              <a:lnSpc>
                <a:spcPct val="116000"/>
              </a:lnSpc>
              <a:spcAft>
                <a:spcPts val="200"/>
              </a:spcAft>
            </a:pPr>
            <a:r>
              <a:rPr sz="1600" b="0" dirty="0">
                <a:solidFill>
                  <a:srgbClr val="16202A"/>
                </a:solidFill>
                <a:latin typeface="Microsoft YaHei"/>
              </a:rPr>
              <a:t>第一式把系统总能耗分解为飞行、发射、电路和RIS硬件四部分。这样分解的意义在于区分可由轨迹改变的能耗、可由功率控制改变的能耗，以及由硬件规模近似固定决定的能耗。</a:t>
            </a:r>
          </a:p>
        </p:txBody>
      </p:sp>
      <p:sp>
        <p:nvSpPr>
          <p:cNvPr id="13" name="Rectangle 12"/>
          <p:cNvSpPr/>
          <p:nvPr/>
        </p:nvSpPr>
        <p:spPr>
          <a:xfrm>
            <a:off x="6446520" y="3547872"/>
            <a:ext cx="4617720" cy="21488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7688" y="3712463"/>
            <a:ext cx="42153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与优化目标的关系</a:t>
            </a:r>
          </a:p>
        </p:txBody>
      </p:sp>
      <p:sp>
        <p:nvSpPr>
          <p:cNvPr id="15" name="TextBox 14"/>
          <p:cNvSpPr txBox="1"/>
          <p:nvPr/>
        </p:nvSpPr>
        <p:spPr>
          <a:xfrm>
            <a:off x="6647688" y="4078224"/>
            <a:ext cx="4215383" cy="153529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二式采用速度平方项近似旋翼UAV机动代价，说明过度绕飞会快速增加能耗。第三式把每个时隙的发射功率积分为通信能耗。第四式说明RIS规模越大，反射孔径收益越强，但硬件单元也会带来额外能耗。因此最终目标从单纯最大化吞吐，提升为最大化单位能耗安全收益。</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32/77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ENERGY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速度-能耗曲线与能耗模型的关系</a:t>
            </a:r>
          </a:p>
        </p:txBody>
      </p:sp>
      <p:pic>
        <p:nvPicPr>
          <p:cNvPr id="7" name="Picture 6" descr="uav_speed_energy.png"/>
          <p:cNvPicPr>
            <a:picLocks noChangeAspect="1"/>
          </p:cNvPicPr>
          <p:nvPr/>
        </p:nvPicPr>
        <p:blipFill>
          <a:blip r:embed="rId2"/>
          <a:stretch>
            <a:fillRect/>
          </a:stretch>
        </p:blipFill>
        <p:spPr>
          <a:xfrm>
            <a:off x="658368" y="1781125"/>
            <a:ext cx="5806440" cy="3286605"/>
          </a:xfrm>
          <a:prstGeom prst="rect">
            <a:avLst/>
          </a:prstGeom>
        </p:spPr>
      </p:pic>
      <p:sp>
        <p:nvSpPr>
          <p:cNvPr id="8" name="Rectangle 7"/>
          <p:cNvSpPr/>
          <p:nvPr/>
        </p:nvSpPr>
        <p:spPr>
          <a:xfrm>
            <a:off x="6629400" y="1298448"/>
            <a:ext cx="4526280" cy="18288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0568" y="1463039"/>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9C46A"/>
                </a:solidFill>
                <a:latin typeface="Microsoft YaHei"/>
              </a:rPr>
              <a:t>图表内容</a:t>
            </a:r>
          </a:p>
        </p:txBody>
      </p:sp>
      <p:sp>
        <p:nvSpPr>
          <p:cNvPr id="10" name="TextBox 9"/>
          <p:cNvSpPr txBox="1"/>
          <p:nvPr/>
        </p:nvSpPr>
        <p:spPr>
          <a:xfrm>
            <a:off x="6830568" y="1828800"/>
            <a:ext cx="4123944"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左图展示UAV速度变化引起的飞行能耗变化，并叠加优化轨迹中的速度序列。横轴表示时隙或速度采样点，纵轴表示相应能耗。曲线的上凸趋势来自公式页中的速度平方项。</a:t>
            </a:r>
          </a:p>
        </p:txBody>
      </p:sp>
      <p:sp>
        <p:nvSpPr>
          <p:cNvPr id="11" name="Rectangle 10"/>
          <p:cNvSpPr/>
          <p:nvPr/>
        </p:nvSpPr>
        <p:spPr>
          <a:xfrm>
            <a:off x="6629400" y="3456432"/>
            <a:ext cx="4526280" cy="20574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30568" y="3621024"/>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结果含义</a:t>
            </a:r>
          </a:p>
        </p:txBody>
      </p:sp>
      <p:sp>
        <p:nvSpPr>
          <p:cNvPr id="13" name="TextBox 12"/>
          <p:cNvSpPr txBox="1"/>
          <p:nvPr/>
        </p:nvSpPr>
        <p:spPr>
          <a:xfrm>
            <a:off x="6830568" y="3986783"/>
            <a:ext cx="41239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该图解释为什么轨迹优化不能无限靠近所有高风险节点：若路径弯折过大，飞行能耗会抵消安全数据收益。SCA轨迹更新需要在异常节点收益、RIS覆盖收益和机动代价之间折中，这正是后续轨迹结果呈现“向高风险区域偏移但不过度绕飞”的原因。</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Energy model validation</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33/77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OBJECTIVE</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安全数据能效最大化问题</a:t>
            </a:r>
          </a:p>
        </p:txBody>
      </p:sp>
      <p:sp>
        <p:nvSpPr>
          <p:cNvPr id="7" name="Rectangle 6"/>
          <p:cNvSpPr/>
          <p:nvPr/>
        </p:nvSpPr>
        <p:spPr>
          <a:xfrm>
            <a:off x="777240" y="1234440"/>
            <a:ext cx="10607040" cy="416052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435608"/>
            <a:ext cx="1014984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主优化问题</a:t>
            </a:r>
          </a:p>
        </p:txBody>
      </p:sp>
      <p:pic>
        <p:nvPicPr>
          <p:cNvPr id="9" name="Picture 8" descr="main_optimization.png"/>
          <p:cNvPicPr>
            <a:picLocks noChangeAspect="1"/>
          </p:cNvPicPr>
          <p:nvPr/>
        </p:nvPicPr>
        <p:blipFill>
          <a:blip r:embed="rId2"/>
          <a:stretch>
            <a:fillRect/>
          </a:stretch>
        </p:blipFill>
        <p:spPr>
          <a:xfrm>
            <a:off x="3041841" y="1755647"/>
            <a:ext cx="6071473" cy="3498485"/>
          </a:xfrm>
          <a:prstGeom prst="rect">
            <a:avLst/>
          </a:prstGeom>
        </p:spPr>
      </p:pic>
      <p:sp>
        <p:nvSpPr>
          <p:cNvPr id="10" name="TextBox 9"/>
          <p:cNvSpPr txBox="1"/>
          <p:nvPr/>
        </p:nvSpPr>
        <p:spPr>
          <a:xfrm>
            <a:off x="868680" y="5596128"/>
            <a:ext cx="10424160" cy="512833"/>
          </a:xfrm>
          <a:prstGeom prst="rect">
            <a:avLst/>
          </a:prstGeom>
          <a:noFill/>
        </p:spPr>
        <p:txBody>
          <a:bodyPr wrap="square" lIns="45720" tIns="27432" rIns="45720" bIns="27432" anchor="t">
            <a:spAutoFit/>
          </a:bodyPr>
          <a:lstStyle/>
          <a:p>
            <a:pPr algn="l">
              <a:lnSpc>
                <a:spcPct val="110000"/>
              </a:lnSpc>
              <a:spcAft>
                <a:spcPts val="200"/>
              </a:spcAft>
            </a:pPr>
            <a:r>
              <a:rPr sz="1400" b="1" dirty="0">
                <a:solidFill>
                  <a:srgbClr val="E76F51"/>
                </a:solidFill>
                <a:latin typeface="Microsoft YaHei"/>
              </a:rPr>
              <a:t>其中分子表示风险加权后的安全数据收益，分母表示系统总能耗，决策变量汇总轨迹、RIS相位、功率、带宽、调度、安全数据量和密钥分配。该问题同时包含分式目标、离散相位、二进制调度和非凸信道耦合。</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34/77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OBJECTIVE DERIVATION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目标函数构造逻辑</a:t>
            </a:r>
          </a:p>
        </p:txBody>
      </p:sp>
      <p:sp>
        <p:nvSpPr>
          <p:cNvPr id="7" name="Rectangle 6"/>
          <p:cNvSpPr/>
          <p:nvPr/>
        </p:nvSpPr>
        <p:spPr>
          <a:xfrm>
            <a:off x="777240" y="1325880"/>
            <a:ext cx="5166360" cy="205740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527048"/>
            <a:ext cx="470916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收益项</a:t>
            </a:r>
          </a:p>
        </p:txBody>
      </p:sp>
      <p:pic>
        <p:nvPicPr>
          <p:cNvPr id="9" name="Picture 8" descr="objective_benefit.png"/>
          <p:cNvPicPr>
            <a:picLocks noChangeAspect="1"/>
          </p:cNvPicPr>
          <p:nvPr/>
        </p:nvPicPr>
        <p:blipFill>
          <a:blip r:embed="rId2"/>
          <a:stretch>
            <a:fillRect/>
          </a:stretch>
        </p:blipFill>
        <p:spPr>
          <a:xfrm>
            <a:off x="1419356" y="1984248"/>
            <a:ext cx="4450243" cy="1289304"/>
          </a:xfrm>
          <a:prstGeom prst="rect">
            <a:avLst/>
          </a:prstGeom>
        </p:spPr>
      </p:pic>
      <p:sp>
        <p:nvSpPr>
          <p:cNvPr id="10" name="Rectangle 9"/>
          <p:cNvSpPr/>
          <p:nvPr/>
        </p:nvSpPr>
        <p:spPr>
          <a:xfrm>
            <a:off x="6217920" y="1325880"/>
            <a:ext cx="5166360" cy="205740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527048"/>
            <a:ext cx="470916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9C46A"/>
                </a:solidFill>
                <a:latin typeface="Microsoft YaHei"/>
              </a:rPr>
              <a:t>能耗与比值</a:t>
            </a:r>
          </a:p>
        </p:txBody>
      </p:sp>
      <p:pic>
        <p:nvPicPr>
          <p:cNvPr id="12" name="Picture 11" descr="objective_ratio.png"/>
          <p:cNvPicPr>
            <a:picLocks noChangeAspect="1"/>
          </p:cNvPicPr>
          <p:nvPr/>
        </p:nvPicPr>
        <p:blipFill>
          <a:blip r:embed="rId3"/>
          <a:stretch>
            <a:fillRect/>
          </a:stretch>
        </p:blipFill>
        <p:spPr>
          <a:xfrm>
            <a:off x="6860036" y="1984247"/>
            <a:ext cx="4478654" cy="1297535"/>
          </a:xfrm>
          <a:prstGeom prst="rect">
            <a:avLst/>
          </a:prstGeom>
        </p:spPr>
      </p:pic>
      <p:sp>
        <p:nvSpPr>
          <p:cNvPr id="13" name="Rectangle 12"/>
          <p:cNvSpPr/>
          <p:nvPr/>
        </p:nvSpPr>
        <p:spPr>
          <a:xfrm>
            <a:off x="777240" y="3703320"/>
            <a:ext cx="5166360" cy="173736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3867911"/>
            <a:ext cx="476402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推导说明</a:t>
            </a:r>
          </a:p>
        </p:txBody>
      </p:sp>
      <p:sp>
        <p:nvSpPr>
          <p:cNvPr id="15" name="TextBox 14"/>
          <p:cNvSpPr txBox="1"/>
          <p:nvPr/>
        </p:nvSpPr>
        <p:spPr>
          <a:xfrm>
            <a:off x="978408" y="4233672"/>
            <a:ext cx="4764024" cy="785471"/>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收益项定义为风险加权后的安全数据量：磁异常越强、信息越过期，任务权重越高。分母采用系统总能耗，覆盖飞行、发射、电路和RIS硬件能耗。</a:t>
            </a:r>
          </a:p>
        </p:txBody>
      </p:sp>
      <p:sp>
        <p:nvSpPr>
          <p:cNvPr id="16" name="Rectangle 15"/>
          <p:cNvSpPr/>
          <p:nvPr/>
        </p:nvSpPr>
        <p:spPr>
          <a:xfrm>
            <a:off x="6217920" y="3703320"/>
            <a:ext cx="5166360" cy="173736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3867911"/>
            <a:ext cx="476402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9C46A"/>
                </a:solidFill>
                <a:latin typeface="Microsoft YaHei"/>
              </a:rPr>
              <a:t>优化含义</a:t>
            </a:r>
          </a:p>
        </p:txBody>
      </p:sp>
      <p:sp>
        <p:nvSpPr>
          <p:cNvPr id="18" name="TextBox 17"/>
          <p:cNvSpPr txBox="1"/>
          <p:nvPr/>
        </p:nvSpPr>
        <p:spPr>
          <a:xfrm>
            <a:off x="6419088" y="4233672"/>
            <a:ext cx="4764024" cy="785471"/>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最大化安全能效要求算法在额外能耗、密钥消耗和风险收益之间做折中。该比值目标也是后续引入Dinkelbach分式规划的直接原因</a:t>
            </a:r>
            <a:r>
              <a:rPr sz="1400" b="0" dirty="0">
                <a:solidFill>
                  <a:srgbClr val="16202A"/>
                </a:solidFill>
                <a:latin typeface="Microsoft YaHei"/>
              </a:rPr>
              <a:t>。</a:t>
            </a:r>
          </a:p>
        </p:txBody>
      </p:sp>
      <p:sp>
        <p:nvSpPr>
          <p:cNvPr id="19" name="Rectangle 18"/>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21" name="TextBox 20"/>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35/77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NONCONVEXITY</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三、优化建模</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非凸性来源与算法分解依据</a:t>
            </a:r>
          </a:p>
        </p:txBody>
      </p:sp>
      <p:sp>
        <p:nvSpPr>
          <p:cNvPr id="7" name="TextBox 6"/>
          <p:cNvSpPr txBox="1"/>
          <p:nvPr/>
        </p:nvSpPr>
        <p:spPr>
          <a:xfrm>
            <a:off x="868680" y="1298448"/>
            <a:ext cx="32004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76F51"/>
                </a:solidFill>
                <a:latin typeface="Aptos"/>
              </a:rPr>
              <a:t>1</a:t>
            </a:r>
          </a:p>
        </p:txBody>
      </p:sp>
      <p:sp>
        <p:nvSpPr>
          <p:cNvPr id="8" name="TextBox 7"/>
          <p:cNvSpPr txBox="1"/>
          <p:nvPr/>
        </p:nvSpPr>
        <p:spPr>
          <a:xfrm>
            <a:off x="1325880" y="1280160"/>
            <a:ext cx="1508760" cy="292608"/>
          </a:xfrm>
          <a:prstGeom prst="rect">
            <a:avLst/>
          </a:prstGeom>
          <a:noFill/>
        </p:spPr>
        <p:txBody>
          <a:bodyPr wrap="square" lIns="45720" tIns="27432" rIns="45720" bIns="27432" anchor="t">
            <a:spAutoFit/>
          </a:bodyPr>
          <a:lstStyle/>
          <a:p>
            <a:pPr algn="l">
              <a:lnSpc>
                <a:spcPct val="105000"/>
              </a:lnSpc>
              <a:spcAft>
                <a:spcPts val="200"/>
              </a:spcAft>
            </a:pPr>
            <a:r>
              <a:rPr sz="1550" b="1">
                <a:solidFill>
                  <a:srgbClr val="16202A"/>
                </a:solidFill>
                <a:latin typeface="Microsoft YaHei"/>
              </a:rPr>
              <a:t>分式目标</a:t>
            </a:r>
          </a:p>
        </p:txBody>
      </p:sp>
      <p:sp>
        <p:nvSpPr>
          <p:cNvPr id="9" name="TextBox 8"/>
          <p:cNvSpPr txBox="1"/>
          <p:nvPr/>
        </p:nvSpPr>
        <p:spPr>
          <a:xfrm>
            <a:off x="2971800" y="1280160"/>
            <a:ext cx="754380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安全数据收益除以总能耗，需要 Dinkelbach 参数化。</a:t>
            </a:r>
          </a:p>
        </p:txBody>
      </p:sp>
      <p:sp>
        <p:nvSpPr>
          <p:cNvPr id="10" name="TextBox 9"/>
          <p:cNvSpPr txBox="1"/>
          <p:nvPr/>
        </p:nvSpPr>
        <p:spPr>
          <a:xfrm>
            <a:off x="868680" y="2029967"/>
            <a:ext cx="32004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76F51"/>
                </a:solidFill>
                <a:latin typeface="Aptos"/>
              </a:rPr>
              <a:t>2</a:t>
            </a:r>
          </a:p>
        </p:txBody>
      </p:sp>
      <p:sp>
        <p:nvSpPr>
          <p:cNvPr id="11" name="TextBox 10"/>
          <p:cNvSpPr txBox="1"/>
          <p:nvPr/>
        </p:nvSpPr>
        <p:spPr>
          <a:xfrm>
            <a:off x="1325880" y="2011679"/>
            <a:ext cx="1508760" cy="292608"/>
          </a:xfrm>
          <a:prstGeom prst="rect">
            <a:avLst/>
          </a:prstGeom>
          <a:noFill/>
        </p:spPr>
        <p:txBody>
          <a:bodyPr wrap="square" lIns="45720" tIns="27432" rIns="45720" bIns="27432" anchor="t">
            <a:spAutoFit/>
          </a:bodyPr>
          <a:lstStyle/>
          <a:p>
            <a:pPr algn="l">
              <a:lnSpc>
                <a:spcPct val="105000"/>
              </a:lnSpc>
              <a:spcAft>
                <a:spcPts val="200"/>
              </a:spcAft>
            </a:pPr>
            <a:r>
              <a:rPr sz="1550" b="1">
                <a:solidFill>
                  <a:srgbClr val="16202A"/>
                </a:solidFill>
                <a:latin typeface="Microsoft YaHei"/>
              </a:rPr>
              <a:t>离散变量</a:t>
            </a:r>
          </a:p>
        </p:txBody>
      </p:sp>
      <p:sp>
        <p:nvSpPr>
          <p:cNvPr id="12" name="TextBox 11"/>
          <p:cNvSpPr txBox="1"/>
          <p:nvPr/>
        </p:nvSpPr>
        <p:spPr>
          <a:xfrm>
            <a:off x="2971800" y="2011679"/>
            <a:ext cx="754380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节点调度和RIS 2-bit相位引入组合搜索。</a:t>
            </a:r>
          </a:p>
        </p:txBody>
      </p:sp>
      <p:sp>
        <p:nvSpPr>
          <p:cNvPr id="13" name="TextBox 12"/>
          <p:cNvSpPr txBox="1"/>
          <p:nvPr/>
        </p:nvSpPr>
        <p:spPr>
          <a:xfrm>
            <a:off x="868680" y="2761488"/>
            <a:ext cx="32004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76F51"/>
                </a:solidFill>
                <a:latin typeface="Aptos"/>
              </a:rPr>
              <a:t>3</a:t>
            </a:r>
          </a:p>
        </p:txBody>
      </p:sp>
      <p:sp>
        <p:nvSpPr>
          <p:cNvPr id="14" name="TextBox 13"/>
          <p:cNvSpPr txBox="1"/>
          <p:nvPr/>
        </p:nvSpPr>
        <p:spPr>
          <a:xfrm>
            <a:off x="1325880" y="2743200"/>
            <a:ext cx="1508760" cy="292608"/>
          </a:xfrm>
          <a:prstGeom prst="rect">
            <a:avLst/>
          </a:prstGeom>
          <a:noFill/>
        </p:spPr>
        <p:txBody>
          <a:bodyPr wrap="square" lIns="45720" tIns="27432" rIns="45720" bIns="27432" anchor="t">
            <a:spAutoFit/>
          </a:bodyPr>
          <a:lstStyle/>
          <a:p>
            <a:pPr algn="l">
              <a:lnSpc>
                <a:spcPct val="105000"/>
              </a:lnSpc>
              <a:spcAft>
                <a:spcPts val="200"/>
              </a:spcAft>
            </a:pPr>
            <a:r>
              <a:rPr sz="1550" b="1">
                <a:solidFill>
                  <a:srgbClr val="16202A"/>
                </a:solidFill>
                <a:latin typeface="Microsoft YaHei"/>
              </a:rPr>
              <a:t>非凸信道</a:t>
            </a:r>
          </a:p>
        </p:txBody>
      </p:sp>
      <p:sp>
        <p:nvSpPr>
          <p:cNvPr id="15" name="TextBox 14"/>
          <p:cNvSpPr txBox="1"/>
          <p:nvPr/>
        </p:nvSpPr>
        <p:spPr>
          <a:xfrm>
            <a:off x="2971800" y="2743200"/>
            <a:ext cx="754380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UAV位置进入距离、路径损耗和RIS反射链路。</a:t>
            </a:r>
          </a:p>
        </p:txBody>
      </p:sp>
      <p:sp>
        <p:nvSpPr>
          <p:cNvPr id="16" name="TextBox 15"/>
          <p:cNvSpPr txBox="1"/>
          <p:nvPr/>
        </p:nvSpPr>
        <p:spPr>
          <a:xfrm>
            <a:off x="868680" y="3493008"/>
            <a:ext cx="32004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76F51"/>
                </a:solidFill>
                <a:latin typeface="Aptos"/>
              </a:rPr>
              <a:t>4</a:t>
            </a:r>
          </a:p>
        </p:txBody>
      </p:sp>
      <p:sp>
        <p:nvSpPr>
          <p:cNvPr id="17" name="TextBox 16"/>
          <p:cNvSpPr txBox="1"/>
          <p:nvPr/>
        </p:nvSpPr>
        <p:spPr>
          <a:xfrm>
            <a:off x="1325880" y="3474720"/>
            <a:ext cx="1508760" cy="292608"/>
          </a:xfrm>
          <a:prstGeom prst="rect">
            <a:avLst/>
          </a:prstGeom>
          <a:noFill/>
        </p:spPr>
        <p:txBody>
          <a:bodyPr wrap="square" lIns="45720" tIns="27432" rIns="45720" bIns="27432" anchor="t">
            <a:spAutoFit/>
          </a:bodyPr>
          <a:lstStyle/>
          <a:p>
            <a:pPr algn="l">
              <a:lnSpc>
                <a:spcPct val="105000"/>
              </a:lnSpc>
              <a:spcAft>
                <a:spcPts val="200"/>
              </a:spcAft>
            </a:pPr>
            <a:r>
              <a:rPr sz="1550" b="1">
                <a:solidFill>
                  <a:srgbClr val="16202A"/>
                </a:solidFill>
                <a:latin typeface="Microsoft YaHei"/>
              </a:rPr>
              <a:t>资源耦合</a:t>
            </a:r>
          </a:p>
        </p:txBody>
      </p:sp>
      <p:sp>
        <p:nvSpPr>
          <p:cNvPr id="18" name="TextBox 17"/>
          <p:cNvSpPr txBox="1"/>
          <p:nvPr/>
        </p:nvSpPr>
        <p:spPr>
          <a:xfrm>
            <a:off x="2971800" y="3474720"/>
            <a:ext cx="754380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功率、带宽、密钥和安全数据量互相限制。</a:t>
            </a:r>
          </a:p>
        </p:txBody>
      </p:sp>
      <p:sp>
        <p:nvSpPr>
          <p:cNvPr id="19" name="TextBox 18"/>
          <p:cNvSpPr txBox="1"/>
          <p:nvPr/>
        </p:nvSpPr>
        <p:spPr>
          <a:xfrm>
            <a:off x="868680" y="4224528"/>
            <a:ext cx="32004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76F51"/>
                </a:solidFill>
                <a:latin typeface="Aptos"/>
              </a:rPr>
              <a:t>5</a:t>
            </a:r>
          </a:p>
        </p:txBody>
      </p:sp>
      <p:sp>
        <p:nvSpPr>
          <p:cNvPr id="20" name="TextBox 19"/>
          <p:cNvSpPr txBox="1"/>
          <p:nvPr/>
        </p:nvSpPr>
        <p:spPr>
          <a:xfrm>
            <a:off x="1325880" y="4206240"/>
            <a:ext cx="1508760" cy="292608"/>
          </a:xfrm>
          <a:prstGeom prst="rect">
            <a:avLst/>
          </a:prstGeom>
          <a:noFill/>
        </p:spPr>
        <p:txBody>
          <a:bodyPr wrap="square" lIns="45720" tIns="27432" rIns="45720" bIns="27432" anchor="t">
            <a:spAutoFit/>
          </a:bodyPr>
          <a:lstStyle/>
          <a:p>
            <a:pPr algn="l">
              <a:lnSpc>
                <a:spcPct val="105000"/>
              </a:lnSpc>
              <a:spcAft>
                <a:spcPts val="200"/>
              </a:spcAft>
            </a:pPr>
            <a:r>
              <a:rPr sz="1550" b="1">
                <a:solidFill>
                  <a:srgbClr val="16202A"/>
                </a:solidFill>
                <a:latin typeface="Microsoft YaHei"/>
              </a:rPr>
              <a:t>轨迹约束</a:t>
            </a:r>
          </a:p>
        </p:txBody>
      </p:sp>
      <p:sp>
        <p:nvSpPr>
          <p:cNvPr id="21" name="TextBox 20"/>
          <p:cNvSpPr txBox="1"/>
          <p:nvPr/>
        </p:nvSpPr>
        <p:spPr>
          <a:xfrm>
            <a:off x="2971800" y="4206240"/>
            <a:ext cx="7543800" cy="310896"/>
          </a:xfrm>
          <a:prstGeom prst="rect">
            <a:avLst/>
          </a:prstGeom>
          <a:noFill/>
        </p:spPr>
        <p:txBody>
          <a:bodyPr wrap="square" lIns="45720" tIns="27432" rIns="45720" bIns="27432" anchor="t">
            <a:spAutoFit/>
          </a:bodyPr>
          <a:lstStyle/>
          <a:p>
            <a:pPr algn="l">
              <a:lnSpc>
                <a:spcPct val="105000"/>
              </a:lnSpc>
              <a:spcAft>
                <a:spcPts val="200"/>
              </a:spcAft>
            </a:pPr>
            <a:r>
              <a:rPr sz="1450" b="0">
                <a:solidFill>
                  <a:srgbClr val="56606A"/>
                </a:solidFill>
                <a:latin typeface="Microsoft YaHei"/>
              </a:rPr>
              <a:t>速度、电量和初末点限制让每个时隙不独立。</a:t>
            </a:r>
          </a:p>
        </p:txBody>
      </p:sp>
      <p:sp>
        <p:nvSpPr>
          <p:cNvPr id="22" name="TextBox 21"/>
          <p:cNvSpPr txBox="1"/>
          <p:nvPr/>
        </p:nvSpPr>
        <p:spPr>
          <a:xfrm>
            <a:off x="868680" y="5577840"/>
            <a:ext cx="9875520" cy="347472"/>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16202A"/>
                </a:solidFill>
                <a:latin typeface="Microsoft YaHei"/>
              </a:rPr>
              <a:t>因此算法不能只做单一模块优化，而要把分式规划、交替优化、凸子问题和轨迹近似组合起来。</a:t>
            </a:r>
          </a:p>
        </p:txBody>
      </p:sp>
      <p:sp>
        <p:nvSpPr>
          <p:cNvPr id="23" name="Rectangle 22"/>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25" name="TextBox 24"/>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36/77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96012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2A9D8F"/>
                </a:solidFill>
                <a:latin typeface="Aptos"/>
              </a:rPr>
              <a:t>四</a:t>
            </a:r>
          </a:p>
        </p:txBody>
      </p:sp>
      <p:sp>
        <p:nvSpPr>
          <p:cNvPr id="4" name="TextBox 3"/>
          <p:cNvSpPr txBox="1"/>
          <p:nvPr/>
        </p:nvSpPr>
        <p:spPr>
          <a:xfrm>
            <a:off x="1664208" y="658368"/>
            <a:ext cx="8046720" cy="548640"/>
          </a:xfrm>
          <a:prstGeom prst="rect">
            <a:avLst/>
          </a:prstGeom>
          <a:noFill/>
        </p:spPr>
        <p:txBody>
          <a:bodyPr wrap="square" lIns="45720" tIns="27432" rIns="45720" bIns="27432" anchor="t">
            <a:spAutoFit/>
          </a:bodyPr>
          <a:lstStyle/>
          <a:p>
            <a:pPr algn="l">
              <a:lnSpc>
                <a:spcPct val="105000"/>
              </a:lnSpc>
              <a:spcAft>
                <a:spcPts val="200"/>
              </a:spcAft>
            </a:pPr>
            <a:r>
              <a:rPr sz="2800" b="1">
                <a:solidFill>
                  <a:srgbClr val="FFFFFF"/>
                </a:solidFill>
                <a:latin typeface="Microsoft YaHei"/>
              </a:rPr>
              <a:t>Q-RIS-UAV-AO算法</a:t>
            </a:r>
          </a:p>
        </p:txBody>
      </p:sp>
      <p:sp>
        <p:nvSpPr>
          <p:cNvPr id="5" name="TextBox 4"/>
          <p:cNvSpPr txBox="1"/>
          <p:nvPr/>
        </p:nvSpPr>
        <p:spPr>
          <a:xfrm>
            <a:off x="1691640" y="1389888"/>
            <a:ext cx="9052560" cy="502920"/>
          </a:xfrm>
          <a:prstGeom prst="rect">
            <a:avLst/>
          </a:prstGeom>
          <a:noFill/>
        </p:spPr>
        <p:txBody>
          <a:bodyPr wrap="square" lIns="45720" tIns="27432" rIns="45720" bIns="27432" anchor="t">
            <a:spAutoFit/>
          </a:bodyPr>
          <a:lstStyle/>
          <a:p>
            <a:pPr algn="l">
              <a:lnSpc>
                <a:spcPct val="105000"/>
              </a:lnSpc>
              <a:spcAft>
                <a:spcPts val="200"/>
              </a:spcAft>
            </a:pPr>
            <a:r>
              <a:rPr sz="1500" b="0">
                <a:solidFill>
                  <a:srgbClr val="DAE2E7"/>
                </a:solidFill>
                <a:latin typeface="Microsoft YaHei"/>
              </a:rPr>
              <a:t>算法的目标是把不可直接求解的混合整数非凸分式问题，拆成一组有物理含义、可复现的子问题。</a:t>
            </a:r>
          </a:p>
        </p:txBody>
      </p:sp>
      <p:sp>
        <p:nvSpPr>
          <p:cNvPr id="6" name="TextBox 5"/>
          <p:cNvSpPr txBox="1"/>
          <p:nvPr/>
        </p:nvSpPr>
        <p:spPr>
          <a:xfrm>
            <a:off x="1719072" y="2331720"/>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1</a:t>
            </a:r>
          </a:p>
        </p:txBody>
      </p:sp>
      <p:sp>
        <p:nvSpPr>
          <p:cNvPr id="7" name="TextBox 6"/>
          <p:cNvSpPr txBox="1"/>
          <p:nvPr/>
        </p:nvSpPr>
        <p:spPr>
          <a:xfrm>
            <a:off x="2148840" y="2313432"/>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Dinkelbach 处理分式安全能效。</a:t>
            </a:r>
          </a:p>
        </p:txBody>
      </p:sp>
      <p:sp>
        <p:nvSpPr>
          <p:cNvPr id="8" name="TextBox 7"/>
          <p:cNvSpPr txBox="1"/>
          <p:nvPr/>
        </p:nvSpPr>
        <p:spPr>
          <a:xfrm>
            <a:off x="1719072" y="2990087"/>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2</a:t>
            </a:r>
          </a:p>
        </p:txBody>
      </p:sp>
      <p:sp>
        <p:nvSpPr>
          <p:cNvPr id="9" name="TextBox 8"/>
          <p:cNvSpPr txBox="1"/>
          <p:nvPr/>
        </p:nvSpPr>
        <p:spPr>
          <a:xfrm>
            <a:off x="2148840" y="2971799"/>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AO 分别更新调度、资源、RIS相位和UAV轨迹。</a:t>
            </a:r>
          </a:p>
        </p:txBody>
      </p:sp>
      <p:sp>
        <p:nvSpPr>
          <p:cNvPr id="10" name="TextBox 9"/>
          <p:cNvSpPr txBox="1"/>
          <p:nvPr/>
        </p:nvSpPr>
        <p:spPr>
          <a:xfrm>
            <a:off x="1719072" y="3648456"/>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3</a:t>
            </a:r>
          </a:p>
        </p:txBody>
      </p:sp>
      <p:sp>
        <p:nvSpPr>
          <p:cNvPr id="11" name="TextBox 10"/>
          <p:cNvSpPr txBox="1"/>
          <p:nvPr/>
        </p:nvSpPr>
        <p:spPr>
          <a:xfrm>
            <a:off x="2148840" y="3630168"/>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CVXPY求解资源分配凸子问题，SCA更新轨迹。</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Section transition</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37/77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ALGORITHM INTRO</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算法导言：Dinkelbach-AO-SCA分解思路</a:t>
            </a:r>
          </a:p>
        </p:txBody>
      </p:sp>
      <p:sp>
        <p:nvSpPr>
          <p:cNvPr id="7" name="Rectangle 6"/>
          <p:cNvSpPr/>
          <p:nvPr/>
        </p:nvSpPr>
        <p:spPr>
          <a:xfrm>
            <a:off x="777240" y="1417320"/>
            <a:ext cx="10652760" cy="38862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673352"/>
            <a:ext cx="10012680" cy="595548"/>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完整问题不能直接交给一个通用凸优化器求解，原因在于分式目标、离散调度、RIS离散相位和轨迹非凸项同时存在。若直接枚举，组合复杂度会随着节点数、时隙数和RIS单元数快速增长。</a:t>
            </a:r>
          </a:p>
        </p:txBody>
      </p:sp>
      <p:sp>
        <p:nvSpPr>
          <p:cNvPr id="9" name="TextBox 8"/>
          <p:cNvSpPr txBox="1"/>
          <p:nvPr/>
        </p:nvSpPr>
        <p:spPr>
          <a:xfrm>
            <a:off x="1097280" y="2843784"/>
            <a:ext cx="10012680" cy="876266"/>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本项目采用分层分解：外层Dinkelbach把安全数据能效比值转化为参数化差分问题；内层交替优化固定其余变量，依次更新调度、资源、RIS相位和UAV轨迹；连续资源子问题由CVXPY求解，轨迹子问题用逐次凸近似构造局部可解更新。</a:t>
            </a:r>
          </a:p>
        </p:txBody>
      </p:sp>
      <p:sp>
        <p:nvSpPr>
          <p:cNvPr id="10" name="TextBox 9"/>
          <p:cNvSpPr txBox="1"/>
          <p:nvPr/>
        </p:nvSpPr>
        <p:spPr>
          <a:xfrm>
            <a:off x="1097280" y="4014216"/>
            <a:ext cx="10012680" cy="314830"/>
          </a:xfrm>
          <a:prstGeom prst="rect">
            <a:avLst/>
          </a:prstGeom>
          <a:noFill/>
        </p:spPr>
        <p:txBody>
          <a:bodyPr wrap="square" lIns="45720" tIns="27432" rIns="45720" bIns="27432" anchor="t">
            <a:spAutoFit/>
          </a:bodyPr>
          <a:lstStyle/>
          <a:p>
            <a:pPr algn="l">
              <a:lnSpc>
                <a:spcPct val="114000"/>
              </a:lnSpc>
              <a:spcAft>
                <a:spcPts val="200"/>
              </a:spcAft>
            </a:pPr>
            <a:r>
              <a:rPr sz="1600" b="0" dirty="0" err="1">
                <a:solidFill>
                  <a:srgbClr val="16202A"/>
                </a:solidFill>
                <a:latin typeface="Microsoft YaHei"/>
              </a:rPr>
              <a:t>该分解强调可解释、可复现和约束可行。每一步都有明确的物理意义，并且都能在实验图中看到对应效果</a:t>
            </a:r>
            <a:r>
              <a:rPr sz="1600" b="0" dirty="0">
                <a:solidFill>
                  <a:srgbClr val="16202A"/>
                </a:solidFill>
                <a:latin typeface="Microsoft YaHei"/>
              </a:rPr>
              <a:t>。</a:t>
            </a:r>
          </a:p>
        </p:txBody>
      </p:sp>
      <p:sp>
        <p:nvSpPr>
          <p:cNvPr id="11" name="TextBox 10"/>
          <p:cNvSpPr txBox="1"/>
          <p:nvPr/>
        </p:nvSpPr>
        <p:spPr>
          <a:xfrm>
            <a:off x="868680" y="5742432"/>
            <a:ext cx="10287000" cy="475488"/>
          </a:xfrm>
          <a:prstGeom prst="rect">
            <a:avLst/>
          </a:prstGeom>
          <a:noFill/>
        </p:spPr>
        <p:txBody>
          <a:bodyPr wrap="square" lIns="45720" tIns="27432" rIns="45720" bIns="27432" anchor="t">
            <a:spAutoFit/>
          </a:bodyPr>
          <a:lstStyle/>
          <a:p>
            <a:pPr algn="l">
              <a:lnSpc>
                <a:spcPct val="112000"/>
              </a:lnSpc>
              <a:spcAft>
                <a:spcPts val="200"/>
              </a:spcAft>
            </a:pPr>
            <a:r>
              <a:rPr sz="1400" b="1">
                <a:solidFill>
                  <a:srgbClr val="2A9D8F"/>
                </a:solidFill>
                <a:latin typeface="Microsoft YaHei"/>
              </a:rPr>
              <a:t>本章作用：说明为什么联合优化问题要被拆成四类可计算子问题。</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Academic narrative bridge</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38/77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DECOMPOSITION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混合整数非凸分式问题的分解框架</a:t>
            </a:r>
          </a:p>
        </p:txBody>
      </p:sp>
      <p:pic>
        <p:nvPicPr>
          <p:cNvPr id="7" name="Picture 6" descr="optimization_theory_gpt.png"/>
          <p:cNvPicPr>
            <a:picLocks noChangeAspect="1"/>
          </p:cNvPicPr>
          <p:nvPr/>
        </p:nvPicPr>
        <p:blipFill>
          <a:blip r:embed="rId2"/>
          <a:stretch>
            <a:fillRect/>
          </a:stretch>
        </p:blipFill>
        <p:spPr>
          <a:xfrm>
            <a:off x="813816" y="1045464"/>
            <a:ext cx="8108441" cy="5405628"/>
          </a:xfrm>
          <a:prstGeom prst="rect">
            <a:avLst/>
          </a:prstGeom>
        </p:spPr>
      </p:pic>
      <p:sp>
        <p:nvSpPr>
          <p:cNvPr id="8" name="Rectangle 7"/>
          <p:cNvSpPr/>
          <p:nvPr/>
        </p:nvSpPr>
        <p:spPr>
          <a:xfrm>
            <a:off x="9052559"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39"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机制说明</a:t>
            </a:r>
          </a:p>
        </p:txBody>
      </p:sp>
      <p:sp>
        <p:nvSpPr>
          <p:cNvPr id="10" name="TextBox 9"/>
          <p:cNvSpPr txBox="1"/>
          <p:nvPr/>
        </p:nvSpPr>
        <p:spPr>
          <a:xfrm>
            <a:off x="9235439" y="1965960"/>
            <a:ext cx="2446782" cy="2246962"/>
          </a:xfrm>
          <a:prstGeom prst="rect">
            <a:avLst/>
          </a:prstGeom>
          <a:noFill/>
        </p:spPr>
        <p:txBody>
          <a:bodyPr wrap="square" lIns="45720" tIns="27432" rIns="45720" bIns="27432" anchor="t">
            <a:spAutoFit/>
          </a:bodyPr>
          <a:lstStyle/>
          <a:p>
            <a:pPr algn="l">
              <a:lnSpc>
                <a:spcPct val="114000"/>
              </a:lnSpc>
              <a:spcAft>
                <a:spcPts val="200"/>
              </a:spcAft>
            </a:pPr>
            <a:r>
              <a:rPr sz="1400" b="0" dirty="0" err="1">
                <a:solidFill>
                  <a:srgbClr val="16202A"/>
                </a:solidFill>
                <a:latin typeface="Microsoft YaHei"/>
              </a:rPr>
              <a:t>该图展示算法分解的理论逻辑：外层使用Dinkelbach方法处理安全能效分式目标，内层使用交替优化（Alternating</a:t>
            </a:r>
            <a:r>
              <a:rPr sz="1400" b="0" dirty="0">
                <a:solidFill>
                  <a:srgbClr val="16202A"/>
                </a:solidFill>
                <a:latin typeface="Microsoft YaHei"/>
              </a:rPr>
              <a:t> Optimization, </a:t>
            </a:r>
            <a:r>
              <a:rPr sz="1400" b="0" dirty="0" err="1">
                <a:solidFill>
                  <a:srgbClr val="16202A"/>
                </a:solidFill>
                <a:latin typeface="Microsoft YaHei"/>
              </a:rPr>
              <a:t>AO）分别更新调度、资源、RIS相位和UAV轨迹。每个子问题都对应前一章的变量组，因此算法步骤与数学模型是一一对应的</a:t>
            </a:r>
            <a:r>
              <a:rPr sz="1400" b="0" dirty="0">
                <a:solidFill>
                  <a:srgbClr val="16202A"/>
                </a:solidFill>
                <a:latin typeface="Microsoft YaHei"/>
              </a:rPr>
              <a:t>。</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Optimization decomposition diagram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39/77</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DINKELBACH</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Dinkelbach分式规划变换</a:t>
            </a:r>
          </a:p>
        </p:txBody>
      </p:sp>
      <p:sp>
        <p:nvSpPr>
          <p:cNvPr id="7" name="Rectangle 6"/>
          <p:cNvSpPr/>
          <p:nvPr/>
        </p:nvSpPr>
        <p:spPr>
          <a:xfrm>
            <a:off x="777240" y="1325880"/>
            <a:ext cx="5349240" cy="443484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527048"/>
            <a:ext cx="489204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76F51"/>
                </a:solidFill>
                <a:latin typeface="Microsoft YaHei"/>
              </a:rPr>
              <a:t>推导</a:t>
            </a:r>
          </a:p>
        </p:txBody>
      </p:sp>
      <p:pic>
        <p:nvPicPr>
          <p:cNvPr id="9" name="Picture 8" descr="dinkelbach.png"/>
          <p:cNvPicPr>
            <a:picLocks noChangeAspect="1"/>
          </p:cNvPicPr>
          <p:nvPr/>
        </p:nvPicPr>
        <p:blipFill>
          <a:blip r:embed="rId2"/>
          <a:stretch>
            <a:fillRect/>
          </a:stretch>
        </p:blipFill>
        <p:spPr>
          <a:xfrm>
            <a:off x="1127760" y="2274289"/>
            <a:ext cx="5507927" cy="2647750"/>
          </a:xfrm>
          <a:prstGeom prst="rect">
            <a:avLst/>
          </a:prstGeom>
        </p:spPr>
      </p:pic>
      <p:sp>
        <p:nvSpPr>
          <p:cNvPr id="10" name="Rectangle 9"/>
          <p:cNvSpPr/>
          <p:nvPr/>
        </p:nvSpPr>
        <p:spPr>
          <a:xfrm>
            <a:off x="6446520" y="1389888"/>
            <a:ext cx="4617720" cy="1993392"/>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47688" y="1554480"/>
            <a:ext cx="42153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变换目标</a:t>
            </a:r>
          </a:p>
        </p:txBody>
      </p:sp>
      <p:sp>
        <p:nvSpPr>
          <p:cNvPr id="12" name="TextBox 11"/>
          <p:cNvSpPr txBox="1"/>
          <p:nvPr/>
        </p:nvSpPr>
        <p:spPr>
          <a:xfrm>
            <a:off x="6647688" y="1920240"/>
            <a:ext cx="4215383"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原始目标是收益与能耗之比。Dinkelbach方法引入一个能效参数，把比值最大化改写为参数化差分最大化。若当前参数低于最优能效，则存在可行解使差分值为正；若参数高于最优能效，差分值不能为正。</a:t>
            </a:r>
          </a:p>
        </p:txBody>
      </p:sp>
      <p:sp>
        <p:nvSpPr>
          <p:cNvPr id="13" name="Rectangle 12"/>
          <p:cNvSpPr/>
          <p:nvPr/>
        </p:nvSpPr>
        <p:spPr>
          <a:xfrm>
            <a:off x="6446520" y="3703320"/>
            <a:ext cx="4617720" cy="1901952"/>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7688" y="3867911"/>
            <a:ext cx="42153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迭代规则</a:t>
            </a:r>
          </a:p>
        </p:txBody>
      </p:sp>
      <p:sp>
        <p:nvSpPr>
          <p:cNvPr id="15" name="TextBox 14"/>
          <p:cNvSpPr txBox="1"/>
          <p:nvPr/>
        </p:nvSpPr>
        <p:spPr>
          <a:xfrm>
            <a:off x="6647688" y="4233672"/>
            <a:ext cx="4215383"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二式在当前参数下求解差分子问题，得到本轮联合变量。第三式用本轮收益与能耗之比更新参数，相当于把下一次搜索中心移动到当前可行解的安全能效。第四式给出停止准则：当差分残差足够接近零时，当前参数即为分式目标的近似最优值。</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40/77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DINKELBACH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Dinkelbach迭代曲线与分式目标的关系</a:t>
            </a:r>
          </a:p>
        </p:txBody>
      </p:sp>
      <p:pic>
        <p:nvPicPr>
          <p:cNvPr id="7" name="Picture 6" descr="dinkelbach_eta_gap.png"/>
          <p:cNvPicPr>
            <a:picLocks noChangeAspect="1"/>
          </p:cNvPicPr>
          <p:nvPr/>
        </p:nvPicPr>
        <p:blipFill>
          <a:blip r:embed="rId2"/>
          <a:stretch>
            <a:fillRect/>
          </a:stretch>
        </p:blipFill>
        <p:spPr>
          <a:xfrm>
            <a:off x="394495" y="1546503"/>
            <a:ext cx="6085070" cy="3516450"/>
          </a:xfrm>
          <a:prstGeom prst="rect">
            <a:avLst/>
          </a:prstGeom>
        </p:spPr>
      </p:pic>
      <p:sp>
        <p:nvSpPr>
          <p:cNvPr id="8" name="Rectangle 7"/>
          <p:cNvSpPr/>
          <p:nvPr/>
        </p:nvSpPr>
        <p:spPr>
          <a:xfrm>
            <a:off x="6629400" y="1399032"/>
            <a:ext cx="4983480" cy="164592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0568" y="1563624"/>
            <a:ext cx="45811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数学原理</a:t>
            </a:r>
          </a:p>
        </p:txBody>
      </p:sp>
      <p:sp>
        <p:nvSpPr>
          <p:cNvPr id="10" name="TextBox 9"/>
          <p:cNvSpPr txBox="1"/>
          <p:nvPr/>
        </p:nvSpPr>
        <p:spPr>
          <a:xfrm>
            <a:off x="6830568" y="1929384"/>
            <a:ext cx="4581144" cy="1035027"/>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原问题为</a:t>
            </a:r>
            <a:r>
              <a:rPr sz="1400" b="0" dirty="0">
                <a:solidFill>
                  <a:srgbClr val="16202A"/>
                </a:solidFill>
                <a:latin typeface="Microsoft YaHei"/>
              </a:rPr>
              <a:t> max 𝑭(𝒙)/𝑮(𝒙)。当 η </a:t>
            </a:r>
            <a:r>
              <a:rPr sz="1400" b="0" dirty="0" err="1">
                <a:solidFill>
                  <a:srgbClr val="16202A"/>
                </a:solidFill>
                <a:latin typeface="Microsoft YaHei"/>
              </a:rPr>
              <a:t>低于最优比值时，存在某个可行解使</a:t>
            </a:r>
            <a:r>
              <a:rPr sz="1400" b="0" dirty="0">
                <a:solidFill>
                  <a:srgbClr val="16202A"/>
                </a:solidFill>
                <a:latin typeface="Microsoft YaHei"/>
              </a:rPr>
              <a:t> 𝑭(𝒙)-η𝑮(𝒙)&gt;0；当 η </a:t>
            </a:r>
            <a:r>
              <a:rPr sz="1400" b="0" dirty="0" err="1">
                <a:solidFill>
                  <a:srgbClr val="16202A"/>
                </a:solidFill>
                <a:latin typeface="Microsoft YaHei"/>
              </a:rPr>
              <a:t>高于最优比值时，所有可行解的差分值均不会为正。因此最优比值</a:t>
            </a:r>
            <a:r>
              <a:rPr sz="1400" b="0" dirty="0">
                <a:solidFill>
                  <a:srgbClr val="16202A"/>
                </a:solidFill>
                <a:latin typeface="Microsoft YaHei"/>
              </a:rPr>
              <a:t> η⋆ </a:t>
            </a:r>
            <a:r>
              <a:rPr sz="1400" b="0" dirty="0" err="1">
                <a:solidFill>
                  <a:srgbClr val="16202A"/>
                </a:solidFill>
                <a:latin typeface="Microsoft YaHei"/>
              </a:rPr>
              <a:t>等价于方程</a:t>
            </a:r>
            <a:r>
              <a:rPr sz="1400" b="0" dirty="0">
                <a:solidFill>
                  <a:srgbClr val="16202A"/>
                </a:solidFill>
                <a:latin typeface="Microsoft YaHei"/>
              </a:rPr>
              <a:t> Φ(η⋆)=0 </a:t>
            </a:r>
            <a:r>
              <a:rPr sz="1400" b="0" dirty="0" err="1">
                <a:solidFill>
                  <a:srgbClr val="16202A"/>
                </a:solidFill>
                <a:latin typeface="Microsoft YaHei"/>
              </a:rPr>
              <a:t>的根</a:t>
            </a:r>
            <a:r>
              <a:rPr sz="1400" b="0" dirty="0">
                <a:solidFill>
                  <a:srgbClr val="16202A"/>
                </a:solidFill>
                <a:latin typeface="Microsoft YaHei"/>
              </a:rPr>
              <a:t>。</a:t>
            </a:r>
          </a:p>
        </p:txBody>
      </p:sp>
      <p:sp>
        <p:nvSpPr>
          <p:cNvPr id="11" name="Rectangle 10"/>
          <p:cNvSpPr/>
          <p:nvPr/>
        </p:nvSpPr>
        <p:spPr>
          <a:xfrm>
            <a:off x="6629400" y="3319272"/>
            <a:ext cx="4983480" cy="19202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30568" y="3483864"/>
            <a:ext cx="4581144" cy="274320"/>
          </a:xfrm>
          <a:prstGeom prst="rect">
            <a:avLst/>
          </a:prstGeom>
          <a:noFill/>
        </p:spPr>
        <p:txBody>
          <a:bodyPr wrap="square" lIns="45720" tIns="27432" rIns="45720" bIns="27432" anchor="t">
            <a:spAutoFit/>
          </a:bodyPr>
          <a:lstStyle/>
          <a:p>
            <a:pPr algn="l">
              <a:lnSpc>
                <a:spcPct val="105000"/>
              </a:lnSpc>
              <a:spcAft>
                <a:spcPts val="200"/>
              </a:spcAft>
            </a:pPr>
            <a:r>
              <a:rPr sz="1350" b="1" dirty="0" err="1">
                <a:solidFill>
                  <a:srgbClr val="2A9D8F"/>
                </a:solidFill>
                <a:latin typeface="Microsoft YaHei"/>
              </a:rPr>
              <a:t>图表解读</a:t>
            </a:r>
            <a:endParaRPr sz="1350" b="1" dirty="0">
              <a:solidFill>
                <a:srgbClr val="2A9D8F"/>
              </a:solidFill>
              <a:latin typeface="Microsoft YaHei"/>
            </a:endParaRPr>
          </a:p>
        </p:txBody>
      </p:sp>
      <p:sp>
        <p:nvSpPr>
          <p:cNvPr id="13" name="TextBox 12"/>
          <p:cNvSpPr txBox="1"/>
          <p:nvPr/>
        </p:nvSpPr>
        <p:spPr>
          <a:xfrm>
            <a:off x="6830568" y="3849624"/>
            <a:ext cx="45811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曲线记录每一轮外层迭代的</a:t>
            </a:r>
            <a:r>
              <a:rPr sz="1400" b="0" dirty="0">
                <a:solidFill>
                  <a:srgbClr val="16202A"/>
                </a:solidFill>
                <a:latin typeface="Microsoft YaHei"/>
              </a:rPr>
              <a:t> η </a:t>
            </a:r>
            <a:r>
              <a:rPr sz="1400" b="0" dirty="0" err="1">
                <a:solidFill>
                  <a:srgbClr val="16202A"/>
                </a:solidFill>
                <a:latin typeface="Microsoft YaHei"/>
              </a:rPr>
              <a:t>与差分残差。η</a:t>
            </a:r>
            <a:r>
              <a:rPr sz="1400" b="0" dirty="0">
                <a:solidFill>
                  <a:srgbClr val="16202A"/>
                </a:solidFill>
                <a:latin typeface="Microsoft YaHei"/>
              </a:rPr>
              <a:t> </a:t>
            </a:r>
            <a:r>
              <a:rPr sz="1400" b="0" dirty="0" err="1">
                <a:solidFill>
                  <a:srgbClr val="16202A"/>
                </a:solidFill>
                <a:latin typeface="Microsoft YaHei"/>
              </a:rPr>
              <a:t>上升表示当前联合变量产生了更高的单位能耗安全收益；残差下降表示差分问题逐步接近零点。该图与公式页的停止准则</a:t>
            </a:r>
            <a:r>
              <a:rPr sz="1400" b="0" dirty="0">
                <a:solidFill>
                  <a:srgbClr val="16202A"/>
                </a:solidFill>
                <a:latin typeface="Microsoft YaHei"/>
              </a:rPr>
              <a:t> |Φ(η)|≤ε </a:t>
            </a:r>
            <a:r>
              <a:rPr sz="1400" b="0" dirty="0" err="1">
                <a:solidFill>
                  <a:srgbClr val="16202A"/>
                </a:solidFill>
                <a:latin typeface="Microsoft YaHei"/>
              </a:rPr>
              <a:t>直接对应，用于验证分式规划外层迭代的数值稳定性</a:t>
            </a:r>
            <a:r>
              <a:rPr sz="1400" b="0" dirty="0">
                <a:solidFill>
                  <a:srgbClr val="16202A"/>
                </a:solidFill>
                <a:latin typeface="Microsoft YaHei"/>
              </a:rPr>
              <a:t>。</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Dinkelbach residual and secure energy efficiency</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41/77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SCHEDULING</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节点调度子问题与优先指数</a:t>
            </a:r>
          </a:p>
        </p:txBody>
      </p:sp>
      <p:sp>
        <p:nvSpPr>
          <p:cNvPr id="7" name="Rectangle 6"/>
          <p:cNvSpPr/>
          <p:nvPr/>
        </p:nvSpPr>
        <p:spPr>
          <a:xfrm>
            <a:off x="777240" y="1417320"/>
            <a:ext cx="5440680" cy="420624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618488"/>
            <a:ext cx="498348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调度优先指数</a:t>
            </a:r>
          </a:p>
        </p:txBody>
      </p:sp>
      <p:pic>
        <p:nvPicPr>
          <p:cNvPr id="9" name="Picture 8" descr="scheduling_score.png"/>
          <p:cNvPicPr>
            <a:picLocks noChangeAspect="1"/>
          </p:cNvPicPr>
          <p:nvPr/>
        </p:nvPicPr>
        <p:blipFill>
          <a:blip r:embed="rId2"/>
          <a:stretch>
            <a:fillRect/>
          </a:stretch>
        </p:blipFill>
        <p:spPr>
          <a:xfrm>
            <a:off x="821516" y="2494962"/>
            <a:ext cx="5352128" cy="2228988"/>
          </a:xfrm>
          <a:prstGeom prst="rect">
            <a:avLst/>
          </a:prstGeom>
        </p:spPr>
      </p:pic>
      <p:sp>
        <p:nvSpPr>
          <p:cNvPr id="10" name="Rectangle 9"/>
          <p:cNvSpPr/>
          <p:nvPr/>
        </p:nvSpPr>
        <p:spPr>
          <a:xfrm>
            <a:off x="6446520" y="1417320"/>
            <a:ext cx="4572000" cy="2084831"/>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47688" y="1581912"/>
            <a:ext cx="416966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优先指数构成</a:t>
            </a:r>
          </a:p>
        </p:txBody>
      </p:sp>
      <p:sp>
        <p:nvSpPr>
          <p:cNvPr id="12" name="TextBox 11"/>
          <p:cNvSpPr txBox="1"/>
          <p:nvPr/>
        </p:nvSpPr>
        <p:spPr>
          <a:xfrm>
            <a:off x="6647688" y="1947672"/>
            <a:ext cx="4169663"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一式定义调度优先指数，由三类因素组成：风险加权链路收益、剩余任务需求和信息年龄惩罚。风险权重使磁异常节点更容易被服务，速率估计保证被选节点具备可用链路，剩余任务项防止节点长期得不到传输机会。</a:t>
            </a:r>
          </a:p>
        </p:txBody>
      </p:sp>
      <p:sp>
        <p:nvSpPr>
          <p:cNvPr id="13" name="Rectangle 12"/>
          <p:cNvSpPr/>
          <p:nvPr/>
        </p:nvSpPr>
        <p:spPr>
          <a:xfrm>
            <a:off x="6446520" y="3767328"/>
            <a:ext cx="4572000" cy="184708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7688" y="3931920"/>
            <a:ext cx="416966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可行性约束</a:t>
            </a:r>
          </a:p>
        </p:txBody>
      </p:sp>
      <p:sp>
        <p:nvSpPr>
          <p:cNvPr id="15" name="TextBox 14"/>
          <p:cNvSpPr txBox="1"/>
          <p:nvPr/>
        </p:nvSpPr>
        <p:spPr>
          <a:xfrm>
            <a:off x="6647687" y="4251960"/>
            <a:ext cx="4169663"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二式规定调度变量只能取服务或不服务两种状态。第三式限制一个时隙中最多同时服务的节点数量，反映UAV接入和解调能力有限。第四式要求被服务节点必须位于当前UAV位置对应的覆盖集合内，使调度决策与轨迹几何位置保持一致。</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42/77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SCHEDULING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节点调度热力图与优先指数的关系</a:t>
            </a:r>
          </a:p>
        </p:txBody>
      </p:sp>
      <p:pic>
        <p:nvPicPr>
          <p:cNvPr id="7" name="Picture 6" descr="secure_data_heatmap.png"/>
          <p:cNvPicPr>
            <a:picLocks noChangeAspect="1"/>
          </p:cNvPicPr>
          <p:nvPr/>
        </p:nvPicPr>
        <p:blipFill>
          <a:blip r:embed="rId2"/>
          <a:stretch>
            <a:fillRect/>
          </a:stretch>
        </p:blipFill>
        <p:spPr>
          <a:xfrm>
            <a:off x="613803" y="1441685"/>
            <a:ext cx="5940420" cy="3548946"/>
          </a:xfrm>
          <a:prstGeom prst="rect">
            <a:avLst/>
          </a:prstGeom>
        </p:spPr>
      </p:pic>
      <p:sp>
        <p:nvSpPr>
          <p:cNvPr id="8" name="Rectangle 7"/>
          <p:cNvSpPr/>
          <p:nvPr/>
        </p:nvSpPr>
        <p:spPr>
          <a:xfrm>
            <a:off x="6687312" y="1284732"/>
            <a:ext cx="4846320" cy="1874519"/>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88479" y="1449324"/>
            <a:ext cx="44439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运算规则</a:t>
            </a:r>
          </a:p>
        </p:txBody>
      </p:sp>
      <p:sp>
        <p:nvSpPr>
          <p:cNvPr id="10" name="TextBox 9"/>
          <p:cNvSpPr txBox="1"/>
          <p:nvPr/>
        </p:nvSpPr>
        <p:spPr>
          <a:xfrm>
            <a:off x="6888478" y="1744767"/>
            <a:ext cx="4443983" cy="1285352"/>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在每个时隙</a:t>
            </a:r>
            <a:r>
              <a:rPr sz="1400" b="0" dirty="0">
                <a:solidFill>
                  <a:srgbClr val="16202A"/>
                </a:solidFill>
                <a:latin typeface="Microsoft YaHei"/>
              </a:rPr>
              <a:t> 𝑛，</a:t>
            </a:r>
            <a:r>
              <a:rPr sz="1400" b="0" dirty="0" err="1">
                <a:solidFill>
                  <a:srgbClr val="16202A"/>
                </a:solidFill>
                <a:latin typeface="Microsoft YaHei"/>
              </a:rPr>
              <a:t>算法先计算所有节点的</a:t>
            </a:r>
            <a:r>
              <a:rPr sz="1400" b="0" dirty="0">
                <a:solidFill>
                  <a:srgbClr val="16202A"/>
                </a:solidFill>
                <a:latin typeface="Microsoft YaHei"/>
              </a:rPr>
              <a:t> 𝑺coreₖ[𝑛]。</a:t>
            </a:r>
            <a:r>
              <a:rPr sz="1400" b="0" dirty="0" err="1">
                <a:solidFill>
                  <a:srgbClr val="16202A"/>
                </a:solidFill>
                <a:latin typeface="Microsoft YaHei"/>
              </a:rPr>
              <a:t>其中</a:t>
            </a:r>
            <a:r>
              <a:rPr sz="1400" b="0" dirty="0">
                <a:solidFill>
                  <a:srgbClr val="16202A"/>
                </a:solidFill>
                <a:latin typeface="Microsoft YaHei"/>
              </a:rPr>
              <a:t> 𝑤ₖ[𝑛] </a:t>
            </a:r>
            <a:r>
              <a:rPr sz="1400" b="0" dirty="0" err="1">
                <a:solidFill>
                  <a:srgbClr val="16202A"/>
                </a:solidFill>
                <a:latin typeface="Microsoft YaHei"/>
              </a:rPr>
              <a:t>提高异常节点收益，R</a:t>
            </a:r>
            <a:r>
              <a:rPr sz="1400" b="0" dirty="0">
                <a:solidFill>
                  <a:srgbClr val="16202A"/>
                </a:solidFill>
                <a:latin typeface="Microsoft YaHei"/>
              </a:rPr>
              <a:t>̂ₖ[𝑛] </a:t>
            </a:r>
            <a:r>
              <a:rPr sz="1400" b="0" dirty="0" err="1">
                <a:solidFill>
                  <a:srgbClr val="16202A"/>
                </a:solidFill>
                <a:latin typeface="Microsoft YaHei"/>
              </a:rPr>
              <a:t>反映当前链路质量</a:t>
            </a:r>
            <a:r>
              <a:rPr sz="1400" b="0" dirty="0">
                <a:solidFill>
                  <a:srgbClr val="16202A"/>
                </a:solidFill>
                <a:latin typeface="Microsoft YaHei"/>
              </a:rPr>
              <a:t>，𝐷rem,ₖ[𝑛] </a:t>
            </a:r>
            <a:r>
              <a:rPr sz="1400" b="0" dirty="0" err="1">
                <a:solidFill>
                  <a:srgbClr val="16202A"/>
                </a:solidFill>
                <a:latin typeface="Microsoft YaHei"/>
              </a:rPr>
              <a:t>避免任务长期未完成，AoI</a:t>
            </a:r>
            <a:r>
              <a:rPr sz="1400" b="0" dirty="0">
                <a:solidFill>
                  <a:srgbClr val="16202A"/>
                </a:solidFill>
                <a:latin typeface="Microsoft YaHei"/>
              </a:rPr>
              <a:t>ₖ[𝑛] </a:t>
            </a:r>
            <a:r>
              <a:rPr sz="1400" b="0" dirty="0" err="1">
                <a:solidFill>
                  <a:srgbClr val="16202A"/>
                </a:solidFill>
                <a:latin typeface="Microsoft YaHei"/>
              </a:rPr>
              <a:t>控制信息陈旧度。随后在覆盖集合和并发数量约束下选择</a:t>
            </a:r>
            <a:r>
              <a:rPr sz="1400" b="0" dirty="0">
                <a:solidFill>
                  <a:srgbClr val="16202A"/>
                </a:solidFill>
                <a:latin typeface="Microsoft YaHei"/>
              </a:rPr>
              <a:t> 𝑎ₖ[𝑛]=1 </a:t>
            </a:r>
            <a:r>
              <a:rPr sz="1400" b="0" dirty="0" err="1">
                <a:solidFill>
                  <a:srgbClr val="16202A"/>
                </a:solidFill>
                <a:latin typeface="Microsoft YaHei"/>
              </a:rPr>
              <a:t>的节点</a:t>
            </a:r>
            <a:r>
              <a:rPr sz="1400" b="0" dirty="0">
                <a:solidFill>
                  <a:srgbClr val="16202A"/>
                </a:solidFill>
                <a:latin typeface="Microsoft YaHei"/>
              </a:rPr>
              <a:t>。</a:t>
            </a:r>
          </a:p>
        </p:txBody>
      </p:sp>
      <p:sp>
        <p:nvSpPr>
          <p:cNvPr id="11" name="Rectangle 10"/>
          <p:cNvSpPr/>
          <p:nvPr/>
        </p:nvSpPr>
        <p:spPr>
          <a:xfrm>
            <a:off x="6687312" y="3451860"/>
            <a:ext cx="4846320" cy="16916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88479" y="3616452"/>
            <a:ext cx="44439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图表解读</a:t>
            </a:r>
          </a:p>
        </p:txBody>
      </p:sp>
      <p:sp>
        <p:nvSpPr>
          <p:cNvPr id="13" name="TextBox 12"/>
          <p:cNvSpPr txBox="1"/>
          <p:nvPr/>
        </p:nvSpPr>
        <p:spPr>
          <a:xfrm>
            <a:off x="6888479" y="3982212"/>
            <a:ext cx="4443983" cy="1035412"/>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左图横轴为时隙、纵轴为节点，颜色表示最终分配的安全数据量</a:t>
            </a:r>
            <a:r>
              <a:rPr sz="1400" b="0" dirty="0">
                <a:solidFill>
                  <a:srgbClr val="16202A"/>
                </a:solidFill>
                <a:latin typeface="Microsoft YaHei"/>
              </a:rPr>
              <a:t> 𝑠ₖ[𝑛]。</a:t>
            </a:r>
            <a:r>
              <a:rPr sz="1400" b="0" dirty="0" err="1">
                <a:solidFill>
                  <a:srgbClr val="16202A"/>
                </a:solidFill>
                <a:latin typeface="Microsoft YaHei"/>
              </a:rPr>
              <a:t>热力图呈现稀疏条带，说明调度会在每个时隙把资源集中给满足覆盖、密钥和链路条件的高优先级节点</a:t>
            </a:r>
            <a:r>
              <a:rPr sz="1400" b="0" dirty="0">
                <a:solidFill>
                  <a:srgbClr val="16202A"/>
                </a:solidFill>
                <a:latin typeface="Microsoft YaHei"/>
              </a:rPr>
              <a:t>。</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Scheduling index and secure-data heatmap</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43/77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CVXPY SUBPROBLEM</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功率、密钥与安全数据量的凸优化子问题</a:t>
            </a:r>
          </a:p>
        </p:txBody>
      </p:sp>
      <p:sp>
        <p:nvSpPr>
          <p:cNvPr id="7" name="Rectangle 6"/>
          <p:cNvSpPr/>
          <p:nvPr/>
        </p:nvSpPr>
        <p:spPr>
          <a:xfrm>
            <a:off x="731520" y="1325880"/>
            <a:ext cx="5349240" cy="443484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527048"/>
            <a:ext cx="489204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457B9D"/>
                </a:solidFill>
                <a:latin typeface="Microsoft YaHei"/>
              </a:rPr>
              <a:t>CVXPY资源分配</a:t>
            </a:r>
          </a:p>
        </p:txBody>
      </p:sp>
      <p:pic>
        <p:nvPicPr>
          <p:cNvPr id="9" name="Picture 8" descr="cvxpy_resource.png"/>
          <p:cNvPicPr>
            <a:picLocks noChangeAspect="1"/>
          </p:cNvPicPr>
          <p:nvPr/>
        </p:nvPicPr>
        <p:blipFill>
          <a:blip r:embed="rId2"/>
          <a:stretch>
            <a:fillRect/>
          </a:stretch>
        </p:blipFill>
        <p:spPr>
          <a:xfrm>
            <a:off x="1082040" y="2455481"/>
            <a:ext cx="5610056" cy="2696845"/>
          </a:xfrm>
          <a:prstGeom prst="rect">
            <a:avLst/>
          </a:prstGeom>
        </p:spPr>
      </p:pic>
      <p:sp>
        <p:nvSpPr>
          <p:cNvPr id="10" name="Rectangle 9"/>
          <p:cNvSpPr/>
          <p:nvPr/>
        </p:nvSpPr>
        <p:spPr>
          <a:xfrm>
            <a:off x="6355080" y="1389888"/>
            <a:ext cx="4754880" cy="201168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56248" y="1554480"/>
            <a:ext cx="43525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子问题目标</a:t>
            </a:r>
          </a:p>
        </p:txBody>
      </p:sp>
      <p:sp>
        <p:nvSpPr>
          <p:cNvPr id="12" name="TextBox 11"/>
          <p:cNvSpPr txBox="1"/>
          <p:nvPr/>
        </p:nvSpPr>
        <p:spPr>
          <a:xfrm>
            <a:off x="6556248" y="1920240"/>
            <a:ext cx="43525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当UAV轨迹、RIS相位、带宽和调度固定后，资源子问题只需要决定发射功率、安全数据量和密钥分配。第一式中的收益项奖励高权重安全数据，惩罚项来自Dinkelbach差分目标，用于抑制为了少量吞吐而消耗过多功率。</a:t>
            </a:r>
          </a:p>
        </p:txBody>
      </p:sp>
      <p:sp>
        <p:nvSpPr>
          <p:cNvPr id="13" name="Rectangle 12"/>
          <p:cNvSpPr/>
          <p:nvPr/>
        </p:nvSpPr>
        <p:spPr>
          <a:xfrm>
            <a:off x="6355080" y="3703320"/>
            <a:ext cx="4754880" cy="193852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56248" y="3867911"/>
            <a:ext cx="43525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凸性与约束</a:t>
            </a:r>
          </a:p>
        </p:txBody>
      </p:sp>
      <p:sp>
        <p:nvSpPr>
          <p:cNvPr id="15" name="TextBox 14"/>
          <p:cNvSpPr txBox="1"/>
          <p:nvPr/>
        </p:nvSpPr>
        <p:spPr>
          <a:xfrm>
            <a:off x="6556248" y="4233672"/>
            <a:ext cx="43525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二式是固定信道增益后的速率上界，关于发射功率为凹函数；第三式是密钥消耗和总密钥预算约束；第四式把功率上界与调度开关绑定，使未被调度节点不能发射。该子问题满足标准凸优化求解器可处理的形式，因此用CVXPY稳定求解。</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44/77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RESOURCE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CVXPY资源分配结果与凸子问题解读</a:t>
            </a:r>
          </a:p>
        </p:txBody>
      </p:sp>
      <p:pic>
        <p:nvPicPr>
          <p:cNvPr id="7" name="Picture 6" descr="power_allocation_heatmap.png"/>
          <p:cNvPicPr>
            <a:picLocks noChangeAspect="1"/>
          </p:cNvPicPr>
          <p:nvPr/>
        </p:nvPicPr>
        <p:blipFill>
          <a:blip r:embed="rId2"/>
          <a:stretch>
            <a:fillRect/>
          </a:stretch>
        </p:blipFill>
        <p:spPr>
          <a:xfrm>
            <a:off x="618340" y="1489392"/>
            <a:ext cx="5809892" cy="3441410"/>
          </a:xfrm>
          <a:prstGeom prst="rect">
            <a:avLst/>
          </a:prstGeom>
        </p:spPr>
      </p:pic>
      <p:sp>
        <p:nvSpPr>
          <p:cNvPr id="8" name="Rectangle 7"/>
          <p:cNvSpPr/>
          <p:nvPr/>
        </p:nvSpPr>
        <p:spPr>
          <a:xfrm>
            <a:off x="6629400" y="1257300"/>
            <a:ext cx="4983480" cy="1874519"/>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0568" y="1421892"/>
            <a:ext cx="45811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子问题含义</a:t>
            </a:r>
          </a:p>
        </p:txBody>
      </p:sp>
      <p:sp>
        <p:nvSpPr>
          <p:cNvPr id="10" name="TextBox 9"/>
          <p:cNvSpPr txBox="1"/>
          <p:nvPr/>
        </p:nvSpPr>
        <p:spPr>
          <a:xfrm>
            <a:off x="6830568" y="1787652"/>
            <a:ext cx="4581144" cy="1035412"/>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AO固定其他变量后，资源子问题只决定</a:t>
            </a:r>
            <a:r>
              <a:rPr sz="1400" b="0" dirty="0">
                <a:solidFill>
                  <a:srgbClr val="16202A"/>
                </a:solidFill>
                <a:latin typeface="Microsoft YaHei"/>
              </a:rPr>
              <a:t> 𝑝ₖ、𝑏ₖ、𝑠ₖ 与 κₖ。</a:t>
            </a:r>
            <a:r>
              <a:rPr sz="1400" b="0" dirty="0" err="1">
                <a:solidFill>
                  <a:srgbClr val="16202A"/>
                </a:solidFill>
                <a:latin typeface="Microsoft YaHei"/>
              </a:rPr>
              <a:t>目标项</a:t>
            </a:r>
            <a:r>
              <a:rPr sz="1400" b="0" dirty="0">
                <a:solidFill>
                  <a:srgbClr val="16202A"/>
                </a:solidFill>
                <a:latin typeface="Microsoft YaHei"/>
              </a:rPr>
              <a:t> Σ𝑤ₖ𝑠ₖ </a:t>
            </a:r>
            <a:r>
              <a:rPr sz="1400" b="0" dirty="0" err="1">
                <a:solidFill>
                  <a:srgbClr val="16202A"/>
                </a:solidFill>
                <a:latin typeface="Microsoft YaHei"/>
              </a:rPr>
              <a:t>奖励高风险安全数据，惩罚项</a:t>
            </a:r>
            <a:r>
              <a:rPr sz="1400" b="0" dirty="0">
                <a:solidFill>
                  <a:srgbClr val="16202A"/>
                </a:solidFill>
                <a:latin typeface="Microsoft YaHei"/>
              </a:rPr>
              <a:t> η·𝑐Σ𝑝ₖ </a:t>
            </a:r>
            <a:r>
              <a:rPr sz="1400" b="0" dirty="0" err="1">
                <a:solidFill>
                  <a:srgbClr val="16202A"/>
                </a:solidFill>
                <a:latin typeface="Microsoft YaHei"/>
              </a:rPr>
              <a:t>抑制过度发射功率。由于</a:t>
            </a:r>
            <a:r>
              <a:rPr sz="1400" b="0" dirty="0">
                <a:solidFill>
                  <a:srgbClr val="16202A"/>
                </a:solidFill>
                <a:latin typeface="Microsoft YaHei"/>
              </a:rPr>
              <a:t> log₂(1+γₖ𝑝ₖ) 对 𝑝ₖ </a:t>
            </a:r>
            <a:r>
              <a:rPr sz="1400" b="0" dirty="0" err="1">
                <a:solidFill>
                  <a:srgbClr val="16202A"/>
                </a:solidFill>
                <a:latin typeface="Microsoft YaHei"/>
              </a:rPr>
              <a:t>凹，最大化凹收益并满足线性约束可由CVXPY求解</a:t>
            </a:r>
            <a:r>
              <a:rPr sz="1400" b="0" dirty="0">
                <a:solidFill>
                  <a:srgbClr val="16202A"/>
                </a:solidFill>
                <a:latin typeface="Microsoft YaHei"/>
              </a:rPr>
              <a:t>。</a:t>
            </a:r>
            <a:endParaRPr sz="960" b="0" dirty="0">
              <a:solidFill>
                <a:srgbClr val="16202A"/>
              </a:solidFill>
              <a:latin typeface="Microsoft YaHei"/>
            </a:endParaRPr>
          </a:p>
        </p:txBody>
      </p:sp>
      <p:sp>
        <p:nvSpPr>
          <p:cNvPr id="11" name="Rectangle 10"/>
          <p:cNvSpPr/>
          <p:nvPr/>
        </p:nvSpPr>
        <p:spPr>
          <a:xfrm>
            <a:off x="6629400" y="3424428"/>
            <a:ext cx="4983480" cy="178308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30568" y="3589020"/>
            <a:ext cx="45811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图表解读</a:t>
            </a:r>
          </a:p>
        </p:txBody>
      </p:sp>
      <p:sp>
        <p:nvSpPr>
          <p:cNvPr id="13" name="TextBox 12"/>
          <p:cNvSpPr txBox="1"/>
          <p:nvPr/>
        </p:nvSpPr>
        <p:spPr>
          <a:xfrm>
            <a:off x="6830568" y="3954780"/>
            <a:ext cx="4581144" cy="1035412"/>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左图颜色表示不同时隙和节点上的发射功率。功率会在链路增益</a:t>
            </a:r>
            <a:r>
              <a:rPr sz="1400" b="0" dirty="0">
                <a:solidFill>
                  <a:srgbClr val="16202A"/>
                </a:solidFill>
                <a:latin typeface="Microsoft YaHei"/>
              </a:rPr>
              <a:t> γₖ、</a:t>
            </a:r>
            <a:r>
              <a:rPr sz="1400" b="0" dirty="0" err="1">
                <a:solidFill>
                  <a:srgbClr val="16202A"/>
                </a:solidFill>
                <a:latin typeface="Microsoft YaHei"/>
              </a:rPr>
              <a:t>节点权重</a:t>
            </a:r>
            <a:r>
              <a:rPr sz="1400" b="0" dirty="0">
                <a:solidFill>
                  <a:srgbClr val="16202A"/>
                </a:solidFill>
                <a:latin typeface="Microsoft YaHei"/>
              </a:rPr>
              <a:t> 𝑤ₖ、</a:t>
            </a:r>
            <a:r>
              <a:rPr sz="1400" b="0" dirty="0" err="1">
                <a:solidFill>
                  <a:srgbClr val="16202A"/>
                </a:solidFill>
                <a:latin typeface="Microsoft YaHei"/>
              </a:rPr>
              <a:t>密钥预算</a:t>
            </a:r>
            <a:r>
              <a:rPr sz="1400" b="0" dirty="0">
                <a:solidFill>
                  <a:srgbClr val="16202A"/>
                </a:solidFill>
                <a:latin typeface="Microsoft YaHei"/>
              </a:rPr>
              <a:t> κₖ </a:t>
            </a:r>
            <a:r>
              <a:rPr sz="1400" b="0" dirty="0" err="1">
                <a:solidFill>
                  <a:srgbClr val="16202A"/>
                </a:solidFill>
                <a:latin typeface="Microsoft YaHei"/>
              </a:rPr>
              <a:t>与调度开关</a:t>
            </a:r>
            <a:r>
              <a:rPr sz="1400" b="0" dirty="0">
                <a:solidFill>
                  <a:srgbClr val="16202A"/>
                </a:solidFill>
                <a:latin typeface="Microsoft YaHei"/>
              </a:rPr>
              <a:t> 𝑎ₖ </a:t>
            </a:r>
            <a:r>
              <a:rPr sz="1400" b="0" dirty="0" err="1">
                <a:solidFill>
                  <a:srgbClr val="16202A"/>
                </a:solidFill>
                <a:latin typeface="Microsoft YaHei"/>
              </a:rPr>
              <a:t>之间折中。该结果说明资源分配子问题承担了把“高优先级”转化为实际通信能量的作用</a:t>
            </a:r>
            <a:r>
              <a:rPr sz="1400" b="0" dirty="0">
                <a:solidFill>
                  <a:srgbClr val="16202A"/>
                </a:solidFill>
                <a:latin typeface="Microsoft YaHei"/>
              </a:rPr>
              <a:t>。</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CVXPY resource allocation subproblem</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45/77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RIS PHASE</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RIS相位对齐与2-bit码本投影</a:t>
            </a:r>
          </a:p>
        </p:txBody>
      </p:sp>
      <p:sp>
        <p:nvSpPr>
          <p:cNvPr id="7" name="Rectangle 6"/>
          <p:cNvSpPr/>
          <p:nvPr/>
        </p:nvSpPr>
        <p:spPr>
          <a:xfrm>
            <a:off x="731520" y="1325880"/>
            <a:ext cx="5349240" cy="443484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527048"/>
            <a:ext cx="489204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9C46A"/>
                </a:solidFill>
                <a:latin typeface="Microsoft YaHei"/>
              </a:rPr>
              <a:t>相位投影</a:t>
            </a:r>
          </a:p>
        </p:txBody>
      </p:sp>
      <p:pic>
        <p:nvPicPr>
          <p:cNvPr id="9" name="Picture 8" descr="ris_phase_projection.png"/>
          <p:cNvPicPr>
            <a:picLocks noChangeAspect="1"/>
          </p:cNvPicPr>
          <p:nvPr/>
        </p:nvPicPr>
        <p:blipFill>
          <a:blip r:embed="rId2"/>
          <a:stretch>
            <a:fillRect/>
          </a:stretch>
        </p:blipFill>
        <p:spPr>
          <a:xfrm>
            <a:off x="960120" y="2559482"/>
            <a:ext cx="4892040" cy="2351683"/>
          </a:xfrm>
          <a:prstGeom prst="rect">
            <a:avLst/>
          </a:prstGeom>
        </p:spPr>
      </p:pic>
      <p:sp>
        <p:nvSpPr>
          <p:cNvPr id="10" name="Rectangle 9"/>
          <p:cNvSpPr/>
          <p:nvPr/>
        </p:nvSpPr>
        <p:spPr>
          <a:xfrm>
            <a:off x="6446520" y="1389888"/>
            <a:ext cx="4617720" cy="1993392"/>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47688" y="1554480"/>
            <a:ext cx="42153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9C46A"/>
                </a:solidFill>
                <a:latin typeface="Microsoft YaHei"/>
              </a:rPr>
              <a:t>连续相位对齐</a:t>
            </a:r>
          </a:p>
        </p:txBody>
      </p:sp>
      <p:sp>
        <p:nvSpPr>
          <p:cNvPr id="12" name="TextBox 11"/>
          <p:cNvSpPr txBox="1"/>
          <p:nvPr/>
        </p:nvSpPr>
        <p:spPr>
          <a:xfrm>
            <a:off x="6647688" y="1920240"/>
            <a:ext cx="4215383"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第一式给出第m个RIS单元的理想连续相位。其目标是抵消节点到RIS、RIS到UAV两段传播中的相位差，并与直达链路参考相位对齐，使各反射单元贡献在UAV接收端尽量同相相加。</a:t>
            </a:r>
          </a:p>
        </p:txBody>
      </p:sp>
      <p:sp>
        <p:nvSpPr>
          <p:cNvPr id="13" name="Rectangle 12"/>
          <p:cNvSpPr/>
          <p:nvPr/>
        </p:nvSpPr>
        <p:spPr>
          <a:xfrm>
            <a:off x="6446520" y="3675887"/>
            <a:ext cx="4617720" cy="19202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7688" y="3840479"/>
            <a:ext cx="4215383"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离散投影</a:t>
            </a:r>
          </a:p>
        </p:txBody>
      </p:sp>
      <p:sp>
        <p:nvSpPr>
          <p:cNvPr id="15" name="TextBox 14"/>
          <p:cNvSpPr txBox="1"/>
          <p:nvPr/>
        </p:nvSpPr>
        <p:spPr>
          <a:xfrm>
            <a:off x="6647688" y="4206240"/>
            <a:ext cx="4215383"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第二式定义2-bit硬件码本，只有四个可选相位状态。第三式把连续最优相位投影到最近码字，体现实际RIS单元不能连续调相的约束。第四式将所有单元相位组装成对角矩阵，供等效信道公式调用。</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46/77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RIS PHASE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RIS相位编码图与2-bit投影规则</a:t>
            </a:r>
          </a:p>
        </p:txBody>
      </p:sp>
      <p:pic>
        <p:nvPicPr>
          <p:cNvPr id="7" name="Picture 6" descr="ris_matlab_phase_coding.png"/>
          <p:cNvPicPr>
            <a:picLocks noChangeAspect="1"/>
          </p:cNvPicPr>
          <p:nvPr/>
        </p:nvPicPr>
        <p:blipFill>
          <a:blip r:embed="rId2"/>
          <a:stretch>
            <a:fillRect/>
          </a:stretch>
        </p:blipFill>
        <p:spPr>
          <a:xfrm>
            <a:off x="950809" y="1207008"/>
            <a:ext cx="4416884" cy="4114800"/>
          </a:xfrm>
          <a:prstGeom prst="rect">
            <a:avLst/>
          </a:prstGeom>
        </p:spPr>
      </p:pic>
      <p:sp>
        <p:nvSpPr>
          <p:cNvPr id="8" name="Rectangle 7"/>
          <p:cNvSpPr/>
          <p:nvPr/>
        </p:nvSpPr>
        <p:spPr>
          <a:xfrm>
            <a:off x="6080760" y="1234440"/>
            <a:ext cx="4983480" cy="173736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81928" y="1399032"/>
            <a:ext cx="45811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9C46A"/>
                </a:solidFill>
                <a:latin typeface="Microsoft YaHei"/>
              </a:rPr>
              <a:t>相位对齐原理</a:t>
            </a:r>
          </a:p>
        </p:txBody>
      </p:sp>
      <p:sp>
        <p:nvSpPr>
          <p:cNvPr id="10" name="TextBox 9"/>
          <p:cNvSpPr txBox="1"/>
          <p:nvPr/>
        </p:nvSpPr>
        <p:spPr>
          <a:xfrm>
            <a:off x="6281928" y="1764792"/>
            <a:ext cx="4581144" cy="1035412"/>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级联链路由节点到RIS的相位、RIS单元反射相位和RIS到UAV的相位共同决定。连续最优</a:t>
            </a:r>
            <a:r>
              <a:rPr sz="1400" b="0" dirty="0">
                <a:solidFill>
                  <a:srgbClr val="16202A"/>
                </a:solidFill>
                <a:latin typeface="Microsoft YaHei"/>
              </a:rPr>
              <a:t> θₘ⋆ </a:t>
            </a:r>
            <a:r>
              <a:rPr sz="1400" b="0" dirty="0" err="1">
                <a:solidFill>
                  <a:srgbClr val="16202A"/>
                </a:solidFill>
                <a:latin typeface="Microsoft YaHei"/>
              </a:rPr>
              <a:t>的作用是抵消前后两段传播相位差，使各单元反射信号在UAV处尽量同相叠加，从而提升等效信道幅度</a:t>
            </a:r>
            <a:r>
              <a:rPr sz="1400" b="0" dirty="0">
                <a:solidFill>
                  <a:srgbClr val="16202A"/>
                </a:solidFill>
                <a:latin typeface="Microsoft YaHei"/>
              </a:rPr>
              <a:t>。</a:t>
            </a:r>
          </a:p>
        </p:txBody>
      </p:sp>
      <p:sp>
        <p:nvSpPr>
          <p:cNvPr id="11" name="Rectangle 10"/>
          <p:cNvSpPr/>
          <p:nvPr/>
        </p:nvSpPr>
        <p:spPr>
          <a:xfrm>
            <a:off x="6080760" y="3246120"/>
            <a:ext cx="4983480" cy="196596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81928" y="3410712"/>
            <a:ext cx="45811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图表解读</a:t>
            </a:r>
          </a:p>
        </p:txBody>
      </p:sp>
      <p:sp>
        <p:nvSpPr>
          <p:cNvPr id="13" name="TextBox 12"/>
          <p:cNvSpPr txBox="1"/>
          <p:nvPr/>
        </p:nvSpPr>
        <p:spPr>
          <a:xfrm>
            <a:off x="6281928" y="3776472"/>
            <a:ext cx="45811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左图展示16×16单元的2-bit相位编码矩阵，颜色对应0、π/2、π和3π/2四种相位状态。相邻区域呈现条纹式变化，反映了指向目标角时需要沿阵列孔径逐渐补偿的传播相位梯度。该图把公式中的投影θₘ←Π𝒬(θₘ⋆)</a:t>
            </a:r>
            <a:r>
              <a:rPr sz="1400" b="0" dirty="0" err="1">
                <a:solidFill>
                  <a:srgbClr val="16202A"/>
                </a:solidFill>
                <a:latin typeface="Microsoft YaHei"/>
              </a:rPr>
              <a:t>转化为可观察的硬件编码结果</a:t>
            </a:r>
            <a:r>
              <a:rPr sz="1400" b="0" dirty="0">
                <a:solidFill>
                  <a:srgbClr val="16202A"/>
                </a:solidFill>
                <a:latin typeface="Microsoft YaHei"/>
              </a:rPr>
              <a:t>。</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RIS 2-bit phase projection</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47/77</a:t>
            </a:r>
          </a:p>
        </p:txBody>
      </p:sp>
      <p:sp>
        <p:nvSpPr>
          <p:cNvPr id="17" name="文本框 16">
            <a:extLst>
              <a:ext uri="{FF2B5EF4-FFF2-40B4-BE49-F238E27FC236}">
                <a16:creationId xmlns:a16="http://schemas.microsoft.com/office/drawing/2014/main" id="{1F77147C-CFDE-C801-355F-A68D96EEBE04}"/>
              </a:ext>
            </a:extLst>
          </p:cNvPr>
          <p:cNvSpPr txBox="1"/>
          <p:nvPr/>
        </p:nvSpPr>
        <p:spPr>
          <a:xfrm>
            <a:off x="5957851" y="193024"/>
            <a:ext cx="6139980" cy="369332"/>
          </a:xfrm>
          <a:prstGeom prst="rect">
            <a:avLst/>
          </a:prstGeom>
          <a:noFill/>
        </p:spPr>
        <p:txBody>
          <a:bodyPr wrap="square">
            <a:spAutoFit/>
          </a:bodyPr>
          <a:lstStyle/>
          <a:p>
            <a:r>
              <a:rPr lang="en-US" altLang="zh-CN" sz="1800" b="1" dirty="0" err="1">
                <a:solidFill>
                  <a:srgbClr val="FF0000"/>
                </a:solidFill>
                <a:effectLst/>
                <a:latin typeface="宋体" panose="02010600030101010101" pitchFamily="2" charset="-122"/>
                <a:cs typeface="Times New Roman" panose="02020603050405020304" pitchFamily="18" charset="0"/>
              </a:rPr>
              <a:t>超表面（</a:t>
            </a:r>
            <a:r>
              <a:rPr lang="en-US" altLang="zh-CN" sz="1800" b="1" dirty="0" err="1">
                <a:solidFill>
                  <a:srgbClr val="FF0000"/>
                </a:solidFill>
                <a:effectLst/>
                <a:latin typeface="Times New Roman" panose="02020603050405020304" pitchFamily="18" charset="0"/>
                <a:ea typeface="宋体" panose="02010600030101010101" pitchFamily="2" charset="-122"/>
              </a:rPr>
              <a:t>Metasurface</a:t>
            </a:r>
            <a:r>
              <a:rPr lang="en-US" altLang="zh-CN" sz="1800" b="1" dirty="0">
                <a:solidFill>
                  <a:srgbClr val="FF0000"/>
                </a:solidFill>
                <a:effectLst/>
                <a:latin typeface="Times New Roman" panose="02020603050405020304" pitchFamily="18" charset="0"/>
                <a:ea typeface="宋体" panose="02010600030101010101" pitchFamily="2" charset="-122"/>
              </a:rPr>
              <a:t>/</a:t>
            </a:r>
            <a:r>
              <a:rPr lang="en-US" altLang="zh-CN" sz="1800" b="1" dirty="0" err="1">
                <a:solidFill>
                  <a:srgbClr val="FF0000"/>
                </a:solidFill>
                <a:effectLst/>
                <a:latin typeface="Times New Roman" panose="02020603050405020304" pitchFamily="18" charset="0"/>
                <a:ea typeface="宋体" panose="02010600030101010101" pitchFamily="2" charset="-122"/>
              </a:rPr>
              <a:t>RIS</a:t>
            </a:r>
            <a:r>
              <a:rPr lang="en-US" altLang="zh-CN" sz="1800" b="1" dirty="0" err="1">
                <a:solidFill>
                  <a:srgbClr val="FF0000"/>
                </a:solidFill>
                <a:effectLst/>
                <a:latin typeface="宋体" panose="02010600030101010101" pitchFamily="2" charset="-122"/>
                <a:cs typeface="Times New Roman" panose="02020603050405020304" pitchFamily="18" charset="0"/>
              </a:rPr>
              <a:t>）仿真</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UAV SCA</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UAV轨迹的逐次凸近似更新</a:t>
            </a:r>
          </a:p>
        </p:txBody>
      </p:sp>
      <p:sp>
        <p:nvSpPr>
          <p:cNvPr id="7" name="Rectangle 6"/>
          <p:cNvSpPr/>
          <p:nvPr/>
        </p:nvSpPr>
        <p:spPr>
          <a:xfrm>
            <a:off x="731520" y="1325880"/>
            <a:ext cx="5623560" cy="443484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527048"/>
            <a:ext cx="516636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轨迹更新</a:t>
            </a:r>
          </a:p>
        </p:txBody>
      </p:sp>
      <p:pic>
        <p:nvPicPr>
          <p:cNvPr id="9" name="Picture 8" descr="uav_sca.png"/>
          <p:cNvPicPr>
            <a:picLocks noChangeAspect="1"/>
          </p:cNvPicPr>
          <p:nvPr/>
        </p:nvPicPr>
        <p:blipFill>
          <a:blip r:embed="rId2"/>
          <a:stretch>
            <a:fillRect/>
          </a:stretch>
        </p:blipFill>
        <p:spPr>
          <a:xfrm>
            <a:off x="960120" y="2740989"/>
            <a:ext cx="5166360" cy="1988668"/>
          </a:xfrm>
          <a:prstGeom prst="rect">
            <a:avLst/>
          </a:prstGeom>
        </p:spPr>
      </p:pic>
      <p:sp>
        <p:nvSpPr>
          <p:cNvPr id="10" name="Rectangle 9"/>
          <p:cNvSpPr/>
          <p:nvPr/>
        </p:nvSpPr>
        <p:spPr>
          <a:xfrm>
            <a:off x="6537960" y="1389888"/>
            <a:ext cx="4526280" cy="1993392"/>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39128" y="1554480"/>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一阶近似</a:t>
            </a:r>
          </a:p>
        </p:txBody>
      </p:sp>
      <p:sp>
        <p:nvSpPr>
          <p:cNvPr id="12" name="TextBox 11"/>
          <p:cNvSpPr txBox="1"/>
          <p:nvPr/>
        </p:nvSpPr>
        <p:spPr>
          <a:xfrm>
            <a:off x="6739128" y="1920240"/>
            <a:ext cx="41239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第一式是在第r轮当前轨迹处对速率函数构造的一阶下界。由于UAV位置会同时改变直达距离、RIS级联距离和路径损耗，原速率函数关于轨迹通常非凸；用局部下界替代后，可以得到可求解的近似更新方向。</a:t>
            </a:r>
          </a:p>
        </p:txBody>
      </p:sp>
      <p:sp>
        <p:nvSpPr>
          <p:cNvPr id="13" name="Rectangle 12"/>
          <p:cNvSpPr/>
          <p:nvPr/>
        </p:nvSpPr>
        <p:spPr>
          <a:xfrm>
            <a:off x="6537960" y="3675887"/>
            <a:ext cx="4526280" cy="193852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9128" y="3840479"/>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可行更新</a:t>
            </a:r>
          </a:p>
        </p:txBody>
      </p:sp>
      <p:sp>
        <p:nvSpPr>
          <p:cNvPr id="15" name="TextBox 14"/>
          <p:cNvSpPr txBox="1"/>
          <p:nvPr/>
        </p:nvSpPr>
        <p:spPr>
          <a:xfrm>
            <a:off x="6739128" y="4206240"/>
            <a:ext cx="41239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第二式限制相邻时隙之间的最大位移，对应UAV速度上限；第三式固定起点和终点，保证任务路径可执行；第四式用步长控制从当前轨迹向近似问题解移动，避免一次更新过大导致线性化失效。该过程重复执行，形成逐次凸近似轨迹优化。</a:t>
            </a:r>
          </a:p>
        </p:txBody>
      </p:sp>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48/77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TRAJECTORY INTERPRETATION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UAV轨迹图与SCA更新规则</a:t>
            </a:r>
          </a:p>
        </p:txBody>
      </p:sp>
      <p:pic>
        <p:nvPicPr>
          <p:cNvPr id="7" name="Picture 6" descr="trajectory.png"/>
          <p:cNvPicPr>
            <a:picLocks noChangeAspect="1"/>
          </p:cNvPicPr>
          <p:nvPr/>
        </p:nvPicPr>
        <p:blipFill>
          <a:blip r:embed="rId2"/>
          <a:stretch>
            <a:fillRect/>
          </a:stretch>
        </p:blipFill>
        <p:spPr>
          <a:xfrm>
            <a:off x="1783363" y="1097280"/>
            <a:ext cx="2605472" cy="5120640"/>
          </a:xfrm>
          <a:prstGeom prst="rect">
            <a:avLst/>
          </a:prstGeom>
        </p:spPr>
      </p:pic>
      <p:sp>
        <p:nvSpPr>
          <p:cNvPr id="8" name="Rectangle 7"/>
          <p:cNvSpPr/>
          <p:nvPr/>
        </p:nvSpPr>
        <p:spPr>
          <a:xfrm>
            <a:off x="5897880" y="1234440"/>
            <a:ext cx="5166360" cy="1874519"/>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9048" y="1399032"/>
            <a:ext cx="476402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更新目标</a:t>
            </a:r>
          </a:p>
        </p:txBody>
      </p:sp>
      <p:sp>
        <p:nvSpPr>
          <p:cNvPr id="10" name="TextBox 9"/>
          <p:cNvSpPr txBox="1"/>
          <p:nvPr/>
        </p:nvSpPr>
        <p:spPr>
          <a:xfrm>
            <a:off x="6099048" y="1764792"/>
            <a:ext cx="4764024" cy="1035027"/>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在第</a:t>
            </a:r>
            <a:r>
              <a:rPr sz="1400" b="0" dirty="0">
                <a:solidFill>
                  <a:srgbClr val="16202A"/>
                </a:solidFill>
                <a:latin typeface="Microsoft YaHei"/>
              </a:rPr>
              <a:t>𝑟</a:t>
            </a:r>
            <a:r>
              <a:rPr sz="1400" b="0" dirty="0" err="1">
                <a:solidFill>
                  <a:srgbClr val="16202A"/>
                </a:solidFill>
                <a:latin typeface="Microsoft YaHei"/>
              </a:rPr>
              <a:t>轮迭代中，SCA将非凸速率</a:t>
            </a:r>
            <a:r>
              <a:rPr sz="1400" b="0" dirty="0">
                <a:solidFill>
                  <a:srgbClr val="16202A"/>
                </a:solidFill>
                <a:latin typeface="Microsoft YaHei"/>
              </a:rPr>
              <a:t> 𝑅ₖ(𝒒[𝑛]) </a:t>
            </a:r>
            <a:r>
              <a:rPr sz="1400" b="0" dirty="0" err="1">
                <a:solidFill>
                  <a:srgbClr val="16202A"/>
                </a:solidFill>
                <a:latin typeface="Microsoft YaHei"/>
              </a:rPr>
              <a:t>用当前轨迹</a:t>
            </a:r>
            <a:r>
              <a:rPr sz="1400" b="0" dirty="0">
                <a:solidFill>
                  <a:srgbClr val="16202A"/>
                </a:solidFill>
                <a:latin typeface="Microsoft YaHei"/>
              </a:rPr>
              <a:t> 𝒒⁽ʳ⁾[𝑛] </a:t>
            </a:r>
            <a:r>
              <a:rPr sz="1400" b="0" dirty="0" err="1">
                <a:solidFill>
                  <a:srgbClr val="16202A"/>
                </a:solidFill>
                <a:latin typeface="Microsoft YaHei"/>
              </a:rPr>
              <a:t>处的一阶下界替代。这样得到的近似问题会鼓励轨迹向高权重、高链路收益区域移动，但每一步仍满足</a:t>
            </a:r>
            <a:r>
              <a:rPr sz="1400" b="0" dirty="0">
                <a:solidFill>
                  <a:srgbClr val="16202A"/>
                </a:solidFill>
                <a:latin typeface="Microsoft YaHei"/>
              </a:rPr>
              <a:t> ‖𝒒[𝑛+1]-𝒒[𝑛]‖₂≤𝑉</a:t>
            </a:r>
            <a:r>
              <a:rPr sz="1400" b="0" dirty="0" err="1">
                <a:solidFill>
                  <a:srgbClr val="16202A"/>
                </a:solidFill>
                <a:latin typeface="Microsoft YaHei"/>
              </a:rPr>
              <a:t>maxτ</a:t>
            </a:r>
            <a:r>
              <a:rPr sz="1400" b="0" dirty="0">
                <a:solidFill>
                  <a:srgbClr val="16202A"/>
                </a:solidFill>
                <a:latin typeface="Microsoft YaHei"/>
              </a:rPr>
              <a:t> </a:t>
            </a:r>
            <a:r>
              <a:rPr sz="1400" b="0" dirty="0" err="1">
                <a:solidFill>
                  <a:srgbClr val="16202A"/>
                </a:solidFill>
                <a:latin typeface="Microsoft YaHei"/>
              </a:rPr>
              <a:t>与初末点约束</a:t>
            </a:r>
            <a:r>
              <a:rPr sz="1400" b="0" dirty="0">
                <a:solidFill>
                  <a:srgbClr val="16202A"/>
                </a:solidFill>
                <a:latin typeface="Microsoft YaHei"/>
              </a:rPr>
              <a:t>。</a:t>
            </a:r>
          </a:p>
        </p:txBody>
      </p:sp>
      <p:sp>
        <p:nvSpPr>
          <p:cNvPr id="11" name="Rectangle 10"/>
          <p:cNvSpPr/>
          <p:nvPr/>
        </p:nvSpPr>
        <p:spPr>
          <a:xfrm>
            <a:off x="5897880" y="3401568"/>
            <a:ext cx="5166360" cy="178308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99048" y="3566160"/>
            <a:ext cx="476402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图表解读</a:t>
            </a:r>
          </a:p>
        </p:txBody>
      </p:sp>
      <p:sp>
        <p:nvSpPr>
          <p:cNvPr id="13" name="TextBox 12"/>
          <p:cNvSpPr txBox="1"/>
          <p:nvPr/>
        </p:nvSpPr>
        <p:spPr>
          <a:xfrm>
            <a:off x="6099048" y="3931920"/>
            <a:ext cx="4764024"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左图灰色虚线为初始巡检路径，红色曲线为优化路径，颜色散点表示磁异常优先级。优化后轨迹向黄色异常星标和高权重节点附近弯曲，同时没有直接追逐所有节点，说明SCA更新在任务收益、飞行代价和RIS覆盖之间进行了局部折中。</a:t>
            </a:r>
          </a:p>
        </p:txBody>
      </p:sp>
      <p:sp>
        <p:nvSpPr>
          <p:cNvPr id="14" name="Rectangle 13"/>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SCA trajectory update and optimized path</a:t>
            </a:r>
          </a:p>
        </p:txBody>
      </p:sp>
      <p:sp>
        <p:nvSpPr>
          <p:cNvPr id="16" name="TextBox 15"/>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49/77</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ALGORITHM</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Q-RIS-UAV-AO算法流程</a:t>
            </a:r>
          </a:p>
        </p:txBody>
      </p:sp>
      <p:pic>
        <p:nvPicPr>
          <p:cNvPr id="7" name="Picture 6" descr="algorithm_flow_gpt.png"/>
          <p:cNvPicPr>
            <a:picLocks noChangeAspect="1"/>
          </p:cNvPicPr>
          <p:nvPr/>
        </p:nvPicPr>
        <p:blipFill>
          <a:blip r:embed="rId2"/>
          <a:stretch>
            <a:fillRect/>
          </a:stretch>
        </p:blipFill>
        <p:spPr>
          <a:xfrm>
            <a:off x="282806" y="1380744"/>
            <a:ext cx="8603444" cy="4842010"/>
          </a:xfrm>
          <a:prstGeom prst="rect">
            <a:avLst/>
          </a:prstGeom>
        </p:spPr>
      </p:pic>
      <p:sp>
        <p:nvSpPr>
          <p:cNvPr id="8" name="Rectangle 7"/>
          <p:cNvSpPr/>
          <p:nvPr/>
        </p:nvSpPr>
        <p:spPr>
          <a:xfrm>
            <a:off x="9052559" y="1380744"/>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39" y="1636776"/>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dirty="0" err="1">
                <a:solidFill>
                  <a:srgbClr val="2A9D8F"/>
                </a:solidFill>
                <a:latin typeface="Microsoft YaHei"/>
              </a:rPr>
              <a:t>机制说明</a:t>
            </a:r>
            <a:endParaRPr sz="1500" b="1" dirty="0">
              <a:solidFill>
                <a:srgbClr val="2A9D8F"/>
              </a:solidFill>
              <a:latin typeface="Microsoft YaHei"/>
            </a:endParaRPr>
          </a:p>
        </p:txBody>
      </p:sp>
      <p:sp>
        <p:nvSpPr>
          <p:cNvPr id="10" name="TextBox 9"/>
          <p:cNvSpPr txBox="1"/>
          <p:nvPr/>
        </p:nvSpPr>
        <p:spPr>
          <a:xfrm>
            <a:off x="9178488" y="2066544"/>
            <a:ext cx="2507543" cy="200138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流程图给出一次完整迭代：首先根据当前变量计算安全能效；随后在固定其余变量的条件下依次更新调度、功率与密钥、RIS相位和UAV轨迹；最后用Dinkelbach准则更新分式目标参数。算法停止条件由残差和最大迭代次数共同控制。</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Algorithm workflow</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50/77</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ALGORITHM OUTPUTS</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算法输出与系统可执行控制量</a:t>
            </a:r>
          </a:p>
        </p:txBody>
      </p:sp>
      <p:sp>
        <p:nvSpPr>
          <p:cNvPr id="7" name="Rectangle 6"/>
          <p:cNvSpPr/>
          <p:nvPr/>
        </p:nvSpPr>
        <p:spPr>
          <a:xfrm>
            <a:off x="777240" y="1325880"/>
            <a:ext cx="4800600" cy="74980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444752"/>
            <a:ext cx="1417320" cy="237744"/>
          </a:xfrm>
          <a:prstGeom prst="rect">
            <a:avLst/>
          </a:prstGeom>
          <a:noFill/>
        </p:spPr>
        <p:txBody>
          <a:bodyPr wrap="square" lIns="45720" tIns="27432" rIns="45720" bIns="27432" anchor="t">
            <a:spAutoFit/>
          </a:bodyPr>
          <a:lstStyle/>
          <a:p>
            <a:pPr algn="l">
              <a:lnSpc>
                <a:spcPct val="105000"/>
              </a:lnSpc>
              <a:spcAft>
                <a:spcPts val="200"/>
              </a:spcAft>
            </a:pPr>
            <a:r>
              <a:rPr sz="1450" b="1">
                <a:solidFill>
                  <a:srgbClr val="2A9D8F"/>
                </a:solidFill>
                <a:latin typeface="Microsoft YaHei"/>
              </a:rPr>
              <a:t>UAV轨迹</a:t>
            </a:r>
          </a:p>
        </p:txBody>
      </p:sp>
      <p:sp>
        <p:nvSpPr>
          <p:cNvPr id="9" name="TextBox 8"/>
          <p:cNvSpPr txBox="1"/>
          <p:nvPr/>
        </p:nvSpPr>
        <p:spPr>
          <a:xfrm>
            <a:off x="2404872" y="1444752"/>
            <a:ext cx="2834640" cy="274320"/>
          </a:xfrm>
          <a:prstGeom prst="rect">
            <a:avLst/>
          </a:prstGeom>
          <a:noFill/>
        </p:spPr>
        <p:txBody>
          <a:bodyPr wrap="square" lIns="45720" tIns="27432" rIns="45720" bIns="27432" anchor="t">
            <a:spAutoFit/>
          </a:bodyPr>
          <a:lstStyle/>
          <a:p>
            <a:pPr algn="l">
              <a:lnSpc>
                <a:spcPct val="105000"/>
              </a:lnSpc>
              <a:spcAft>
                <a:spcPts val="200"/>
              </a:spcAft>
            </a:pPr>
            <a:r>
              <a:rPr sz="1250" b="0">
                <a:solidFill>
                  <a:srgbClr val="16202A"/>
                </a:solidFill>
                <a:latin typeface="Microsoft YaHei"/>
              </a:rPr>
              <a:t>每个时隙的位置序列，用于灾后临时中继巡航。</a:t>
            </a:r>
          </a:p>
        </p:txBody>
      </p:sp>
      <p:sp>
        <p:nvSpPr>
          <p:cNvPr id="10" name="Rectangle 9"/>
          <p:cNvSpPr/>
          <p:nvPr/>
        </p:nvSpPr>
        <p:spPr>
          <a:xfrm>
            <a:off x="6217920" y="1325880"/>
            <a:ext cx="4800600" cy="74980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1444752"/>
            <a:ext cx="1417320" cy="237744"/>
          </a:xfrm>
          <a:prstGeom prst="rect">
            <a:avLst/>
          </a:prstGeom>
          <a:noFill/>
        </p:spPr>
        <p:txBody>
          <a:bodyPr wrap="square" lIns="45720" tIns="27432" rIns="45720" bIns="27432" anchor="t">
            <a:spAutoFit/>
          </a:bodyPr>
          <a:lstStyle/>
          <a:p>
            <a:pPr algn="l">
              <a:lnSpc>
                <a:spcPct val="105000"/>
              </a:lnSpc>
              <a:spcAft>
                <a:spcPts val="200"/>
              </a:spcAft>
            </a:pPr>
            <a:r>
              <a:rPr sz="1450" b="1">
                <a:solidFill>
                  <a:srgbClr val="2A9D8F"/>
                </a:solidFill>
                <a:latin typeface="Microsoft YaHei"/>
              </a:rPr>
              <a:t>RIS相位码本</a:t>
            </a:r>
          </a:p>
        </p:txBody>
      </p:sp>
      <p:sp>
        <p:nvSpPr>
          <p:cNvPr id="12" name="TextBox 11"/>
          <p:cNvSpPr txBox="1"/>
          <p:nvPr/>
        </p:nvSpPr>
        <p:spPr>
          <a:xfrm>
            <a:off x="7845552" y="1444752"/>
            <a:ext cx="2834640" cy="274320"/>
          </a:xfrm>
          <a:prstGeom prst="rect">
            <a:avLst/>
          </a:prstGeom>
          <a:noFill/>
        </p:spPr>
        <p:txBody>
          <a:bodyPr wrap="square" lIns="45720" tIns="27432" rIns="45720" bIns="27432" anchor="t">
            <a:spAutoFit/>
          </a:bodyPr>
          <a:lstStyle/>
          <a:p>
            <a:pPr algn="l">
              <a:lnSpc>
                <a:spcPct val="105000"/>
              </a:lnSpc>
              <a:spcAft>
                <a:spcPts val="200"/>
              </a:spcAft>
            </a:pPr>
            <a:r>
              <a:rPr sz="1250" b="0">
                <a:solidFill>
                  <a:srgbClr val="16202A"/>
                </a:solidFill>
                <a:latin typeface="Microsoft YaHei"/>
              </a:rPr>
              <a:t>每个时隙的2-bit相位矩阵，用于远海链路增强。</a:t>
            </a:r>
          </a:p>
        </p:txBody>
      </p:sp>
      <p:sp>
        <p:nvSpPr>
          <p:cNvPr id="13" name="Rectangle 12"/>
          <p:cNvSpPr/>
          <p:nvPr/>
        </p:nvSpPr>
        <p:spPr>
          <a:xfrm>
            <a:off x="777240" y="2331720"/>
            <a:ext cx="4800600" cy="74980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2450591"/>
            <a:ext cx="1417320" cy="237744"/>
          </a:xfrm>
          <a:prstGeom prst="rect">
            <a:avLst/>
          </a:prstGeom>
          <a:noFill/>
        </p:spPr>
        <p:txBody>
          <a:bodyPr wrap="square" lIns="45720" tIns="27432" rIns="45720" bIns="27432" anchor="t">
            <a:spAutoFit/>
          </a:bodyPr>
          <a:lstStyle/>
          <a:p>
            <a:pPr algn="l">
              <a:lnSpc>
                <a:spcPct val="105000"/>
              </a:lnSpc>
              <a:spcAft>
                <a:spcPts val="200"/>
              </a:spcAft>
            </a:pPr>
            <a:r>
              <a:rPr sz="1450" b="1">
                <a:solidFill>
                  <a:srgbClr val="2A9D8F"/>
                </a:solidFill>
                <a:latin typeface="Microsoft YaHei"/>
              </a:rPr>
              <a:t>功率与带宽</a:t>
            </a:r>
          </a:p>
        </p:txBody>
      </p:sp>
      <p:sp>
        <p:nvSpPr>
          <p:cNvPr id="15" name="TextBox 14"/>
          <p:cNvSpPr txBox="1"/>
          <p:nvPr/>
        </p:nvSpPr>
        <p:spPr>
          <a:xfrm>
            <a:off x="2404872" y="2450591"/>
            <a:ext cx="2834640" cy="274320"/>
          </a:xfrm>
          <a:prstGeom prst="rect">
            <a:avLst/>
          </a:prstGeom>
          <a:noFill/>
        </p:spPr>
        <p:txBody>
          <a:bodyPr wrap="square" lIns="45720" tIns="27432" rIns="45720" bIns="27432" anchor="t">
            <a:spAutoFit/>
          </a:bodyPr>
          <a:lstStyle/>
          <a:p>
            <a:pPr algn="l">
              <a:lnSpc>
                <a:spcPct val="105000"/>
              </a:lnSpc>
              <a:spcAft>
                <a:spcPts val="200"/>
              </a:spcAft>
            </a:pPr>
            <a:r>
              <a:rPr sz="1250" b="0">
                <a:solidFill>
                  <a:srgbClr val="16202A"/>
                </a:solidFill>
                <a:latin typeface="Microsoft YaHei"/>
              </a:rPr>
              <a:t>在总资源约束下优先给高价值节点。</a:t>
            </a:r>
          </a:p>
        </p:txBody>
      </p:sp>
      <p:sp>
        <p:nvSpPr>
          <p:cNvPr id="16" name="Rectangle 15"/>
          <p:cNvSpPr/>
          <p:nvPr/>
        </p:nvSpPr>
        <p:spPr>
          <a:xfrm>
            <a:off x="6217920" y="2331720"/>
            <a:ext cx="4800600" cy="74980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450591"/>
            <a:ext cx="1417320" cy="237744"/>
          </a:xfrm>
          <a:prstGeom prst="rect">
            <a:avLst/>
          </a:prstGeom>
          <a:noFill/>
        </p:spPr>
        <p:txBody>
          <a:bodyPr wrap="square" lIns="45720" tIns="27432" rIns="45720" bIns="27432" anchor="t">
            <a:spAutoFit/>
          </a:bodyPr>
          <a:lstStyle/>
          <a:p>
            <a:pPr algn="l">
              <a:lnSpc>
                <a:spcPct val="105000"/>
              </a:lnSpc>
              <a:spcAft>
                <a:spcPts val="200"/>
              </a:spcAft>
            </a:pPr>
            <a:r>
              <a:rPr sz="1450" b="1">
                <a:solidFill>
                  <a:srgbClr val="2A9D8F"/>
                </a:solidFill>
                <a:latin typeface="Microsoft YaHei"/>
              </a:rPr>
              <a:t>密钥分配</a:t>
            </a:r>
          </a:p>
        </p:txBody>
      </p:sp>
      <p:sp>
        <p:nvSpPr>
          <p:cNvPr id="18" name="TextBox 17"/>
          <p:cNvSpPr txBox="1"/>
          <p:nvPr/>
        </p:nvSpPr>
        <p:spPr>
          <a:xfrm>
            <a:off x="7845552" y="2450591"/>
            <a:ext cx="2834640" cy="274320"/>
          </a:xfrm>
          <a:prstGeom prst="rect">
            <a:avLst/>
          </a:prstGeom>
          <a:noFill/>
        </p:spPr>
        <p:txBody>
          <a:bodyPr wrap="square" lIns="45720" tIns="27432" rIns="45720" bIns="27432" anchor="t">
            <a:spAutoFit/>
          </a:bodyPr>
          <a:lstStyle/>
          <a:p>
            <a:pPr algn="l">
              <a:lnSpc>
                <a:spcPct val="105000"/>
              </a:lnSpc>
              <a:spcAft>
                <a:spcPts val="200"/>
              </a:spcAft>
            </a:pPr>
            <a:r>
              <a:rPr sz="1250" b="0">
                <a:solidFill>
                  <a:srgbClr val="16202A"/>
                </a:solidFill>
                <a:latin typeface="Microsoft YaHei"/>
              </a:rPr>
              <a:t>把有限QKD密钥分配给关键安全数据。</a:t>
            </a:r>
          </a:p>
        </p:txBody>
      </p:sp>
      <p:sp>
        <p:nvSpPr>
          <p:cNvPr id="19" name="Rectangle 18"/>
          <p:cNvSpPr/>
          <p:nvPr/>
        </p:nvSpPr>
        <p:spPr>
          <a:xfrm>
            <a:off x="777240" y="3337560"/>
            <a:ext cx="4800600" cy="74980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8408" y="3456432"/>
            <a:ext cx="1417320" cy="237744"/>
          </a:xfrm>
          <a:prstGeom prst="rect">
            <a:avLst/>
          </a:prstGeom>
          <a:noFill/>
        </p:spPr>
        <p:txBody>
          <a:bodyPr wrap="square" lIns="45720" tIns="27432" rIns="45720" bIns="27432" anchor="t">
            <a:spAutoFit/>
          </a:bodyPr>
          <a:lstStyle/>
          <a:p>
            <a:pPr algn="l">
              <a:lnSpc>
                <a:spcPct val="105000"/>
              </a:lnSpc>
              <a:spcAft>
                <a:spcPts val="200"/>
              </a:spcAft>
            </a:pPr>
            <a:r>
              <a:rPr sz="1450" b="1">
                <a:solidFill>
                  <a:srgbClr val="2A9D8F"/>
                </a:solidFill>
                <a:latin typeface="Microsoft YaHei"/>
              </a:rPr>
              <a:t>安全数据指标</a:t>
            </a:r>
          </a:p>
        </p:txBody>
      </p:sp>
      <p:sp>
        <p:nvSpPr>
          <p:cNvPr id="21" name="TextBox 20"/>
          <p:cNvSpPr txBox="1"/>
          <p:nvPr/>
        </p:nvSpPr>
        <p:spPr>
          <a:xfrm>
            <a:off x="2404872" y="3456432"/>
            <a:ext cx="2971064" cy="245067"/>
          </a:xfrm>
          <a:prstGeom prst="rect">
            <a:avLst/>
          </a:prstGeom>
          <a:noFill/>
        </p:spPr>
        <p:txBody>
          <a:bodyPr wrap="square" lIns="45720" tIns="27432" rIns="45720" bIns="27432" anchor="t">
            <a:spAutoFit/>
          </a:bodyPr>
          <a:lstStyle/>
          <a:p>
            <a:pPr algn="l">
              <a:lnSpc>
                <a:spcPct val="105000"/>
              </a:lnSpc>
              <a:spcAft>
                <a:spcPts val="200"/>
              </a:spcAft>
            </a:pPr>
            <a:r>
              <a:rPr sz="1250" b="0" dirty="0" err="1">
                <a:solidFill>
                  <a:srgbClr val="16202A"/>
                </a:solidFill>
                <a:latin typeface="Microsoft YaHei"/>
              </a:rPr>
              <a:t>输出安全能效、约束违反量和收敛曲线</a:t>
            </a:r>
            <a:r>
              <a:rPr sz="1250" b="0" dirty="0">
                <a:solidFill>
                  <a:srgbClr val="16202A"/>
                </a:solidFill>
                <a:latin typeface="Microsoft YaHei"/>
              </a:rPr>
              <a:t>。</a:t>
            </a:r>
          </a:p>
        </p:txBody>
      </p:sp>
      <p:sp>
        <p:nvSpPr>
          <p:cNvPr id="22" name="TextBox 21"/>
          <p:cNvSpPr txBox="1"/>
          <p:nvPr/>
        </p:nvSpPr>
        <p:spPr>
          <a:xfrm>
            <a:off x="868680" y="5074920"/>
            <a:ext cx="10058400" cy="640080"/>
          </a:xfrm>
          <a:prstGeom prst="rect">
            <a:avLst/>
          </a:prstGeom>
          <a:noFill/>
        </p:spPr>
        <p:txBody>
          <a:bodyPr wrap="square" lIns="45720" tIns="27432" rIns="45720" bIns="27432" anchor="t">
            <a:spAutoFit/>
          </a:bodyPr>
          <a:lstStyle/>
          <a:p>
            <a:pPr algn="l">
              <a:lnSpc>
                <a:spcPct val="112000"/>
              </a:lnSpc>
              <a:spcAft>
                <a:spcPts val="200"/>
              </a:spcAft>
            </a:pPr>
            <a:r>
              <a:rPr sz="1380" b="0">
                <a:solidFill>
                  <a:srgbClr val="56606A"/>
                </a:solidFill>
                <a:latin typeface="Microsoft YaHei"/>
              </a:rPr>
              <a:t>复杂度控制策略：RIS相位使用投影量化避免指数级搜索，资源分配交给凸优化器保证数值稳定，轨迹只在当前点附近做逐次凸近似更新。这样既保留非凸联合优化的主要结构，又能在课程项目规模内完整复现。</a:t>
            </a:r>
          </a:p>
        </p:txBody>
      </p:sp>
      <p:sp>
        <p:nvSpPr>
          <p:cNvPr id="23" name="Rectangle 22"/>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25" name="TextBox 24"/>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51/77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PSEUDOCODE</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Algorithm 1：Q-RIS-UAV-AO伪代码</a:t>
            </a:r>
          </a:p>
        </p:txBody>
      </p:sp>
      <p:sp>
        <p:nvSpPr>
          <p:cNvPr id="7" name="Rectangle 6"/>
          <p:cNvSpPr/>
          <p:nvPr/>
        </p:nvSpPr>
        <p:spPr>
          <a:xfrm>
            <a:off x="640080" y="1234440"/>
            <a:ext cx="6720840" cy="5074920"/>
          </a:xfrm>
          <a:prstGeom prst="rect">
            <a:avLst/>
          </a:prstGeom>
          <a:solidFill>
            <a:srgbClr val="16202A"/>
          </a:solidFill>
          <a:ln w="8890">
            <a:solidFill>
              <a:srgbClr val="162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444752"/>
            <a:ext cx="6263640" cy="302070"/>
          </a:xfrm>
          <a:prstGeom prst="rect">
            <a:avLst/>
          </a:prstGeom>
          <a:noFill/>
        </p:spPr>
        <p:txBody>
          <a:bodyPr wrap="square" lIns="45720" tIns="27432" rIns="45720" bIns="27432" anchor="t">
            <a:spAutoFit/>
          </a:bodyPr>
          <a:lstStyle/>
          <a:p>
            <a:pPr algn="l">
              <a:lnSpc>
                <a:spcPct val="105000"/>
              </a:lnSpc>
              <a:spcAft>
                <a:spcPts val="200"/>
              </a:spcAft>
            </a:pPr>
            <a:r>
              <a:rPr sz="1600" b="1" dirty="0">
                <a:solidFill>
                  <a:srgbClr val="E9C46A"/>
                </a:solidFill>
                <a:latin typeface="Consolas"/>
              </a:rPr>
              <a:t>Algorithm 1  Q-RIS-UAV-AO</a:t>
            </a:r>
          </a:p>
        </p:txBody>
      </p:sp>
      <p:sp>
        <p:nvSpPr>
          <p:cNvPr id="9" name="TextBox 8"/>
          <p:cNvSpPr txBox="1"/>
          <p:nvPr/>
        </p:nvSpPr>
        <p:spPr>
          <a:xfrm>
            <a:off x="914400" y="1728216"/>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Input : node set 𝒦, slots 𝒩, RIS codebook 𝒬₂bit,</a:t>
            </a:r>
          </a:p>
        </p:txBody>
      </p:sp>
      <p:sp>
        <p:nvSpPr>
          <p:cNvPr id="10" name="TextBox 9"/>
          <p:cNvSpPr txBox="1"/>
          <p:nvPr/>
        </p:nvSpPr>
        <p:spPr>
          <a:xfrm>
            <a:off x="914400" y="2011680"/>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        QKD supply Kᴽᴷᴰ[n], budgets Pₘₐₓ, Bₘₐₓ, Eₘₐₓ</a:t>
            </a:r>
          </a:p>
        </p:txBody>
      </p:sp>
      <p:sp>
        <p:nvSpPr>
          <p:cNvPr id="11" name="TextBox 10"/>
          <p:cNvSpPr txBox="1"/>
          <p:nvPr/>
        </p:nvSpPr>
        <p:spPr>
          <a:xfrm>
            <a:off x="914400" y="2295144"/>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Output: 𝒒[n], 𝜣[n], aₖ[n], pₖ[n], bₖ[n], sₖ[n], κₖ[n]</a:t>
            </a:r>
          </a:p>
        </p:txBody>
      </p:sp>
      <p:sp>
        <p:nvSpPr>
          <p:cNvPr id="12" name="TextBox 11"/>
          <p:cNvSpPr txBox="1"/>
          <p:nvPr/>
        </p:nvSpPr>
        <p:spPr>
          <a:xfrm>
            <a:off x="914400" y="2578608"/>
            <a:ext cx="6263640" cy="219456"/>
          </a:xfrm>
          <a:prstGeom prst="rect">
            <a:avLst/>
          </a:prstGeom>
          <a:noFill/>
        </p:spPr>
        <p:txBody>
          <a:bodyPr wrap="square" lIns="45720" tIns="27432" rIns="45720" bIns="27432" anchor="t">
            <a:spAutoFit/>
          </a:bodyPr>
          <a:lstStyle/>
          <a:p>
            <a:pPr algn="l">
              <a:lnSpc>
                <a:spcPct val="105000"/>
              </a:lnSpc>
              <a:spcAft>
                <a:spcPts val="200"/>
              </a:spcAft>
            </a:pPr>
            <a:endParaRPr/>
          </a:p>
        </p:txBody>
      </p:sp>
      <p:sp>
        <p:nvSpPr>
          <p:cNvPr id="13" name="TextBox 12"/>
          <p:cNvSpPr txBox="1"/>
          <p:nvPr/>
        </p:nvSpPr>
        <p:spPr>
          <a:xfrm>
            <a:off x="914400" y="2862072"/>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1: initialize 𝒒⁽⁰⁾, 𝜣⁽⁰⁾, 𝒂⁽⁰⁾, η⁽⁰⁾</a:t>
            </a:r>
          </a:p>
        </p:txBody>
      </p:sp>
      <p:sp>
        <p:nvSpPr>
          <p:cNvPr id="14" name="TextBox 13"/>
          <p:cNvSpPr txBox="1"/>
          <p:nvPr/>
        </p:nvSpPr>
        <p:spPr>
          <a:xfrm>
            <a:off x="914400" y="3145536"/>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2: for t = 0,1,...,Tₘₐₓ do</a:t>
            </a:r>
          </a:p>
        </p:txBody>
      </p:sp>
      <p:sp>
        <p:nvSpPr>
          <p:cNvPr id="15" name="TextBox 14"/>
          <p:cNvSpPr txBox="1"/>
          <p:nvPr/>
        </p:nvSpPr>
        <p:spPr>
          <a:xfrm>
            <a:off x="914400" y="3429000"/>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3:     compute channel hₖ[n] and priority wₖ[n]</a:t>
            </a:r>
          </a:p>
        </p:txBody>
      </p:sp>
      <p:sp>
        <p:nvSpPr>
          <p:cNvPr id="16" name="TextBox 15"/>
          <p:cNvSpPr txBox="1"/>
          <p:nvPr/>
        </p:nvSpPr>
        <p:spPr>
          <a:xfrm>
            <a:off x="914400" y="3712464"/>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4:     update scheduling aₖ[n] by 𝑺coreₖ[n]</a:t>
            </a:r>
          </a:p>
        </p:txBody>
      </p:sp>
      <p:sp>
        <p:nvSpPr>
          <p:cNvPr id="17" name="TextBox 16"/>
          <p:cNvSpPr txBox="1"/>
          <p:nvPr/>
        </p:nvSpPr>
        <p:spPr>
          <a:xfrm>
            <a:off x="914400" y="3995928"/>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5:     solve {pₖ,bₖ,sₖ,κₖ} by convex resource allocation</a:t>
            </a:r>
          </a:p>
        </p:txBody>
      </p:sp>
      <p:sp>
        <p:nvSpPr>
          <p:cNvPr id="18" name="TextBox 17"/>
          <p:cNvSpPr txBox="1"/>
          <p:nvPr/>
        </p:nvSpPr>
        <p:spPr>
          <a:xfrm>
            <a:off x="914400" y="4279392"/>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6:     align RIS phase θₘ* and project it to 𝒬₂bit</a:t>
            </a:r>
          </a:p>
        </p:txBody>
      </p:sp>
      <p:sp>
        <p:nvSpPr>
          <p:cNvPr id="19" name="TextBox 18"/>
          <p:cNvSpPr txBox="1"/>
          <p:nvPr/>
        </p:nvSpPr>
        <p:spPr>
          <a:xfrm>
            <a:off x="914400" y="4562856"/>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7:     update UAV trajectory 𝒒 by SCA lower-bound step</a:t>
            </a:r>
          </a:p>
        </p:txBody>
      </p:sp>
      <p:sp>
        <p:nvSpPr>
          <p:cNvPr id="20" name="TextBox 19"/>
          <p:cNvSpPr txBox="1"/>
          <p:nvPr/>
        </p:nvSpPr>
        <p:spPr>
          <a:xfrm>
            <a:off x="914400" y="4846320"/>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8:     η⁽ᵗ⁺¹⁾ = 𝑭(𝒙⁽ᵗ⁾) / 𝑮(𝒙⁽ᵗ⁾)</a:t>
            </a:r>
          </a:p>
        </p:txBody>
      </p:sp>
      <p:sp>
        <p:nvSpPr>
          <p:cNvPr id="21" name="TextBox 20"/>
          <p:cNvSpPr txBox="1"/>
          <p:nvPr/>
        </p:nvSpPr>
        <p:spPr>
          <a:xfrm>
            <a:off x="914400" y="5129784"/>
            <a:ext cx="6263640" cy="216470"/>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9:     stop if |𝑭(𝒙⁽ᵗ⁾)-η⁽ᵗ⁾𝑮(𝒙⁽ᵗ⁾)| ≤ ε</a:t>
            </a:r>
          </a:p>
        </p:txBody>
      </p:sp>
      <p:sp>
        <p:nvSpPr>
          <p:cNvPr id="22" name="TextBox 21"/>
          <p:cNvSpPr txBox="1"/>
          <p:nvPr/>
        </p:nvSpPr>
        <p:spPr>
          <a:xfrm>
            <a:off x="914400" y="5413248"/>
            <a:ext cx="6263640" cy="217304"/>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EBF0F4"/>
                </a:solidFill>
                <a:latin typeface="Consolas"/>
              </a:rPr>
              <a:t>10: end for</a:t>
            </a:r>
          </a:p>
        </p:txBody>
      </p:sp>
      <p:sp>
        <p:nvSpPr>
          <p:cNvPr id="23" name="Rectangle 22"/>
          <p:cNvSpPr/>
          <p:nvPr/>
        </p:nvSpPr>
        <p:spPr>
          <a:xfrm>
            <a:off x="7635240" y="1280160"/>
            <a:ext cx="3611880" cy="21488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36408" y="1444751"/>
            <a:ext cx="32095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读法说明</a:t>
            </a:r>
          </a:p>
        </p:txBody>
      </p:sp>
      <p:sp>
        <p:nvSpPr>
          <p:cNvPr id="25" name="TextBox 24"/>
          <p:cNvSpPr txBox="1"/>
          <p:nvPr/>
        </p:nvSpPr>
        <p:spPr>
          <a:xfrm>
            <a:off x="7836408" y="1810512"/>
            <a:ext cx="32095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该页给出论文伪码格式：输入集合、预算和码本，输出轨迹、相位、调度、资源和密钥。第4至7行对应四个交替优化子问题，第8至9行对应Dinkelbach外层参数更新与停止判据。</a:t>
            </a:r>
          </a:p>
        </p:txBody>
      </p:sp>
      <p:sp>
        <p:nvSpPr>
          <p:cNvPr id="26" name="Rectangle 25"/>
          <p:cNvSpPr/>
          <p:nvPr/>
        </p:nvSpPr>
        <p:spPr>
          <a:xfrm>
            <a:off x="7635240" y="3703320"/>
            <a:ext cx="3611880" cy="205740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36408" y="3867911"/>
            <a:ext cx="32095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计算规模</a:t>
            </a:r>
          </a:p>
        </p:txBody>
      </p:sp>
      <p:sp>
        <p:nvSpPr>
          <p:cNvPr id="28" name="TextBox 27"/>
          <p:cNvSpPr txBox="1"/>
          <p:nvPr/>
        </p:nvSpPr>
        <p:spPr>
          <a:xfrm>
            <a:off x="7836408" y="4233672"/>
            <a:ext cx="3209544" cy="1285352"/>
          </a:xfrm>
          <a:prstGeom prst="rect">
            <a:avLst/>
          </a:prstGeom>
          <a:noFill/>
        </p:spPr>
        <p:txBody>
          <a:bodyPr wrap="square" lIns="45720" tIns="27432" rIns="45720" bIns="27432" anchor="t">
            <a:spAutoFit/>
          </a:bodyPr>
          <a:lstStyle/>
          <a:p>
            <a:pPr algn="l">
              <a:lnSpc>
                <a:spcPct val="116000"/>
              </a:lnSpc>
              <a:spcAft>
                <a:spcPts val="200"/>
              </a:spcAft>
            </a:pPr>
            <a:r>
              <a:rPr sz="1400" b="0" dirty="0" err="1">
                <a:solidFill>
                  <a:srgbClr val="16202A"/>
                </a:solidFill>
                <a:latin typeface="Microsoft YaHei"/>
              </a:rPr>
              <a:t>直接枚举</a:t>
            </a:r>
            <a:r>
              <a:rPr sz="1400" b="0" dirty="0">
                <a:solidFill>
                  <a:srgbClr val="16202A"/>
                </a:solidFill>
                <a:latin typeface="Microsoft YaHei"/>
              </a:rPr>
              <a:t>𝒂和𝜣</a:t>
            </a:r>
            <a:r>
              <a:rPr sz="1400" b="0" dirty="0" err="1">
                <a:solidFill>
                  <a:srgbClr val="16202A"/>
                </a:solidFill>
                <a:latin typeface="Microsoft YaHei"/>
              </a:rPr>
              <a:t>会导致组合复杂度随</a:t>
            </a:r>
            <a:r>
              <a:rPr sz="1400" b="0" dirty="0">
                <a:solidFill>
                  <a:srgbClr val="16202A"/>
                </a:solidFill>
                <a:latin typeface="Microsoft YaHei"/>
              </a:rPr>
              <a:t>|𝒦|、|𝒩|</a:t>
            </a:r>
            <a:r>
              <a:rPr sz="1400" b="0" dirty="0" err="1">
                <a:solidFill>
                  <a:srgbClr val="16202A"/>
                </a:solidFill>
                <a:latin typeface="Microsoft YaHei"/>
              </a:rPr>
              <a:t>和RIS单元数指数增长。伪代码通过“离散启发式</a:t>
            </a:r>
            <a:r>
              <a:rPr sz="1400" b="0" dirty="0">
                <a:solidFill>
                  <a:srgbClr val="16202A"/>
                </a:solidFill>
                <a:latin typeface="Microsoft YaHei"/>
              </a:rPr>
              <a:t> + </a:t>
            </a:r>
            <a:r>
              <a:rPr sz="1400" b="0" dirty="0" err="1">
                <a:solidFill>
                  <a:srgbClr val="16202A"/>
                </a:solidFill>
                <a:latin typeface="Microsoft YaHei"/>
              </a:rPr>
              <a:t>凸资源分配</a:t>
            </a:r>
            <a:r>
              <a:rPr sz="1400" b="0" dirty="0">
                <a:solidFill>
                  <a:srgbClr val="16202A"/>
                </a:solidFill>
                <a:latin typeface="Microsoft YaHei"/>
              </a:rPr>
              <a:t> + </a:t>
            </a:r>
            <a:r>
              <a:rPr sz="1400" b="0" dirty="0" err="1">
                <a:solidFill>
                  <a:srgbClr val="16202A"/>
                </a:solidFill>
                <a:latin typeface="Microsoft YaHei"/>
              </a:rPr>
              <a:t>局部轨迹近似”把求解转化为可复现实验规模</a:t>
            </a:r>
            <a:r>
              <a:rPr sz="1400" b="0" dirty="0">
                <a:solidFill>
                  <a:srgbClr val="16202A"/>
                </a:solidFill>
                <a:latin typeface="Microsoft YaHei"/>
              </a:rPr>
              <a:t>。</a:t>
            </a:r>
          </a:p>
        </p:txBody>
      </p:sp>
      <p:sp>
        <p:nvSpPr>
          <p:cNvPr id="29" name="Rectangle 28"/>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31" name="TextBox 30"/>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52/77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PSEUDOCODE</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四、Q-RIS-UAV-AO算法</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算法伪代码与停止准则</a:t>
            </a:r>
          </a:p>
        </p:txBody>
      </p:sp>
      <p:sp>
        <p:nvSpPr>
          <p:cNvPr id="7" name="Rectangle 6"/>
          <p:cNvSpPr/>
          <p:nvPr/>
        </p:nvSpPr>
        <p:spPr>
          <a:xfrm>
            <a:off x="777240" y="1280160"/>
            <a:ext cx="5532120" cy="452628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600200"/>
            <a:ext cx="292608" cy="237744"/>
          </a:xfrm>
          <a:prstGeom prst="rect">
            <a:avLst/>
          </a:prstGeom>
          <a:noFill/>
        </p:spPr>
        <p:txBody>
          <a:bodyPr wrap="square" lIns="45720" tIns="27432" rIns="45720" bIns="27432" anchor="t">
            <a:spAutoFit/>
          </a:bodyPr>
          <a:lstStyle/>
          <a:p>
            <a:pPr algn="l">
              <a:lnSpc>
                <a:spcPct val="105000"/>
              </a:lnSpc>
              <a:spcAft>
                <a:spcPts val="200"/>
              </a:spcAft>
            </a:pPr>
            <a:r>
              <a:rPr sz="1150" b="1">
                <a:solidFill>
                  <a:srgbClr val="E9C46A"/>
                </a:solidFill>
                <a:latin typeface="Aptos"/>
              </a:rPr>
              <a:t>1</a:t>
            </a:r>
          </a:p>
        </p:txBody>
      </p:sp>
      <p:sp>
        <p:nvSpPr>
          <p:cNvPr id="9" name="TextBox 8"/>
          <p:cNvSpPr txBox="1"/>
          <p:nvPr/>
        </p:nvSpPr>
        <p:spPr>
          <a:xfrm>
            <a:off x="1417320" y="1581912"/>
            <a:ext cx="4434840" cy="310896"/>
          </a:xfrm>
          <a:prstGeom prst="rect">
            <a:avLst/>
          </a:prstGeom>
          <a:noFill/>
        </p:spPr>
        <p:txBody>
          <a:bodyPr wrap="square" lIns="45720" tIns="27432" rIns="45720" bIns="27432" anchor="t">
            <a:spAutoFit/>
          </a:bodyPr>
          <a:lstStyle/>
          <a:p>
            <a:pPr algn="l">
              <a:lnSpc>
                <a:spcPct val="105000"/>
              </a:lnSpc>
              <a:spcAft>
                <a:spcPts val="200"/>
              </a:spcAft>
            </a:pPr>
            <a:r>
              <a:rPr sz="1280" b="0">
                <a:solidFill>
                  <a:srgbClr val="FFFFFF"/>
                </a:solidFill>
                <a:latin typeface="Microsoft YaHei"/>
              </a:rPr>
              <a:t>初始化UAV轨迹、RIS相位、调度变量和能效参数。</a:t>
            </a:r>
          </a:p>
        </p:txBody>
      </p:sp>
      <p:sp>
        <p:nvSpPr>
          <p:cNvPr id="10" name="TextBox 9"/>
          <p:cNvSpPr txBox="1"/>
          <p:nvPr/>
        </p:nvSpPr>
        <p:spPr>
          <a:xfrm>
            <a:off x="1024128" y="2167128"/>
            <a:ext cx="292608" cy="237744"/>
          </a:xfrm>
          <a:prstGeom prst="rect">
            <a:avLst/>
          </a:prstGeom>
          <a:noFill/>
        </p:spPr>
        <p:txBody>
          <a:bodyPr wrap="square" lIns="45720" tIns="27432" rIns="45720" bIns="27432" anchor="t">
            <a:spAutoFit/>
          </a:bodyPr>
          <a:lstStyle/>
          <a:p>
            <a:pPr algn="l">
              <a:lnSpc>
                <a:spcPct val="105000"/>
              </a:lnSpc>
              <a:spcAft>
                <a:spcPts val="200"/>
              </a:spcAft>
            </a:pPr>
            <a:r>
              <a:rPr sz="1150" b="1">
                <a:solidFill>
                  <a:srgbClr val="E9C46A"/>
                </a:solidFill>
                <a:latin typeface="Aptos"/>
              </a:rPr>
              <a:t>2</a:t>
            </a:r>
          </a:p>
        </p:txBody>
      </p:sp>
      <p:sp>
        <p:nvSpPr>
          <p:cNvPr id="11" name="TextBox 10"/>
          <p:cNvSpPr txBox="1"/>
          <p:nvPr/>
        </p:nvSpPr>
        <p:spPr>
          <a:xfrm>
            <a:off x="1417320" y="2148840"/>
            <a:ext cx="4434840" cy="310896"/>
          </a:xfrm>
          <a:prstGeom prst="rect">
            <a:avLst/>
          </a:prstGeom>
          <a:noFill/>
        </p:spPr>
        <p:txBody>
          <a:bodyPr wrap="square" lIns="45720" tIns="27432" rIns="45720" bIns="27432" anchor="t">
            <a:spAutoFit/>
          </a:bodyPr>
          <a:lstStyle/>
          <a:p>
            <a:pPr algn="l">
              <a:lnSpc>
                <a:spcPct val="105000"/>
              </a:lnSpc>
              <a:spcAft>
                <a:spcPts val="200"/>
              </a:spcAft>
            </a:pPr>
            <a:r>
              <a:rPr sz="1280" b="0">
                <a:solidFill>
                  <a:srgbClr val="FFFFFF"/>
                </a:solidFill>
                <a:latin typeface="Microsoft YaHei"/>
              </a:rPr>
              <a:t>固定当前变量，计算节点权重、信道增益和可服务集合。</a:t>
            </a:r>
          </a:p>
        </p:txBody>
      </p:sp>
      <p:sp>
        <p:nvSpPr>
          <p:cNvPr id="12" name="TextBox 11"/>
          <p:cNvSpPr txBox="1"/>
          <p:nvPr/>
        </p:nvSpPr>
        <p:spPr>
          <a:xfrm>
            <a:off x="1024128" y="2734056"/>
            <a:ext cx="292608" cy="237744"/>
          </a:xfrm>
          <a:prstGeom prst="rect">
            <a:avLst/>
          </a:prstGeom>
          <a:noFill/>
        </p:spPr>
        <p:txBody>
          <a:bodyPr wrap="square" lIns="45720" tIns="27432" rIns="45720" bIns="27432" anchor="t">
            <a:spAutoFit/>
          </a:bodyPr>
          <a:lstStyle/>
          <a:p>
            <a:pPr algn="l">
              <a:lnSpc>
                <a:spcPct val="105000"/>
              </a:lnSpc>
              <a:spcAft>
                <a:spcPts val="200"/>
              </a:spcAft>
            </a:pPr>
            <a:r>
              <a:rPr sz="1150" b="1">
                <a:solidFill>
                  <a:srgbClr val="E9C46A"/>
                </a:solidFill>
                <a:latin typeface="Aptos"/>
              </a:rPr>
              <a:t>3</a:t>
            </a:r>
          </a:p>
        </p:txBody>
      </p:sp>
      <p:sp>
        <p:nvSpPr>
          <p:cNvPr id="13" name="TextBox 12"/>
          <p:cNvSpPr txBox="1"/>
          <p:nvPr/>
        </p:nvSpPr>
        <p:spPr>
          <a:xfrm>
            <a:off x="1417320" y="2715768"/>
            <a:ext cx="4434840" cy="310896"/>
          </a:xfrm>
          <a:prstGeom prst="rect">
            <a:avLst/>
          </a:prstGeom>
          <a:noFill/>
        </p:spPr>
        <p:txBody>
          <a:bodyPr wrap="square" lIns="45720" tIns="27432" rIns="45720" bIns="27432" anchor="t">
            <a:spAutoFit/>
          </a:bodyPr>
          <a:lstStyle/>
          <a:p>
            <a:pPr algn="l">
              <a:lnSpc>
                <a:spcPct val="105000"/>
              </a:lnSpc>
              <a:spcAft>
                <a:spcPts val="200"/>
              </a:spcAft>
            </a:pPr>
            <a:r>
              <a:rPr sz="1280" b="0">
                <a:solidFill>
                  <a:srgbClr val="FFFFFF"/>
                </a:solidFill>
                <a:latin typeface="Microsoft YaHei"/>
              </a:rPr>
              <a:t>更新调度，再用CVXPY求解功率、密钥和安全数据量。</a:t>
            </a:r>
          </a:p>
        </p:txBody>
      </p:sp>
      <p:sp>
        <p:nvSpPr>
          <p:cNvPr id="14" name="TextBox 13"/>
          <p:cNvSpPr txBox="1"/>
          <p:nvPr/>
        </p:nvSpPr>
        <p:spPr>
          <a:xfrm>
            <a:off x="1024128" y="3300984"/>
            <a:ext cx="292608" cy="237744"/>
          </a:xfrm>
          <a:prstGeom prst="rect">
            <a:avLst/>
          </a:prstGeom>
          <a:noFill/>
        </p:spPr>
        <p:txBody>
          <a:bodyPr wrap="square" lIns="45720" tIns="27432" rIns="45720" bIns="27432" anchor="t">
            <a:spAutoFit/>
          </a:bodyPr>
          <a:lstStyle/>
          <a:p>
            <a:pPr algn="l">
              <a:lnSpc>
                <a:spcPct val="105000"/>
              </a:lnSpc>
              <a:spcAft>
                <a:spcPts val="200"/>
              </a:spcAft>
            </a:pPr>
            <a:r>
              <a:rPr sz="1150" b="1">
                <a:solidFill>
                  <a:srgbClr val="E9C46A"/>
                </a:solidFill>
                <a:latin typeface="Aptos"/>
              </a:rPr>
              <a:t>4</a:t>
            </a:r>
          </a:p>
        </p:txBody>
      </p:sp>
      <p:sp>
        <p:nvSpPr>
          <p:cNvPr id="15" name="TextBox 14"/>
          <p:cNvSpPr txBox="1"/>
          <p:nvPr/>
        </p:nvSpPr>
        <p:spPr>
          <a:xfrm>
            <a:off x="1417320" y="3282696"/>
            <a:ext cx="4434840" cy="310896"/>
          </a:xfrm>
          <a:prstGeom prst="rect">
            <a:avLst/>
          </a:prstGeom>
          <a:noFill/>
        </p:spPr>
        <p:txBody>
          <a:bodyPr wrap="square" lIns="45720" tIns="27432" rIns="45720" bIns="27432" anchor="t">
            <a:spAutoFit/>
          </a:bodyPr>
          <a:lstStyle/>
          <a:p>
            <a:pPr algn="l">
              <a:lnSpc>
                <a:spcPct val="105000"/>
              </a:lnSpc>
              <a:spcAft>
                <a:spcPts val="200"/>
              </a:spcAft>
            </a:pPr>
            <a:r>
              <a:rPr sz="1280" b="0">
                <a:solidFill>
                  <a:srgbClr val="FFFFFF"/>
                </a:solidFill>
                <a:latin typeface="Microsoft YaHei"/>
              </a:rPr>
              <a:t>按相位对齐规则更新RIS相位，并投影到2-bit码本。</a:t>
            </a:r>
          </a:p>
        </p:txBody>
      </p:sp>
      <p:sp>
        <p:nvSpPr>
          <p:cNvPr id="16" name="TextBox 15"/>
          <p:cNvSpPr txBox="1"/>
          <p:nvPr/>
        </p:nvSpPr>
        <p:spPr>
          <a:xfrm>
            <a:off x="1024128" y="3867912"/>
            <a:ext cx="292608" cy="237744"/>
          </a:xfrm>
          <a:prstGeom prst="rect">
            <a:avLst/>
          </a:prstGeom>
          <a:noFill/>
        </p:spPr>
        <p:txBody>
          <a:bodyPr wrap="square" lIns="45720" tIns="27432" rIns="45720" bIns="27432" anchor="t">
            <a:spAutoFit/>
          </a:bodyPr>
          <a:lstStyle/>
          <a:p>
            <a:pPr algn="l">
              <a:lnSpc>
                <a:spcPct val="105000"/>
              </a:lnSpc>
              <a:spcAft>
                <a:spcPts val="200"/>
              </a:spcAft>
            </a:pPr>
            <a:r>
              <a:rPr sz="1150" b="1">
                <a:solidFill>
                  <a:srgbClr val="E9C46A"/>
                </a:solidFill>
                <a:latin typeface="Aptos"/>
              </a:rPr>
              <a:t>5</a:t>
            </a:r>
          </a:p>
        </p:txBody>
      </p:sp>
      <p:sp>
        <p:nvSpPr>
          <p:cNvPr id="17" name="TextBox 16"/>
          <p:cNvSpPr txBox="1"/>
          <p:nvPr/>
        </p:nvSpPr>
        <p:spPr>
          <a:xfrm>
            <a:off x="1417320" y="3849624"/>
            <a:ext cx="4434840" cy="310896"/>
          </a:xfrm>
          <a:prstGeom prst="rect">
            <a:avLst/>
          </a:prstGeom>
          <a:noFill/>
        </p:spPr>
        <p:txBody>
          <a:bodyPr wrap="square" lIns="45720" tIns="27432" rIns="45720" bIns="27432" anchor="t">
            <a:spAutoFit/>
          </a:bodyPr>
          <a:lstStyle/>
          <a:p>
            <a:pPr algn="l">
              <a:lnSpc>
                <a:spcPct val="105000"/>
              </a:lnSpc>
              <a:spcAft>
                <a:spcPts val="200"/>
              </a:spcAft>
            </a:pPr>
            <a:r>
              <a:rPr sz="1280" b="0">
                <a:solidFill>
                  <a:srgbClr val="FFFFFF"/>
                </a:solidFill>
                <a:latin typeface="Microsoft YaHei"/>
              </a:rPr>
              <a:t>用逐次凸近似更新UAV轨迹，随后更新Dinkelbach参数。</a:t>
            </a:r>
          </a:p>
        </p:txBody>
      </p:sp>
      <p:sp>
        <p:nvSpPr>
          <p:cNvPr id="18" name="TextBox 17"/>
          <p:cNvSpPr txBox="1"/>
          <p:nvPr/>
        </p:nvSpPr>
        <p:spPr>
          <a:xfrm>
            <a:off x="1024128" y="4434840"/>
            <a:ext cx="292608" cy="237744"/>
          </a:xfrm>
          <a:prstGeom prst="rect">
            <a:avLst/>
          </a:prstGeom>
          <a:noFill/>
        </p:spPr>
        <p:txBody>
          <a:bodyPr wrap="square" lIns="45720" tIns="27432" rIns="45720" bIns="27432" anchor="t">
            <a:spAutoFit/>
          </a:bodyPr>
          <a:lstStyle/>
          <a:p>
            <a:pPr algn="l">
              <a:lnSpc>
                <a:spcPct val="105000"/>
              </a:lnSpc>
              <a:spcAft>
                <a:spcPts val="200"/>
              </a:spcAft>
            </a:pPr>
            <a:r>
              <a:rPr sz="1150" b="1">
                <a:solidFill>
                  <a:srgbClr val="E9C46A"/>
                </a:solidFill>
                <a:latin typeface="Aptos"/>
              </a:rPr>
              <a:t>6</a:t>
            </a:r>
          </a:p>
        </p:txBody>
      </p:sp>
      <p:sp>
        <p:nvSpPr>
          <p:cNvPr id="19" name="TextBox 18"/>
          <p:cNvSpPr txBox="1"/>
          <p:nvPr/>
        </p:nvSpPr>
        <p:spPr>
          <a:xfrm>
            <a:off x="1417320" y="4416552"/>
            <a:ext cx="4434840" cy="310896"/>
          </a:xfrm>
          <a:prstGeom prst="rect">
            <a:avLst/>
          </a:prstGeom>
          <a:noFill/>
        </p:spPr>
        <p:txBody>
          <a:bodyPr wrap="square" lIns="45720" tIns="27432" rIns="45720" bIns="27432" anchor="t">
            <a:spAutoFit/>
          </a:bodyPr>
          <a:lstStyle/>
          <a:p>
            <a:pPr algn="l">
              <a:lnSpc>
                <a:spcPct val="105000"/>
              </a:lnSpc>
              <a:spcAft>
                <a:spcPts val="200"/>
              </a:spcAft>
            </a:pPr>
            <a:r>
              <a:rPr sz="1280" b="0">
                <a:solidFill>
                  <a:srgbClr val="FFFFFF"/>
                </a:solidFill>
                <a:latin typeface="Microsoft YaHei"/>
              </a:rPr>
              <a:t>若差分残差低于阈值或达到最大迭代次数，则停止。</a:t>
            </a:r>
          </a:p>
        </p:txBody>
      </p:sp>
      <p:sp>
        <p:nvSpPr>
          <p:cNvPr id="20" name="Rectangle 19"/>
          <p:cNvSpPr/>
          <p:nvPr/>
        </p:nvSpPr>
        <p:spPr>
          <a:xfrm>
            <a:off x="6629400" y="1417320"/>
            <a:ext cx="4526280" cy="2240280"/>
          </a:xfrm>
          <a:prstGeom prst="rect">
            <a:avLst/>
          </a:prstGeom>
          <a:solidFill>
            <a:srgbClr val="1D2B39"/>
          </a:solidFill>
          <a:ln w="8890">
            <a:solidFill>
              <a:srgbClr val="1D2B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0" y="1618488"/>
            <a:ext cx="4069080" cy="310896"/>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E76F51"/>
                </a:solidFill>
                <a:latin typeface="Microsoft YaHei"/>
              </a:rPr>
              <a:t>停止准则</a:t>
            </a:r>
          </a:p>
        </p:txBody>
      </p:sp>
      <p:pic>
        <p:nvPicPr>
          <p:cNvPr id="22" name="Picture 21" descr="algorithm_stop.png"/>
          <p:cNvPicPr>
            <a:picLocks noChangeAspect="1"/>
          </p:cNvPicPr>
          <p:nvPr/>
        </p:nvPicPr>
        <p:blipFill>
          <a:blip r:embed="rId2"/>
          <a:stretch>
            <a:fillRect/>
          </a:stretch>
        </p:blipFill>
        <p:spPr>
          <a:xfrm>
            <a:off x="6858000" y="2140046"/>
            <a:ext cx="4069080" cy="1178874"/>
          </a:xfrm>
          <a:prstGeom prst="rect">
            <a:avLst/>
          </a:prstGeom>
        </p:spPr>
      </p:pic>
      <p:sp>
        <p:nvSpPr>
          <p:cNvPr id="23" name="Rectangle 22"/>
          <p:cNvSpPr/>
          <p:nvPr/>
        </p:nvSpPr>
        <p:spPr>
          <a:xfrm>
            <a:off x="6629400" y="3977639"/>
            <a:ext cx="4526280" cy="155448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30568" y="4142231"/>
            <a:ext cx="412394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数值实现说明</a:t>
            </a:r>
          </a:p>
        </p:txBody>
      </p:sp>
      <p:sp>
        <p:nvSpPr>
          <p:cNvPr id="25" name="TextBox 24"/>
          <p:cNvSpPr txBox="1"/>
          <p:nvPr/>
        </p:nvSpPr>
        <p:spPr>
          <a:xfrm>
            <a:off x="6803136" y="4434840"/>
            <a:ext cx="4123944" cy="1035412"/>
          </a:xfrm>
          <a:prstGeom prst="rect">
            <a:avLst/>
          </a:prstGeom>
          <a:noFill/>
        </p:spPr>
        <p:txBody>
          <a:bodyPr wrap="square" lIns="45720" tIns="27432" rIns="45720" bIns="27432" anchor="t">
            <a:spAutoFit/>
          </a:bodyPr>
          <a:lstStyle/>
          <a:p>
            <a:pPr algn="l">
              <a:lnSpc>
                <a:spcPct val="116000"/>
              </a:lnSpc>
              <a:spcAft>
                <a:spcPts val="200"/>
              </a:spcAft>
            </a:pPr>
            <a:r>
              <a:rPr sz="1400" b="0" dirty="0">
                <a:solidFill>
                  <a:srgbClr val="16202A"/>
                </a:solidFill>
                <a:latin typeface="Microsoft YaHei"/>
              </a:rPr>
              <a:t>伪代码中的每一步都对应一个已经定义的子问题。调度和相位更新提供可行的离散决策，CVXPY子问题保证连续资源分配的数值稳定，轨迹更新保持速度和初末点约束，停止准则监控分式规划残差。</a:t>
            </a:r>
          </a:p>
        </p:txBody>
      </p:sp>
      <p:sp>
        <p:nvSpPr>
          <p:cNvPr id="26" name="Rectangle 2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28" name="TextBox 2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53/77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96012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2A9D8F"/>
                </a:solidFill>
                <a:latin typeface="Aptos"/>
              </a:rPr>
              <a:t>五</a:t>
            </a:r>
          </a:p>
        </p:txBody>
      </p:sp>
      <p:sp>
        <p:nvSpPr>
          <p:cNvPr id="4" name="TextBox 3"/>
          <p:cNvSpPr txBox="1"/>
          <p:nvPr/>
        </p:nvSpPr>
        <p:spPr>
          <a:xfrm>
            <a:off x="1664208" y="658368"/>
            <a:ext cx="8046720" cy="548640"/>
          </a:xfrm>
          <a:prstGeom prst="rect">
            <a:avLst/>
          </a:prstGeom>
          <a:noFill/>
        </p:spPr>
        <p:txBody>
          <a:bodyPr wrap="square" lIns="45720" tIns="27432" rIns="45720" bIns="27432" anchor="t">
            <a:spAutoFit/>
          </a:bodyPr>
          <a:lstStyle/>
          <a:p>
            <a:pPr algn="l">
              <a:lnSpc>
                <a:spcPct val="105000"/>
              </a:lnSpc>
              <a:spcAft>
                <a:spcPts val="200"/>
              </a:spcAft>
            </a:pPr>
            <a:r>
              <a:rPr sz="2800" b="1">
                <a:solidFill>
                  <a:srgbClr val="FFFFFF"/>
                </a:solidFill>
                <a:latin typeface="Microsoft YaHei"/>
              </a:rPr>
              <a:t>仿真实验与分析</a:t>
            </a:r>
          </a:p>
        </p:txBody>
      </p:sp>
      <p:sp>
        <p:nvSpPr>
          <p:cNvPr id="5" name="TextBox 4"/>
          <p:cNvSpPr txBox="1"/>
          <p:nvPr/>
        </p:nvSpPr>
        <p:spPr>
          <a:xfrm>
            <a:off x="1691640" y="1389888"/>
            <a:ext cx="9052560" cy="502920"/>
          </a:xfrm>
          <a:prstGeom prst="rect">
            <a:avLst/>
          </a:prstGeom>
          <a:noFill/>
        </p:spPr>
        <p:txBody>
          <a:bodyPr wrap="square" lIns="45720" tIns="27432" rIns="45720" bIns="27432" anchor="t">
            <a:spAutoFit/>
          </a:bodyPr>
          <a:lstStyle/>
          <a:p>
            <a:pPr algn="l">
              <a:lnSpc>
                <a:spcPct val="105000"/>
              </a:lnSpc>
              <a:spcAft>
                <a:spcPts val="200"/>
              </a:spcAft>
            </a:pPr>
            <a:r>
              <a:rPr sz="1500" b="0">
                <a:solidFill>
                  <a:srgbClr val="DAE2E7"/>
                </a:solidFill>
                <a:latin typeface="Microsoft YaHei"/>
              </a:rPr>
              <a:t>实验按照“链路机制—资源分配—轨迹行为—安全约束—鲁棒性”的顺序展开，逐步验证每个模块的作用。</a:t>
            </a:r>
          </a:p>
        </p:txBody>
      </p:sp>
      <p:sp>
        <p:nvSpPr>
          <p:cNvPr id="6" name="TextBox 5"/>
          <p:cNvSpPr txBox="1"/>
          <p:nvPr/>
        </p:nvSpPr>
        <p:spPr>
          <a:xfrm>
            <a:off x="1719072" y="2331720"/>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1</a:t>
            </a:r>
          </a:p>
        </p:txBody>
      </p:sp>
      <p:sp>
        <p:nvSpPr>
          <p:cNvPr id="7" name="TextBox 6"/>
          <p:cNvSpPr txBox="1"/>
          <p:nvPr/>
        </p:nvSpPr>
        <p:spPr>
          <a:xfrm>
            <a:off x="2148840" y="2313432"/>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验证RIS相位控制对远海链路增益的影响。</a:t>
            </a:r>
          </a:p>
        </p:txBody>
      </p:sp>
      <p:sp>
        <p:nvSpPr>
          <p:cNvPr id="8" name="TextBox 7"/>
          <p:cNvSpPr txBox="1"/>
          <p:nvPr/>
        </p:nvSpPr>
        <p:spPr>
          <a:xfrm>
            <a:off x="1719072" y="2990087"/>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2</a:t>
            </a:r>
          </a:p>
        </p:txBody>
      </p:sp>
      <p:sp>
        <p:nvSpPr>
          <p:cNvPr id="9" name="TextBox 8"/>
          <p:cNvSpPr txBox="1"/>
          <p:nvPr/>
        </p:nvSpPr>
        <p:spPr>
          <a:xfrm>
            <a:off x="2148840" y="2971799"/>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验证联合优化算法的收敛性及其相对基线优势。</a:t>
            </a:r>
          </a:p>
        </p:txBody>
      </p:sp>
      <p:sp>
        <p:nvSpPr>
          <p:cNvPr id="10" name="TextBox 9"/>
          <p:cNvSpPr txBox="1"/>
          <p:nvPr/>
        </p:nvSpPr>
        <p:spPr>
          <a:xfrm>
            <a:off x="1719072" y="3648456"/>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3</a:t>
            </a:r>
          </a:p>
        </p:txBody>
      </p:sp>
      <p:sp>
        <p:nvSpPr>
          <p:cNvPr id="11" name="TextBox 10"/>
          <p:cNvSpPr txBox="1"/>
          <p:nvPr/>
        </p:nvSpPr>
        <p:spPr>
          <a:xfrm>
            <a:off x="2148840" y="3630168"/>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检验QKD密钥、磁异常优先级和扰动条件下的系统行为。</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Section transition</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54/77</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EXPERIMENT INTRO</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实验导言：从物理机制到优化结果的证据链</a:t>
            </a:r>
          </a:p>
        </p:txBody>
      </p:sp>
      <p:sp>
        <p:nvSpPr>
          <p:cNvPr id="7" name="Rectangle 6"/>
          <p:cNvSpPr/>
          <p:nvPr/>
        </p:nvSpPr>
        <p:spPr>
          <a:xfrm>
            <a:off x="777240" y="1417320"/>
            <a:ext cx="10652760" cy="3758184"/>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673352"/>
            <a:ext cx="10012680" cy="876266"/>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实验部分按照模型中的因果链组织，以替代结果罗列式展示。首先验证RIS相位编码确实带来链路和远场主瓣收益；随后验证资源分配、QKD约束和UAV轨迹是否按照模型预期改变；最后用收敛、消融、鲁棒性和约束检查说明算法行为稳定且可行。</a:t>
            </a:r>
          </a:p>
        </p:txBody>
      </p:sp>
      <p:sp>
        <p:nvSpPr>
          <p:cNvPr id="9" name="TextBox 8"/>
          <p:cNvSpPr txBox="1"/>
          <p:nvPr/>
        </p:nvSpPr>
        <p:spPr>
          <a:xfrm>
            <a:off x="1097280" y="2843784"/>
            <a:ext cx="10012680" cy="595548"/>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每一类图表都对应一个数学模块：链路速率图对应信道公式，密钥曲线对应QKD约束，轨迹图对应SCA更新，热力图对应资源分配，Pareto曲线对应能耗与安全数据之间的权衡。</a:t>
            </a:r>
          </a:p>
        </p:txBody>
      </p:sp>
      <p:sp>
        <p:nvSpPr>
          <p:cNvPr id="10" name="TextBox 9"/>
          <p:cNvSpPr txBox="1"/>
          <p:nvPr/>
        </p:nvSpPr>
        <p:spPr>
          <a:xfrm>
            <a:off x="1097280" y="4014216"/>
            <a:ext cx="10012680" cy="595548"/>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因此，实验展示围绕一个连续问题展开：引入量子感知、量子密钥和RIS传播控制后，联合优化是否能把有限资源更集中地用于高风险安全数据。</a:t>
            </a:r>
          </a:p>
        </p:txBody>
      </p:sp>
      <p:sp>
        <p:nvSpPr>
          <p:cNvPr id="11" name="TextBox 10"/>
          <p:cNvSpPr txBox="1"/>
          <p:nvPr/>
        </p:nvSpPr>
        <p:spPr>
          <a:xfrm>
            <a:off x="868680" y="5742432"/>
            <a:ext cx="10287000" cy="475488"/>
          </a:xfrm>
          <a:prstGeom prst="rect">
            <a:avLst/>
          </a:prstGeom>
          <a:noFill/>
        </p:spPr>
        <p:txBody>
          <a:bodyPr wrap="square" lIns="45720" tIns="27432" rIns="45720" bIns="27432" anchor="t">
            <a:spAutoFit/>
          </a:bodyPr>
          <a:lstStyle/>
          <a:p>
            <a:pPr algn="l">
              <a:lnSpc>
                <a:spcPct val="112000"/>
              </a:lnSpc>
              <a:spcAft>
                <a:spcPts val="200"/>
              </a:spcAft>
            </a:pPr>
            <a:r>
              <a:rPr sz="1400" b="1">
                <a:solidFill>
                  <a:srgbClr val="2A9D8F"/>
                </a:solidFill>
                <a:latin typeface="Microsoft YaHei"/>
              </a:rPr>
              <a:t>本章作用：把公式模型转化为可观察、可复现、可比较的仿真证据。</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Academic narrative bridge</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55/77</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EXPERIMENT DESIGN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实验设计与评价指标体系</a:t>
            </a:r>
          </a:p>
        </p:txBody>
      </p:sp>
      <p:pic>
        <p:nvPicPr>
          <p:cNvPr id="7" name="Picture 6" descr="experiment_design_gpt.png"/>
          <p:cNvPicPr>
            <a:picLocks noChangeAspect="1"/>
          </p:cNvPicPr>
          <p:nvPr/>
        </p:nvPicPr>
        <p:blipFill>
          <a:blip r:embed="rId2"/>
          <a:stretch>
            <a:fillRect/>
          </a:stretch>
        </p:blipFill>
        <p:spPr>
          <a:xfrm>
            <a:off x="502920" y="1334875"/>
            <a:ext cx="8481520" cy="4773391"/>
          </a:xfrm>
          <a:prstGeom prst="rect">
            <a:avLst/>
          </a:prstGeom>
        </p:spPr>
      </p:pic>
      <p:sp>
        <p:nvSpPr>
          <p:cNvPr id="8" name="Rectangle 7"/>
          <p:cNvSpPr/>
          <p:nvPr/>
        </p:nvSpPr>
        <p:spPr>
          <a:xfrm>
            <a:off x="9128535"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11415"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机制说明</a:t>
            </a:r>
          </a:p>
        </p:txBody>
      </p:sp>
      <p:sp>
        <p:nvSpPr>
          <p:cNvPr id="10" name="TextBox 9"/>
          <p:cNvSpPr txBox="1"/>
          <p:nvPr/>
        </p:nvSpPr>
        <p:spPr>
          <a:xfrm>
            <a:off x="9311415" y="1965960"/>
            <a:ext cx="2450592" cy="200138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图给出实验逻辑链。首先用链路与RIS仿真验证物理机制，再用收敛曲线和消融实验验证算法有效性，随后用QKD、磁异常和鲁棒性实验检验系统约束下的行为。所有图表均由脚本生成，并使用固定随机种子保证可复现。</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Experiment design overview</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56/77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PARAMETERS</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实验参数与复现设置</a:t>
            </a:r>
          </a:p>
        </p:txBody>
      </p:sp>
      <p:graphicFrame>
        <p:nvGraphicFramePr>
          <p:cNvPr id="7" name="Table 6"/>
          <p:cNvGraphicFramePr>
            <a:graphicFrameLocks noGrp="1"/>
          </p:cNvGraphicFramePr>
          <p:nvPr/>
        </p:nvGraphicFramePr>
        <p:xfrm>
          <a:off x="777240" y="1325880"/>
          <a:ext cx="10607039" cy="4480560"/>
        </p:xfrm>
        <a:graphic>
          <a:graphicData uri="http://schemas.openxmlformats.org/drawingml/2006/table">
            <a:tbl>
              <a:tblPr firstRow="1" bandRow="1">
                <a:tableStyleId>{5C22544A-7EE6-4342-B048-85BDC9FD1C3A}</a:tableStyleId>
              </a:tblPr>
              <a:tblGrid>
                <a:gridCol w="1909267">
                  <a:extLst>
                    <a:ext uri="{9D8B030D-6E8A-4147-A177-3AD203B41FA5}">
                      <a16:colId xmlns:a16="http://schemas.microsoft.com/office/drawing/2014/main" val="20000"/>
                    </a:ext>
                  </a:extLst>
                </a:gridCol>
                <a:gridCol w="4561027">
                  <a:extLst>
                    <a:ext uri="{9D8B030D-6E8A-4147-A177-3AD203B41FA5}">
                      <a16:colId xmlns:a16="http://schemas.microsoft.com/office/drawing/2014/main" val="20001"/>
                    </a:ext>
                  </a:extLst>
                </a:gridCol>
                <a:gridCol w="4136745">
                  <a:extLst>
                    <a:ext uri="{9D8B030D-6E8A-4147-A177-3AD203B41FA5}">
                      <a16:colId xmlns:a16="http://schemas.microsoft.com/office/drawing/2014/main" val="20002"/>
                    </a:ext>
                  </a:extLst>
                </a:gridCol>
              </a:tblGrid>
              <a:tr h="640080">
                <a:tc>
                  <a:txBody>
                    <a:bodyPr/>
                    <a:lstStyle/>
                    <a:p>
                      <a:r>
                        <a:rPr sz="1150" b="1">
                          <a:solidFill>
                            <a:srgbClr val="FFFFFF"/>
                          </a:solidFill>
                          <a:latin typeface="Microsoft YaHei"/>
                        </a:rPr>
                        <a:t>模块</a:t>
                      </a:r>
                    </a:p>
                  </a:txBody>
                  <a:tcPr marL="45720" marR="45720" marT="36576" marB="36576">
                    <a:solidFill>
                      <a:srgbClr val="1D2B39"/>
                    </a:solidFill>
                  </a:tcPr>
                </a:tc>
                <a:tc>
                  <a:txBody>
                    <a:bodyPr/>
                    <a:lstStyle/>
                    <a:p>
                      <a:r>
                        <a:rPr sz="1150" b="1">
                          <a:solidFill>
                            <a:srgbClr val="FFFFFF"/>
                          </a:solidFill>
                          <a:latin typeface="Microsoft YaHei"/>
                        </a:rPr>
                        <a:t>设置</a:t>
                      </a:r>
                    </a:p>
                  </a:txBody>
                  <a:tcPr marL="45720" marR="45720" marT="36576" marB="36576">
                    <a:solidFill>
                      <a:srgbClr val="1D2B39"/>
                    </a:solidFill>
                  </a:tcPr>
                </a:tc>
                <a:tc>
                  <a:txBody>
                    <a:bodyPr/>
                    <a:lstStyle/>
                    <a:p>
                      <a:r>
                        <a:rPr sz="1150" b="1">
                          <a:solidFill>
                            <a:srgbClr val="FFFFFF"/>
                          </a:solidFill>
                          <a:latin typeface="Microsoft YaHei"/>
                        </a:rPr>
                        <a:t>说明</a:t>
                      </a:r>
                    </a:p>
                  </a:txBody>
                  <a:tcPr marL="45720" marR="45720" marT="36576" marB="36576">
                    <a:solidFill>
                      <a:srgbClr val="1D2B39"/>
                    </a:solidFill>
                  </a:tcPr>
                </a:tc>
                <a:extLst>
                  <a:ext uri="{0D108BD9-81ED-4DB2-BD59-A6C34878D82A}">
                    <a16:rowId xmlns:a16="http://schemas.microsoft.com/office/drawing/2014/main" val="10000"/>
                  </a:ext>
                </a:extLst>
              </a:tr>
              <a:tr h="640080">
                <a:tc>
                  <a:txBody>
                    <a:bodyPr/>
                    <a:lstStyle/>
                    <a:p>
                      <a:r>
                        <a:rPr sz="1150" b="0">
                          <a:solidFill>
                            <a:srgbClr val="16202A"/>
                          </a:solidFill>
                          <a:latin typeface="Microsoft YaHei"/>
                        </a:rPr>
                        <a:t>场景</a:t>
                      </a:r>
                    </a:p>
                  </a:txBody>
                  <a:tcPr marL="45720" marR="45720" marT="36576" marB="36576">
                    <a:solidFill>
                      <a:srgbClr val="FCFCF9"/>
                    </a:solidFill>
                  </a:tcPr>
                </a:tc>
                <a:tc>
                  <a:txBody>
                    <a:bodyPr/>
                    <a:lstStyle/>
                    <a:p>
                      <a:r>
                        <a:rPr sz="1150" b="0">
                          <a:solidFill>
                            <a:srgbClr val="16202A"/>
                          </a:solidFill>
                          <a:latin typeface="Microsoft YaHei"/>
                        </a:rPr>
                        <a:t>DeepOWT东海聚类24节点</a:t>
                      </a:r>
                    </a:p>
                  </a:txBody>
                  <a:tcPr marL="45720" marR="45720" marT="36576" marB="36576">
                    <a:solidFill>
                      <a:srgbClr val="FCFCF9"/>
                    </a:solidFill>
                  </a:tcPr>
                </a:tc>
                <a:tc>
                  <a:txBody>
                    <a:bodyPr/>
                    <a:lstStyle/>
                    <a:p>
                      <a:r>
                        <a:rPr sz="1150" b="0">
                          <a:solidFill>
                            <a:srgbClr val="16202A"/>
                          </a:solidFill>
                          <a:latin typeface="Microsoft YaHei"/>
                        </a:rPr>
                        <a:t>真实海上风电基础设施</a:t>
                      </a:r>
                    </a:p>
                  </a:txBody>
                  <a:tcPr marL="45720" marR="45720" marT="36576" marB="36576">
                    <a:solidFill>
                      <a:srgbClr val="FCFCF9"/>
                    </a:solidFill>
                  </a:tcPr>
                </a:tc>
                <a:extLst>
                  <a:ext uri="{0D108BD9-81ED-4DB2-BD59-A6C34878D82A}">
                    <a16:rowId xmlns:a16="http://schemas.microsoft.com/office/drawing/2014/main" val="10001"/>
                  </a:ext>
                </a:extLst>
              </a:tr>
              <a:tr h="640080">
                <a:tc>
                  <a:txBody>
                    <a:bodyPr/>
                    <a:lstStyle/>
                    <a:p>
                      <a:r>
                        <a:rPr sz="1150" b="0">
                          <a:solidFill>
                            <a:srgbClr val="16202A"/>
                          </a:solidFill>
                          <a:latin typeface="Microsoft YaHei"/>
                        </a:rPr>
                        <a:t>灾害</a:t>
                      </a:r>
                    </a:p>
                  </a:txBody>
                  <a:tcPr marL="45720" marR="45720" marT="36576" marB="36576">
                    <a:solidFill>
                      <a:srgbClr val="FCFCF9"/>
                    </a:solidFill>
                  </a:tcPr>
                </a:tc>
                <a:tc>
                  <a:txBody>
                    <a:bodyPr/>
                    <a:lstStyle/>
                    <a:p>
                      <a:r>
                        <a:rPr sz="1150" b="0">
                          <a:solidFill>
                            <a:srgbClr val="16202A"/>
                          </a:solidFill>
                          <a:latin typeface="Microsoft YaHei"/>
                        </a:rPr>
                        <a:t>NOAA IBTrACS台风轨迹</a:t>
                      </a:r>
                    </a:p>
                  </a:txBody>
                  <a:tcPr marL="45720" marR="45720" marT="36576" marB="36576">
                    <a:solidFill>
                      <a:srgbClr val="FCFCF9"/>
                    </a:solidFill>
                  </a:tcPr>
                </a:tc>
                <a:tc>
                  <a:txBody>
                    <a:bodyPr/>
                    <a:lstStyle/>
                    <a:p>
                      <a:r>
                        <a:rPr sz="1150" b="0">
                          <a:solidFill>
                            <a:srgbClr val="16202A"/>
                          </a:solidFill>
                          <a:latin typeface="Microsoft YaHei"/>
                        </a:rPr>
                        <a:t>真实灾害背景</a:t>
                      </a:r>
                    </a:p>
                  </a:txBody>
                  <a:tcPr marL="45720" marR="45720" marT="36576" marB="36576">
                    <a:solidFill>
                      <a:srgbClr val="FCFCF9"/>
                    </a:solidFill>
                  </a:tcPr>
                </a:tc>
                <a:extLst>
                  <a:ext uri="{0D108BD9-81ED-4DB2-BD59-A6C34878D82A}">
                    <a16:rowId xmlns:a16="http://schemas.microsoft.com/office/drawing/2014/main" val="10002"/>
                  </a:ext>
                </a:extLst>
              </a:tr>
              <a:tr h="640080">
                <a:tc>
                  <a:txBody>
                    <a:bodyPr/>
                    <a:lstStyle/>
                    <a:p>
                      <a:r>
                        <a:rPr sz="1150" b="0">
                          <a:solidFill>
                            <a:srgbClr val="16202A"/>
                          </a:solidFill>
                          <a:latin typeface="Microsoft YaHei"/>
                        </a:rPr>
                        <a:t>磁场</a:t>
                      </a:r>
                    </a:p>
                  </a:txBody>
                  <a:tcPr marL="45720" marR="45720" marT="36576" marB="36576">
                    <a:solidFill>
                      <a:srgbClr val="FCFCF9"/>
                    </a:solidFill>
                  </a:tcPr>
                </a:tc>
                <a:tc>
                  <a:txBody>
                    <a:bodyPr/>
                    <a:lstStyle/>
                    <a:p>
                      <a:r>
                        <a:rPr sz="1150" b="0">
                          <a:solidFill>
                            <a:srgbClr val="16202A"/>
                          </a:solidFill>
                          <a:latin typeface="Microsoft YaHei"/>
                        </a:rPr>
                        <a:t>WMM2025背景 + 合成偶极异常</a:t>
                      </a:r>
                    </a:p>
                  </a:txBody>
                  <a:tcPr marL="45720" marR="45720" marT="36576" marB="36576">
                    <a:solidFill>
                      <a:srgbClr val="FCFCF9"/>
                    </a:solidFill>
                  </a:tcPr>
                </a:tc>
                <a:tc>
                  <a:txBody>
                    <a:bodyPr/>
                    <a:lstStyle/>
                    <a:p>
                      <a:r>
                        <a:rPr sz="1150" b="0">
                          <a:solidFill>
                            <a:srgbClr val="16202A"/>
                          </a:solidFill>
                          <a:latin typeface="Microsoft YaHei"/>
                        </a:rPr>
                        <a:t>量子磁探测闭环</a:t>
                      </a:r>
                    </a:p>
                  </a:txBody>
                  <a:tcPr marL="45720" marR="45720" marT="36576" marB="36576">
                    <a:solidFill>
                      <a:srgbClr val="FCFCF9"/>
                    </a:solidFill>
                  </a:tcPr>
                </a:tc>
                <a:extLst>
                  <a:ext uri="{0D108BD9-81ED-4DB2-BD59-A6C34878D82A}">
                    <a16:rowId xmlns:a16="http://schemas.microsoft.com/office/drawing/2014/main" val="10003"/>
                  </a:ext>
                </a:extLst>
              </a:tr>
              <a:tr h="640080">
                <a:tc>
                  <a:txBody>
                    <a:bodyPr/>
                    <a:lstStyle/>
                    <a:p>
                      <a:r>
                        <a:rPr sz="1150" b="0">
                          <a:solidFill>
                            <a:srgbClr val="16202A"/>
                          </a:solidFill>
                          <a:latin typeface="Microsoft YaHei"/>
                        </a:rPr>
                        <a:t>通信</a:t>
                      </a:r>
                    </a:p>
                  </a:txBody>
                  <a:tcPr marL="45720" marR="45720" marT="36576" marB="36576">
                    <a:solidFill>
                      <a:srgbClr val="FCFCF9"/>
                    </a:solidFill>
                  </a:tcPr>
                </a:tc>
                <a:tc>
                  <a:txBody>
                    <a:bodyPr/>
                    <a:lstStyle/>
                    <a:p>
                      <a:r>
                        <a:rPr sz="1150" b="0">
                          <a:solidFill>
                            <a:srgbClr val="16202A"/>
                          </a:solidFill>
                          <a:latin typeface="Microsoft YaHei"/>
                        </a:rPr>
                        <a:t>5.8 GHz，256单元RIS，2-bit相位</a:t>
                      </a:r>
                    </a:p>
                  </a:txBody>
                  <a:tcPr marL="45720" marR="45720" marT="36576" marB="36576">
                    <a:solidFill>
                      <a:srgbClr val="FCFCF9"/>
                    </a:solidFill>
                  </a:tcPr>
                </a:tc>
                <a:tc>
                  <a:txBody>
                    <a:bodyPr/>
                    <a:lstStyle/>
                    <a:p>
                      <a:r>
                        <a:rPr sz="1150" b="0">
                          <a:solidFill>
                            <a:srgbClr val="16202A"/>
                          </a:solidFill>
                          <a:latin typeface="Microsoft YaHei"/>
                        </a:rPr>
                        <a:t>工程可实现参数</a:t>
                      </a:r>
                    </a:p>
                  </a:txBody>
                  <a:tcPr marL="45720" marR="45720" marT="36576" marB="36576">
                    <a:solidFill>
                      <a:srgbClr val="FCFCF9"/>
                    </a:solidFill>
                  </a:tcPr>
                </a:tc>
                <a:extLst>
                  <a:ext uri="{0D108BD9-81ED-4DB2-BD59-A6C34878D82A}">
                    <a16:rowId xmlns:a16="http://schemas.microsoft.com/office/drawing/2014/main" val="10004"/>
                  </a:ext>
                </a:extLst>
              </a:tr>
              <a:tr h="640080">
                <a:tc>
                  <a:txBody>
                    <a:bodyPr/>
                    <a:lstStyle/>
                    <a:p>
                      <a:r>
                        <a:rPr sz="1150" b="0">
                          <a:solidFill>
                            <a:srgbClr val="16202A"/>
                          </a:solidFill>
                          <a:latin typeface="Microsoft YaHei"/>
                        </a:rPr>
                        <a:t>优化</a:t>
                      </a:r>
                    </a:p>
                  </a:txBody>
                  <a:tcPr marL="45720" marR="45720" marT="36576" marB="36576">
                    <a:solidFill>
                      <a:srgbClr val="FCFCF9"/>
                    </a:solidFill>
                  </a:tcPr>
                </a:tc>
                <a:tc>
                  <a:txBody>
                    <a:bodyPr/>
                    <a:lstStyle/>
                    <a:p>
                      <a:r>
                        <a:rPr sz="1150" b="0">
                          <a:solidFill>
                            <a:srgbClr val="16202A"/>
                          </a:solidFill>
                          <a:latin typeface="Microsoft YaHei"/>
                        </a:rPr>
                        <a:t>Dinkelbach + AO + CVXPY + SCA</a:t>
                      </a:r>
                    </a:p>
                  </a:txBody>
                  <a:tcPr marL="45720" marR="45720" marT="36576" marB="36576">
                    <a:solidFill>
                      <a:srgbClr val="FCFCF9"/>
                    </a:solidFill>
                  </a:tcPr>
                </a:tc>
                <a:tc>
                  <a:txBody>
                    <a:bodyPr/>
                    <a:lstStyle/>
                    <a:p>
                      <a:r>
                        <a:rPr sz="1150" b="0">
                          <a:solidFill>
                            <a:srgbClr val="16202A"/>
                          </a:solidFill>
                          <a:latin typeface="Microsoft YaHei"/>
                        </a:rPr>
                        <a:t>课程优化理论主线</a:t>
                      </a:r>
                    </a:p>
                  </a:txBody>
                  <a:tcPr marL="45720" marR="45720" marT="36576" marB="36576">
                    <a:solidFill>
                      <a:srgbClr val="FCFCF9"/>
                    </a:solidFill>
                  </a:tcPr>
                </a:tc>
                <a:extLst>
                  <a:ext uri="{0D108BD9-81ED-4DB2-BD59-A6C34878D82A}">
                    <a16:rowId xmlns:a16="http://schemas.microsoft.com/office/drawing/2014/main" val="10005"/>
                  </a:ext>
                </a:extLst>
              </a:tr>
              <a:tr h="640080">
                <a:tc>
                  <a:txBody>
                    <a:bodyPr/>
                    <a:lstStyle/>
                    <a:p>
                      <a:r>
                        <a:rPr sz="1150" b="0">
                          <a:solidFill>
                            <a:srgbClr val="16202A"/>
                          </a:solidFill>
                          <a:latin typeface="Microsoft YaHei"/>
                        </a:rPr>
                        <a:t>复现</a:t>
                      </a:r>
                    </a:p>
                  </a:txBody>
                  <a:tcPr marL="45720" marR="45720" marT="36576" marB="36576">
                    <a:solidFill>
                      <a:srgbClr val="FCFCF9"/>
                    </a:solidFill>
                  </a:tcPr>
                </a:tc>
                <a:tc>
                  <a:txBody>
                    <a:bodyPr/>
                    <a:lstStyle/>
                    <a:p>
                      <a:r>
                        <a:rPr sz="1150" b="0">
                          <a:solidFill>
                            <a:srgbClr val="16202A"/>
                          </a:solidFill>
                          <a:latin typeface="Microsoft YaHei"/>
                        </a:rPr>
                        <a:t>Python 3.12, fixed seed 20260513</a:t>
                      </a:r>
                    </a:p>
                  </a:txBody>
                  <a:tcPr marL="45720" marR="45720" marT="36576" marB="36576">
                    <a:solidFill>
                      <a:srgbClr val="FCFCF9"/>
                    </a:solidFill>
                  </a:tcPr>
                </a:tc>
                <a:tc>
                  <a:txBody>
                    <a:bodyPr/>
                    <a:lstStyle/>
                    <a:p>
                      <a:r>
                        <a:rPr sz="1150" b="0">
                          <a:solidFill>
                            <a:srgbClr val="16202A"/>
                          </a:solidFill>
                          <a:latin typeface="Microsoft YaHei"/>
                        </a:rPr>
                        <a:t>一键运行run_all_v2.ps1</a:t>
                      </a:r>
                    </a:p>
                  </a:txBody>
                  <a:tcPr marL="45720" marR="45720" marT="36576" marB="36576">
                    <a:solidFill>
                      <a:srgbClr val="FCFCF9"/>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868680" y="5687568"/>
            <a:ext cx="10058400" cy="420624"/>
          </a:xfrm>
          <a:prstGeom prst="rect">
            <a:avLst/>
          </a:prstGeom>
          <a:noFill/>
        </p:spPr>
        <p:txBody>
          <a:bodyPr wrap="square" lIns="45720" tIns="27432" rIns="45720" bIns="27432" anchor="t">
            <a:spAutoFit/>
          </a:bodyPr>
          <a:lstStyle/>
          <a:p>
            <a:pPr algn="l">
              <a:lnSpc>
                <a:spcPct val="105000"/>
              </a:lnSpc>
              <a:spcAft>
                <a:spcPts val="200"/>
              </a:spcAft>
            </a:pPr>
            <a:r>
              <a:rPr sz="1350" b="0">
                <a:solidFill>
                  <a:srgbClr val="56606A"/>
                </a:solidFill>
                <a:latin typeface="Microsoft YaHei"/>
              </a:rPr>
              <a:t>参数设计遵循两条原则：空间场景尽量来自公开数据，通信与优化部分使用可控仿真以便分析算法机制。RIS规模、相位量化和载频选取保持在常见系统级论文可讨论范围内。</a:t>
            </a:r>
          </a:p>
        </p:txBody>
      </p:sp>
      <p:sp>
        <p:nvSpPr>
          <p:cNvPr id="9" name="Rectangle 8"/>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1" name="TextBox 10"/>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57/77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dirty="0">
                <a:solidFill>
                  <a:srgbClr val="56606A"/>
                </a:solidFill>
                <a:latin typeface="Aptos"/>
              </a:rPr>
              <a:t>RESULT 1</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RIS相位优化对链路速率的提升</a:t>
            </a:r>
          </a:p>
        </p:txBody>
      </p:sp>
      <p:pic>
        <p:nvPicPr>
          <p:cNvPr id="7" name="Picture 6" descr="link_gain.png"/>
          <p:cNvPicPr>
            <a:picLocks noChangeAspect="1"/>
          </p:cNvPicPr>
          <p:nvPr/>
        </p:nvPicPr>
        <p:blipFill>
          <a:blip r:embed="rId2"/>
          <a:stretch>
            <a:fillRect/>
          </a:stretch>
        </p:blipFill>
        <p:spPr>
          <a:xfrm>
            <a:off x="548640" y="1654630"/>
            <a:ext cx="7955279" cy="4143099"/>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249254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图比较无RIS、随机RIS、连续相位RIS和2-bit量化RIS在不同距离下的速率。速率随距离增大整体下降，符合路径损耗规律；相位优化后曲线明显上移，说明RIS能够补偿远海边缘覆盖损失。2-bit量化曲线接近连续相位上界，表明低比特硬件仍能获得主要波束赋形收益。</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58/77</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2</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RIS单元数敏感性分析</a:t>
            </a:r>
          </a:p>
        </p:txBody>
      </p:sp>
      <p:pic>
        <p:nvPicPr>
          <p:cNvPr id="7" name="Picture 6" descr="ris_elements_rate.png"/>
          <p:cNvPicPr>
            <a:picLocks noChangeAspect="1"/>
          </p:cNvPicPr>
          <p:nvPr/>
        </p:nvPicPr>
        <p:blipFill>
          <a:blip r:embed="rId2"/>
          <a:stretch>
            <a:fillRect/>
          </a:stretch>
        </p:blipFill>
        <p:spPr>
          <a:xfrm>
            <a:off x="548640" y="1705902"/>
            <a:ext cx="7955279" cy="4040555"/>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224696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图考察RIS单元数量对平均速率的影响。随着单元数增加，等效反射孔径和可合成信号能量增大，因此平均速率单调提高；但高规模区域的增益斜率开始变缓，说明RIS规模存在边际收益。该结果为后续选择256单元作为折中规模提供依据。</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59/77</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3</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RIS相位量化精度对远场波束的影响</a:t>
            </a:r>
          </a:p>
        </p:txBody>
      </p:sp>
      <p:pic>
        <p:nvPicPr>
          <p:cNvPr id="7" name="Picture 6" descr="ris_quantization_comparison.png"/>
          <p:cNvPicPr>
            <a:picLocks noChangeAspect="1"/>
          </p:cNvPicPr>
          <p:nvPr/>
        </p:nvPicPr>
        <p:blipFill>
          <a:blip r:embed="rId2"/>
          <a:stretch>
            <a:fillRect/>
          </a:stretch>
        </p:blipFill>
        <p:spPr>
          <a:xfrm>
            <a:off x="548640" y="1832357"/>
            <a:ext cx="7955279" cy="3787644"/>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224696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图比较1-bit、2-bit和3-bit相位量化下的归一化远场方向图。1-bit量化造成明显主瓣损失和旁瓣抬升；2-bit已经接近3-bit曲线，说明四状态相位编码足以捕获主要相位对齐收益。工程上，2-bit在控制复杂度和波束质量之间更均衡。</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60/77</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4</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MATLAB远场波束赋形仿真</a:t>
            </a:r>
          </a:p>
        </p:txBody>
      </p:sp>
      <p:pic>
        <p:nvPicPr>
          <p:cNvPr id="7" name="Picture 6" descr="ris_matlab_farfield.png"/>
          <p:cNvPicPr>
            <a:picLocks noChangeAspect="1"/>
          </p:cNvPicPr>
          <p:nvPr/>
        </p:nvPicPr>
        <p:blipFill>
          <a:blip r:embed="rId2"/>
          <a:stretch>
            <a:fillRect/>
          </a:stretch>
        </p:blipFill>
        <p:spPr>
          <a:xfrm>
            <a:off x="1147809" y="1280160"/>
            <a:ext cx="6756940" cy="4892040"/>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2001382"/>
          </a:xfrm>
          <a:prstGeom prst="rect">
            <a:avLst/>
          </a:prstGeom>
          <a:noFill/>
        </p:spPr>
        <p:txBody>
          <a:bodyPr wrap="square" lIns="45720" tIns="27432" rIns="45720" bIns="27432" anchor="t">
            <a:spAutoFit/>
          </a:bodyPr>
          <a:lstStyle/>
          <a:p>
            <a:pPr algn="l">
              <a:lnSpc>
                <a:spcPct val="114000"/>
              </a:lnSpc>
              <a:spcAft>
                <a:spcPts val="200"/>
              </a:spcAft>
            </a:pPr>
            <a:r>
              <a:rPr sz="1400" b="0" dirty="0" err="1">
                <a:solidFill>
                  <a:srgbClr val="16202A"/>
                </a:solidFill>
                <a:latin typeface="Microsoft YaHei"/>
              </a:rPr>
              <a:t>该图由MATLAB</a:t>
            </a:r>
            <a:r>
              <a:rPr sz="1400" b="0" dirty="0">
                <a:solidFill>
                  <a:srgbClr val="16202A"/>
                </a:solidFill>
                <a:latin typeface="Microsoft YaHei"/>
              </a:rPr>
              <a:t> R2024a运行阵列因子脚本得到。仿真目标角设置为30度，连续相位和2-bit相位两条曲线的主瓣均指向目标方向附近，说明离散相位投影没有破坏主瓣指向能力。该页回应超表面/</a:t>
            </a:r>
            <a:r>
              <a:rPr sz="1400" b="0" dirty="0" err="1">
                <a:solidFill>
                  <a:srgbClr val="16202A"/>
                </a:solidFill>
                <a:latin typeface="Microsoft YaHei"/>
              </a:rPr>
              <a:t>RIS仿真要求中的远场波束赋形部分</a:t>
            </a:r>
            <a:r>
              <a:rPr sz="1400" b="0" dirty="0">
                <a:solidFill>
                  <a:srgbClr val="16202A"/>
                </a:solidFill>
                <a:latin typeface="Microsoft YaHei"/>
              </a:rPr>
              <a:t>。</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61/77</a:t>
            </a:r>
          </a:p>
        </p:txBody>
      </p:sp>
      <p:sp>
        <p:nvSpPr>
          <p:cNvPr id="15" name="文本框 14">
            <a:extLst>
              <a:ext uri="{FF2B5EF4-FFF2-40B4-BE49-F238E27FC236}">
                <a16:creationId xmlns:a16="http://schemas.microsoft.com/office/drawing/2014/main" id="{28A0F93B-E5AB-1A06-F3F6-DA176042A0E0}"/>
              </a:ext>
            </a:extLst>
          </p:cNvPr>
          <p:cNvSpPr txBox="1"/>
          <p:nvPr/>
        </p:nvSpPr>
        <p:spPr>
          <a:xfrm>
            <a:off x="5957851" y="193024"/>
            <a:ext cx="6139980" cy="369332"/>
          </a:xfrm>
          <a:prstGeom prst="rect">
            <a:avLst/>
          </a:prstGeom>
          <a:noFill/>
        </p:spPr>
        <p:txBody>
          <a:bodyPr wrap="square">
            <a:spAutoFit/>
          </a:bodyPr>
          <a:lstStyle/>
          <a:p>
            <a:r>
              <a:rPr lang="en-US" altLang="zh-CN" sz="1800" b="1" dirty="0" err="1">
                <a:solidFill>
                  <a:srgbClr val="FF0000"/>
                </a:solidFill>
                <a:effectLst/>
                <a:latin typeface="宋体" panose="02010600030101010101" pitchFamily="2" charset="-122"/>
                <a:cs typeface="Times New Roman" panose="02020603050405020304" pitchFamily="18" charset="0"/>
              </a:rPr>
              <a:t>超表面（</a:t>
            </a:r>
            <a:r>
              <a:rPr lang="en-US" altLang="zh-CN" sz="1800" b="1" dirty="0" err="1">
                <a:solidFill>
                  <a:srgbClr val="FF0000"/>
                </a:solidFill>
                <a:effectLst/>
                <a:latin typeface="Times New Roman" panose="02020603050405020304" pitchFamily="18" charset="0"/>
                <a:ea typeface="宋体" panose="02010600030101010101" pitchFamily="2" charset="-122"/>
              </a:rPr>
              <a:t>Metasurface</a:t>
            </a:r>
            <a:r>
              <a:rPr lang="en-US" altLang="zh-CN" sz="1800" b="1" dirty="0">
                <a:solidFill>
                  <a:srgbClr val="FF0000"/>
                </a:solidFill>
                <a:effectLst/>
                <a:latin typeface="Times New Roman" panose="02020603050405020304" pitchFamily="18" charset="0"/>
                <a:ea typeface="宋体" panose="02010600030101010101" pitchFamily="2" charset="-122"/>
              </a:rPr>
              <a:t>/</a:t>
            </a:r>
            <a:r>
              <a:rPr lang="en-US" altLang="zh-CN" sz="1800" b="1" dirty="0" err="1">
                <a:solidFill>
                  <a:srgbClr val="FF0000"/>
                </a:solidFill>
                <a:effectLst/>
                <a:latin typeface="Times New Roman" panose="02020603050405020304" pitchFamily="18" charset="0"/>
                <a:ea typeface="宋体" panose="02010600030101010101" pitchFamily="2" charset="-122"/>
              </a:rPr>
              <a:t>RIS</a:t>
            </a:r>
            <a:r>
              <a:rPr lang="en-US" altLang="zh-CN" sz="1800" b="1" dirty="0" err="1">
                <a:solidFill>
                  <a:srgbClr val="FF0000"/>
                </a:solidFill>
                <a:effectLst/>
                <a:latin typeface="宋体" panose="02010600030101010101" pitchFamily="2" charset="-122"/>
                <a:cs typeface="Times New Roman" panose="02020603050405020304" pitchFamily="18" charset="0"/>
              </a:rPr>
              <a:t>）仿真</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5</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RIS单元四状态相位响应</a:t>
            </a:r>
          </a:p>
        </p:txBody>
      </p:sp>
      <p:pic>
        <p:nvPicPr>
          <p:cNvPr id="7" name="Picture 6" descr="ris_matlab_unit_response.png"/>
          <p:cNvPicPr>
            <a:picLocks noChangeAspect="1"/>
          </p:cNvPicPr>
          <p:nvPr/>
        </p:nvPicPr>
        <p:blipFill>
          <a:blip r:embed="rId2"/>
          <a:stretch>
            <a:fillRect/>
          </a:stretch>
        </p:blipFill>
        <p:spPr>
          <a:xfrm>
            <a:off x="1045259" y="1280160"/>
            <a:ext cx="6962041" cy="4892040"/>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514600" cy="175580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该图模拟2-bit RIS单元在频率扫描下的相位响应。四条曲线对应0度、90度、180度和270度相位状态，显示不同编码状态在工作频段内保持可区分性。它为系统级2-bit相位码本提供单元响应层面的支撑。</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62/77</a:t>
            </a:r>
          </a:p>
        </p:txBody>
      </p:sp>
      <p:sp>
        <p:nvSpPr>
          <p:cNvPr id="14" name="文本框 13">
            <a:extLst>
              <a:ext uri="{FF2B5EF4-FFF2-40B4-BE49-F238E27FC236}">
                <a16:creationId xmlns:a16="http://schemas.microsoft.com/office/drawing/2014/main" id="{AF3B728A-3117-64E7-1812-7D08E0105ED3}"/>
              </a:ext>
            </a:extLst>
          </p:cNvPr>
          <p:cNvSpPr txBox="1"/>
          <p:nvPr/>
        </p:nvSpPr>
        <p:spPr>
          <a:xfrm>
            <a:off x="5957851" y="193024"/>
            <a:ext cx="6139980" cy="369332"/>
          </a:xfrm>
          <a:prstGeom prst="rect">
            <a:avLst/>
          </a:prstGeom>
          <a:noFill/>
        </p:spPr>
        <p:txBody>
          <a:bodyPr wrap="square">
            <a:spAutoFit/>
          </a:bodyPr>
          <a:lstStyle/>
          <a:p>
            <a:r>
              <a:rPr lang="en-US" altLang="zh-CN" sz="1800" b="1" dirty="0" err="1">
                <a:solidFill>
                  <a:srgbClr val="FF0000"/>
                </a:solidFill>
                <a:effectLst/>
                <a:latin typeface="宋体" panose="02010600030101010101" pitchFamily="2" charset="-122"/>
                <a:cs typeface="Times New Roman" panose="02020603050405020304" pitchFamily="18" charset="0"/>
              </a:rPr>
              <a:t>超表面（</a:t>
            </a:r>
            <a:r>
              <a:rPr lang="en-US" altLang="zh-CN" sz="1800" b="1" dirty="0" err="1">
                <a:solidFill>
                  <a:srgbClr val="FF0000"/>
                </a:solidFill>
                <a:effectLst/>
                <a:latin typeface="Times New Roman" panose="02020603050405020304" pitchFamily="18" charset="0"/>
                <a:ea typeface="宋体" panose="02010600030101010101" pitchFamily="2" charset="-122"/>
              </a:rPr>
              <a:t>Metasurface</a:t>
            </a:r>
            <a:r>
              <a:rPr lang="en-US" altLang="zh-CN" sz="1800" b="1" dirty="0">
                <a:solidFill>
                  <a:srgbClr val="FF0000"/>
                </a:solidFill>
                <a:effectLst/>
                <a:latin typeface="Times New Roman" panose="02020603050405020304" pitchFamily="18" charset="0"/>
                <a:ea typeface="宋体" panose="02010600030101010101" pitchFamily="2" charset="-122"/>
              </a:rPr>
              <a:t>/</a:t>
            </a:r>
            <a:r>
              <a:rPr lang="en-US" altLang="zh-CN" sz="1800" b="1" dirty="0" err="1">
                <a:solidFill>
                  <a:srgbClr val="FF0000"/>
                </a:solidFill>
                <a:effectLst/>
                <a:latin typeface="Times New Roman" panose="02020603050405020304" pitchFamily="18" charset="0"/>
                <a:ea typeface="宋体" panose="02010600030101010101" pitchFamily="2" charset="-122"/>
              </a:rPr>
              <a:t>RIS</a:t>
            </a:r>
            <a:r>
              <a:rPr lang="en-US" altLang="zh-CN" sz="1800" b="1" dirty="0" err="1">
                <a:solidFill>
                  <a:srgbClr val="FF0000"/>
                </a:solidFill>
                <a:effectLst/>
                <a:latin typeface="宋体" panose="02010600030101010101" pitchFamily="2" charset="-122"/>
                <a:cs typeface="Times New Roman" panose="02020603050405020304" pitchFamily="18" charset="0"/>
              </a:rPr>
              <a:t>）仿真</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6</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二维远场方向图与目标角扫描</a:t>
            </a:r>
          </a:p>
        </p:txBody>
      </p:sp>
      <p:pic>
        <p:nvPicPr>
          <p:cNvPr id="7" name="Picture 6" descr="ris_2d_farfield_heatmap.png"/>
          <p:cNvPicPr>
            <a:picLocks noChangeAspect="1"/>
          </p:cNvPicPr>
          <p:nvPr/>
        </p:nvPicPr>
        <p:blipFill>
          <a:blip r:embed="rId2"/>
          <a:stretch>
            <a:fillRect/>
          </a:stretch>
        </p:blipFill>
        <p:spPr>
          <a:xfrm>
            <a:off x="711998" y="1325880"/>
            <a:ext cx="4876218" cy="3794760"/>
          </a:xfrm>
          <a:prstGeom prst="rect">
            <a:avLst/>
          </a:prstGeom>
        </p:spPr>
      </p:pic>
      <p:pic>
        <p:nvPicPr>
          <p:cNvPr id="8" name="Picture 7" descr="ris_beam_scan_heatmap.png"/>
          <p:cNvPicPr>
            <a:picLocks noChangeAspect="1"/>
          </p:cNvPicPr>
          <p:nvPr/>
        </p:nvPicPr>
        <p:blipFill>
          <a:blip r:embed="rId3"/>
          <a:stretch>
            <a:fillRect/>
          </a:stretch>
        </p:blipFill>
        <p:spPr>
          <a:xfrm>
            <a:off x="5806440" y="1783674"/>
            <a:ext cx="4983480" cy="2879171"/>
          </a:xfrm>
          <a:prstGeom prst="rect">
            <a:avLst/>
          </a:prstGeom>
        </p:spPr>
      </p:pic>
      <p:sp>
        <p:nvSpPr>
          <p:cNvPr id="9" name="TextBox 8"/>
          <p:cNvSpPr txBox="1"/>
          <p:nvPr/>
        </p:nvSpPr>
        <p:spPr>
          <a:xfrm>
            <a:off x="868680" y="5440680"/>
            <a:ext cx="10058400" cy="520399"/>
          </a:xfrm>
          <a:prstGeom prst="rect">
            <a:avLst/>
          </a:prstGeom>
          <a:noFill/>
        </p:spPr>
        <p:txBody>
          <a:bodyPr wrap="square" lIns="45720" tIns="27432" rIns="45720" bIns="27432" anchor="t">
            <a:spAutoFit/>
          </a:bodyPr>
          <a:lstStyle/>
          <a:p>
            <a:pPr algn="l">
              <a:lnSpc>
                <a:spcPct val="112000"/>
              </a:lnSpc>
              <a:spcAft>
                <a:spcPts val="200"/>
              </a:spcAft>
            </a:pPr>
            <a:r>
              <a:rPr sz="1400" b="0" dirty="0">
                <a:solidFill>
                  <a:srgbClr val="56606A"/>
                </a:solidFill>
                <a:latin typeface="Microsoft YaHei"/>
              </a:rPr>
              <a:t>左图给出二维方位-俯仰远场热力图，主瓣集中在目标方向附近；右图改变目标扫描角，主瓣位置随相位编码同步移动。两张图共同说明RIS能够通过相位配置实现可重构波束控制。</a:t>
            </a:r>
          </a:p>
        </p:txBody>
      </p:sp>
      <p:sp>
        <p:nvSpPr>
          <p:cNvPr id="10" name="Rectangle 9"/>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RIS 2D far-field and beam scan</a:t>
            </a:r>
          </a:p>
        </p:txBody>
      </p:sp>
      <p:sp>
        <p:nvSpPr>
          <p:cNvPr id="12" name="TextBox 11"/>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63/77</a:t>
            </a:r>
          </a:p>
        </p:txBody>
      </p:sp>
      <p:sp>
        <p:nvSpPr>
          <p:cNvPr id="13" name="文本框 12">
            <a:extLst>
              <a:ext uri="{FF2B5EF4-FFF2-40B4-BE49-F238E27FC236}">
                <a16:creationId xmlns:a16="http://schemas.microsoft.com/office/drawing/2014/main" id="{A9B6754B-9CDF-36A2-6DCF-21D54EDEAEE7}"/>
              </a:ext>
            </a:extLst>
          </p:cNvPr>
          <p:cNvSpPr txBox="1"/>
          <p:nvPr/>
        </p:nvSpPr>
        <p:spPr>
          <a:xfrm>
            <a:off x="5957851" y="193024"/>
            <a:ext cx="6139980" cy="369332"/>
          </a:xfrm>
          <a:prstGeom prst="rect">
            <a:avLst/>
          </a:prstGeom>
          <a:noFill/>
        </p:spPr>
        <p:txBody>
          <a:bodyPr wrap="square">
            <a:spAutoFit/>
          </a:bodyPr>
          <a:lstStyle/>
          <a:p>
            <a:r>
              <a:rPr lang="en-US" altLang="zh-CN" sz="1800" b="1" dirty="0" err="1">
                <a:solidFill>
                  <a:srgbClr val="FF0000"/>
                </a:solidFill>
                <a:effectLst/>
                <a:latin typeface="宋体" panose="02010600030101010101" pitchFamily="2" charset="-122"/>
                <a:cs typeface="Times New Roman" panose="02020603050405020304" pitchFamily="18" charset="0"/>
              </a:rPr>
              <a:t>超表面（</a:t>
            </a:r>
            <a:r>
              <a:rPr lang="en-US" altLang="zh-CN" sz="1800" b="1" dirty="0" err="1">
                <a:solidFill>
                  <a:srgbClr val="FF0000"/>
                </a:solidFill>
                <a:effectLst/>
                <a:latin typeface="Times New Roman" panose="02020603050405020304" pitchFamily="18" charset="0"/>
                <a:ea typeface="宋体" panose="02010600030101010101" pitchFamily="2" charset="-122"/>
              </a:rPr>
              <a:t>Metasurface</a:t>
            </a:r>
            <a:r>
              <a:rPr lang="en-US" altLang="zh-CN" sz="1800" b="1" dirty="0">
                <a:solidFill>
                  <a:srgbClr val="FF0000"/>
                </a:solidFill>
                <a:effectLst/>
                <a:latin typeface="Times New Roman" panose="02020603050405020304" pitchFamily="18" charset="0"/>
                <a:ea typeface="宋体" panose="02010600030101010101" pitchFamily="2" charset="-122"/>
              </a:rPr>
              <a:t>/</a:t>
            </a:r>
            <a:r>
              <a:rPr lang="en-US" altLang="zh-CN" sz="1800" b="1" dirty="0" err="1">
                <a:solidFill>
                  <a:srgbClr val="FF0000"/>
                </a:solidFill>
                <a:effectLst/>
                <a:latin typeface="Times New Roman" panose="02020603050405020304" pitchFamily="18" charset="0"/>
                <a:ea typeface="宋体" panose="02010600030101010101" pitchFamily="2" charset="-122"/>
              </a:rPr>
              <a:t>RIS</a:t>
            </a:r>
            <a:r>
              <a:rPr lang="en-US" altLang="zh-CN" sz="1800" b="1" dirty="0" err="1">
                <a:solidFill>
                  <a:srgbClr val="FF0000"/>
                </a:solidFill>
                <a:effectLst/>
                <a:latin typeface="宋体" panose="02010600030101010101" pitchFamily="2" charset="-122"/>
                <a:cs typeface="Times New Roman" panose="02020603050405020304" pitchFamily="18" charset="0"/>
              </a:rPr>
              <a:t>）仿真</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7</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风险感知UAV轨迹优化结果</a:t>
            </a:r>
          </a:p>
        </p:txBody>
      </p:sp>
      <p:sp>
        <p:nvSpPr>
          <p:cNvPr id="7" name="Rectangle 6"/>
          <p:cNvSpPr/>
          <p:nvPr/>
        </p:nvSpPr>
        <p:spPr>
          <a:xfrm>
            <a:off x="777240" y="1444752"/>
            <a:ext cx="4434840" cy="429768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19072"/>
            <a:ext cx="1828800" cy="310896"/>
          </a:xfrm>
          <a:prstGeom prst="rect">
            <a:avLst/>
          </a:prstGeom>
          <a:noFill/>
        </p:spPr>
        <p:txBody>
          <a:bodyPr wrap="square" lIns="45720" tIns="27432" rIns="45720" bIns="27432" anchor="t">
            <a:spAutoFit/>
          </a:bodyPr>
          <a:lstStyle/>
          <a:p>
            <a:pPr algn="l">
              <a:lnSpc>
                <a:spcPct val="105000"/>
              </a:lnSpc>
              <a:spcAft>
                <a:spcPts val="200"/>
              </a:spcAft>
            </a:pPr>
            <a:r>
              <a:rPr sz="1600" b="1">
                <a:solidFill>
                  <a:srgbClr val="2A9D8F"/>
                </a:solidFill>
                <a:latin typeface="Microsoft YaHei"/>
              </a:rPr>
              <a:t>轨迹解释</a:t>
            </a:r>
          </a:p>
        </p:txBody>
      </p:sp>
      <p:sp>
        <p:nvSpPr>
          <p:cNvPr id="9" name="Oval 8"/>
          <p:cNvSpPr/>
          <p:nvPr/>
        </p:nvSpPr>
        <p:spPr>
          <a:xfrm>
            <a:off x="1024128" y="2221992"/>
            <a:ext cx="100584" cy="10058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25296" y="2148840"/>
            <a:ext cx="3685032"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图中灰色虚线为初始巡检轨迹，红色曲线为优化后轨迹</a:t>
            </a:r>
            <a:r>
              <a:rPr sz="1600" b="0" dirty="0">
                <a:solidFill>
                  <a:srgbClr val="16202A"/>
                </a:solidFill>
                <a:latin typeface="Microsoft YaHei"/>
              </a:rPr>
              <a:t>。</a:t>
            </a:r>
          </a:p>
        </p:txBody>
      </p:sp>
      <p:sp>
        <p:nvSpPr>
          <p:cNvPr id="11" name="Oval 10"/>
          <p:cNvSpPr/>
          <p:nvPr/>
        </p:nvSpPr>
        <p:spPr>
          <a:xfrm>
            <a:off x="1024128" y="3090672"/>
            <a:ext cx="100584" cy="10058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25296" y="3017520"/>
            <a:ext cx="3685032"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优化轨迹在高权重磁异常节点附近偏移，提高关键数据回传机会</a:t>
            </a:r>
            <a:r>
              <a:rPr sz="1600" b="0" dirty="0">
                <a:solidFill>
                  <a:srgbClr val="16202A"/>
                </a:solidFill>
                <a:latin typeface="Microsoft YaHei"/>
              </a:rPr>
              <a:t>。</a:t>
            </a:r>
          </a:p>
        </p:txBody>
      </p:sp>
      <p:sp>
        <p:nvSpPr>
          <p:cNvPr id="13" name="Oval 12"/>
          <p:cNvSpPr/>
          <p:nvPr/>
        </p:nvSpPr>
        <p:spPr>
          <a:xfrm>
            <a:off x="1024128" y="3959352"/>
            <a:ext cx="100584" cy="10058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25296" y="3886200"/>
            <a:ext cx="3685032" cy="556691"/>
          </a:xfrm>
          <a:prstGeom prst="rect">
            <a:avLst/>
          </a:prstGeom>
          <a:noFill/>
        </p:spPr>
        <p:txBody>
          <a:bodyPr wrap="square" lIns="45720" tIns="27432" rIns="45720" bIns="27432" anchor="t">
            <a:spAutoFit/>
          </a:bodyPr>
          <a:lstStyle/>
          <a:p>
            <a:pPr algn="l">
              <a:lnSpc>
                <a:spcPct val="105000"/>
              </a:lnSpc>
              <a:spcAft>
                <a:spcPts val="200"/>
              </a:spcAft>
            </a:pPr>
            <a:r>
              <a:rPr sz="1600" b="0" dirty="0" err="1">
                <a:solidFill>
                  <a:srgbClr val="16202A"/>
                </a:solidFill>
                <a:latin typeface="Microsoft YaHei"/>
              </a:rPr>
              <a:t>轨迹仍满足速度与初末点约束，并兼顾RIS覆盖带来的链路收益</a:t>
            </a:r>
            <a:r>
              <a:rPr sz="1600" b="0" dirty="0">
                <a:solidFill>
                  <a:srgbClr val="16202A"/>
                </a:solidFill>
                <a:latin typeface="Microsoft YaHei"/>
              </a:rPr>
              <a:t>。</a:t>
            </a:r>
          </a:p>
        </p:txBody>
      </p:sp>
      <p:pic>
        <p:nvPicPr>
          <p:cNvPr id="15" name="Picture 14" descr="trajectory.png"/>
          <p:cNvPicPr>
            <a:picLocks noChangeAspect="1"/>
          </p:cNvPicPr>
          <p:nvPr/>
        </p:nvPicPr>
        <p:blipFill>
          <a:blip r:embed="rId2"/>
          <a:stretch>
            <a:fillRect/>
          </a:stretch>
        </p:blipFill>
        <p:spPr>
          <a:xfrm>
            <a:off x="6822765" y="558488"/>
            <a:ext cx="2958714" cy="5814880"/>
          </a:xfrm>
          <a:prstGeom prst="rect">
            <a:avLst/>
          </a:prstGeom>
        </p:spPr>
      </p:pic>
      <p:sp>
        <p:nvSpPr>
          <p:cNvPr id="16" name="Rectangle 15"/>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Optimized UAV trajectory and magnetic priority</a:t>
            </a:r>
          </a:p>
        </p:txBody>
      </p:sp>
      <p:sp>
        <p:nvSpPr>
          <p:cNvPr id="18" name="TextBox 17"/>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64/77</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8</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RIS-UAV联合覆盖热力图</a:t>
            </a:r>
          </a:p>
        </p:txBody>
      </p:sp>
      <p:pic>
        <p:nvPicPr>
          <p:cNvPr id="7" name="Picture 6" descr="coverage_heatmap.png"/>
          <p:cNvPicPr>
            <a:picLocks noChangeAspect="1"/>
          </p:cNvPicPr>
          <p:nvPr/>
        </p:nvPicPr>
        <p:blipFill>
          <a:blip r:embed="rId2"/>
          <a:stretch>
            <a:fillRect/>
          </a:stretch>
        </p:blipFill>
        <p:spPr>
          <a:xfrm>
            <a:off x="2629101" y="1203945"/>
            <a:ext cx="4115366" cy="5013975"/>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224696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热力图展示空间位置上的等效覆盖强度，颜色越亮表示在RIS辅助下的可达速率越高；橙色曲线为优化后的UAV轨迹，青色菱形为RIS平台位置。优化轨迹经过覆盖较强区域并靠近高风险节点，说明轨迹优化同时考虑通信收益和任务优先级。</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65/77</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9</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Dinkelbach外层迭代收敛性</a:t>
            </a:r>
          </a:p>
        </p:txBody>
      </p:sp>
      <p:pic>
        <p:nvPicPr>
          <p:cNvPr id="7" name="Picture 6" descr="dinkelbach_eta_gap.png"/>
          <p:cNvPicPr>
            <a:picLocks noChangeAspect="1"/>
          </p:cNvPicPr>
          <p:nvPr/>
        </p:nvPicPr>
        <p:blipFill>
          <a:blip r:embed="rId2"/>
          <a:stretch>
            <a:fillRect/>
          </a:stretch>
        </p:blipFill>
        <p:spPr>
          <a:xfrm>
            <a:off x="548640" y="1427574"/>
            <a:ext cx="7955279" cy="4597210"/>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514600" cy="200138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该图记录外层迭代中的安全能效参数和差分残差。能效参数逐步上升，残差下降后进入稳定区间，说明参数化差分问题正在逼近分式目标的零点。该结果验证了Dinkelbach外层更新在本仿真场景中的数值可行性。</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66/77</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10</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交替优化算法与消融基线收敛对比</a:t>
            </a:r>
          </a:p>
        </p:txBody>
      </p:sp>
      <p:pic>
        <p:nvPicPr>
          <p:cNvPr id="7" name="Picture 6" descr="convergence.png"/>
          <p:cNvPicPr>
            <a:picLocks noChangeAspect="1"/>
          </p:cNvPicPr>
          <p:nvPr/>
        </p:nvPicPr>
        <p:blipFill>
          <a:blip r:embed="rId2"/>
          <a:stretch>
            <a:fillRect/>
          </a:stretch>
        </p:blipFill>
        <p:spPr>
          <a:xfrm>
            <a:off x="548640" y="1361161"/>
            <a:ext cx="7955279" cy="4730036"/>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7" y="1965960"/>
            <a:ext cx="2403951" cy="175580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该图比较Q-RIS-UAV-AO与只优化RIS、只优化UAV、随机策略等基线。联合优化曲线收敛后保持最高安全能效，说明轨迹、相位和资源分配之间存在互补关系；单独优化某一模块只能获得部分收益。</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67/77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11</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安全数据分配热力图</a:t>
            </a:r>
          </a:p>
        </p:txBody>
      </p:sp>
      <p:pic>
        <p:nvPicPr>
          <p:cNvPr id="7" name="Picture 6" descr="secure_data_heatmap.png"/>
          <p:cNvPicPr>
            <a:picLocks noChangeAspect="1"/>
          </p:cNvPicPr>
          <p:nvPr/>
        </p:nvPicPr>
        <p:blipFill>
          <a:blip r:embed="rId2"/>
          <a:stretch>
            <a:fillRect/>
          </a:stretch>
        </p:blipFill>
        <p:spPr>
          <a:xfrm>
            <a:off x="548640" y="1349844"/>
            <a:ext cx="7955279" cy="4752671"/>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200138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热力图由CVXPY资源分配子问题输出。横轴为时隙，纵轴为节点编号，颜色表示安全数据量。结果呈现稀疏的时隙-节点结构，说明在密钥预算和调度容量约束下，算法会把安全数据集中分配给高权重、链路条件较好的节点。</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68/77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RESULT 12</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QKD密钥分配与安全数据瓶颈</a:t>
            </a:r>
          </a:p>
        </p:txBody>
      </p:sp>
      <p:pic>
        <p:nvPicPr>
          <p:cNvPr id="7" name="Picture 6" descr="key_allocation_heatmap.png"/>
          <p:cNvPicPr>
            <a:picLocks noChangeAspect="1"/>
          </p:cNvPicPr>
          <p:nvPr/>
        </p:nvPicPr>
        <p:blipFill>
          <a:blip r:embed="rId2"/>
          <a:stretch>
            <a:fillRect/>
          </a:stretch>
        </p:blipFill>
        <p:spPr>
          <a:xfrm>
            <a:off x="658368" y="1945419"/>
            <a:ext cx="5349240" cy="3195761"/>
          </a:xfrm>
          <a:prstGeom prst="rect">
            <a:avLst/>
          </a:prstGeom>
        </p:spPr>
      </p:pic>
      <p:pic>
        <p:nvPicPr>
          <p:cNvPr id="8" name="Picture 7" descr="qkd_secure_data.png"/>
          <p:cNvPicPr>
            <a:picLocks noChangeAspect="1"/>
          </p:cNvPicPr>
          <p:nvPr/>
        </p:nvPicPr>
        <p:blipFill>
          <a:blip r:embed="rId3"/>
          <a:stretch>
            <a:fillRect/>
          </a:stretch>
        </p:blipFill>
        <p:spPr>
          <a:xfrm>
            <a:off x="6144768" y="1903641"/>
            <a:ext cx="5349240" cy="3279316"/>
          </a:xfrm>
          <a:prstGeom prst="rect">
            <a:avLst/>
          </a:prstGeom>
        </p:spPr>
      </p:pic>
      <p:sp>
        <p:nvSpPr>
          <p:cNvPr id="9" name="TextBox 8"/>
          <p:cNvSpPr txBox="1"/>
          <p:nvPr/>
        </p:nvSpPr>
        <p:spPr>
          <a:xfrm>
            <a:off x="868680" y="5596128"/>
            <a:ext cx="10058400" cy="530352"/>
          </a:xfrm>
          <a:prstGeom prst="rect">
            <a:avLst/>
          </a:prstGeom>
          <a:noFill/>
        </p:spPr>
        <p:txBody>
          <a:bodyPr wrap="square" lIns="45720" tIns="27432" rIns="45720" bIns="27432" anchor="t">
            <a:spAutoFit/>
          </a:bodyPr>
          <a:lstStyle/>
          <a:p>
            <a:pPr algn="l">
              <a:lnSpc>
                <a:spcPct val="112000"/>
              </a:lnSpc>
              <a:spcAft>
                <a:spcPts val="200"/>
              </a:spcAft>
            </a:pPr>
            <a:r>
              <a:rPr sz="1400" b="0" dirty="0">
                <a:solidFill>
                  <a:srgbClr val="56606A"/>
                </a:solidFill>
                <a:latin typeface="Microsoft YaHei"/>
              </a:rPr>
              <a:t>左图给出每个时隙的密钥分配结构，说明CVXPY会把有限QKD密钥优先分配给高价值节点；右图改变密钥供给规模，安全数据量随密钥增加而提升，并在链路吞吐上限附近趋于饱和。该结果说明系统瓶颈会在密钥约束和无线链路容量之间转移。</a:t>
            </a:r>
          </a:p>
        </p:txBody>
      </p:sp>
      <p:sp>
        <p:nvSpPr>
          <p:cNvPr id="10" name="Rectangle 9"/>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QKD key allocation and secure-data response</a:t>
            </a:r>
          </a:p>
        </p:txBody>
      </p:sp>
      <p:sp>
        <p:nvSpPr>
          <p:cNvPr id="12" name="TextBox 11"/>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69/77</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188641"/>
          </a:xfrm>
          <a:prstGeom prst="rect">
            <a:avLst/>
          </a:prstGeom>
          <a:noFill/>
        </p:spPr>
        <p:txBody>
          <a:bodyPr wrap="square" lIns="45720" tIns="27432" rIns="45720" bIns="27432" anchor="t">
            <a:spAutoFit/>
          </a:bodyPr>
          <a:lstStyle/>
          <a:p>
            <a:pPr algn="l">
              <a:lnSpc>
                <a:spcPct val="105000"/>
              </a:lnSpc>
              <a:spcAft>
                <a:spcPts val="200"/>
              </a:spcAft>
            </a:pPr>
            <a:r>
              <a:rPr sz="850" b="1" dirty="0">
                <a:solidFill>
                  <a:srgbClr val="56606A"/>
                </a:solidFill>
                <a:latin typeface="Aptos"/>
              </a:rPr>
              <a:t>RESULT 1</a:t>
            </a:r>
            <a:r>
              <a:rPr lang="en-US" sz="850" b="1" dirty="0">
                <a:solidFill>
                  <a:srgbClr val="56606A"/>
                </a:solidFill>
                <a:latin typeface="Aptos"/>
              </a:rPr>
              <a:t>3</a:t>
            </a:r>
            <a:endParaRPr sz="850" b="1" dirty="0">
              <a:solidFill>
                <a:srgbClr val="56606A"/>
              </a:solidFill>
              <a:latin typeface="Aptos"/>
            </a:endParaRP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磁异常检测与风险优先级映射</a:t>
            </a:r>
          </a:p>
        </p:txBody>
      </p:sp>
      <p:sp>
        <p:nvSpPr>
          <p:cNvPr id="7" name="Rectangle 6"/>
          <p:cNvSpPr/>
          <p:nvPr/>
        </p:nvSpPr>
        <p:spPr>
          <a:xfrm>
            <a:off x="777240" y="1444752"/>
            <a:ext cx="4434840" cy="429768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55648"/>
            <a:ext cx="2377440" cy="384048"/>
          </a:xfrm>
          <a:prstGeom prst="rect">
            <a:avLst/>
          </a:prstGeom>
          <a:noFill/>
        </p:spPr>
        <p:txBody>
          <a:bodyPr wrap="square" lIns="45720" tIns="27432" rIns="45720" bIns="27432" anchor="t">
            <a:spAutoFit/>
          </a:bodyPr>
          <a:lstStyle/>
          <a:p>
            <a:pPr algn="l">
              <a:lnSpc>
                <a:spcPct val="105000"/>
              </a:lnSpc>
              <a:spcAft>
                <a:spcPts val="200"/>
              </a:spcAft>
            </a:pPr>
            <a:r>
              <a:rPr sz="2400" b="1">
                <a:solidFill>
                  <a:srgbClr val="2A9D8F"/>
                </a:solidFill>
                <a:latin typeface="Aptos"/>
              </a:rPr>
              <a:t>0.999</a:t>
            </a:r>
          </a:p>
        </p:txBody>
      </p:sp>
      <p:sp>
        <p:nvSpPr>
          <p:cNvPr id="9" name="TextBox 8"/>
          <p:cNvSpPr txBox="1"/>
          <p:nvPr/>
        </p:nvSpPr>
        <p:spPr>
          <a:xfrm>
            <a:off x="1005840" y="2139696"/>
            <a:ext cx="2377440" cy="310896"/>
          </a:xfrm>
          <a:prstGeom prst="rect">
            <a:avLst/>
          </a:prstGeom>
          <a:noFill/>
        </p:spPr>
        <p:txBody>
          <a:bodyPr wrap="square" lIns="45720" tIns="27432" rIns="45720" bIns="27432" anchor="t">
            <a:spAutoFit/>
          </a:bodyPr>
          <a:lstStyle/>
          <a:p>
            <a:pPr algn="l">
              <a:lnSpc>
                <a:spcPct val="105000"/>
              </a:lnSpc>
              <a:spcAft>
                <a:spcPts val="200"/>
              </a:spcAft>
            </a:pPr>
            <a:r>
              <a:rPr sz="1050" b="0">
                <a:solidFill>
                  <a:srgbClr val="56606A"/>
                </a:solidFill>
                <a:latin typeface="Microsoft YaHei"/>
              </a:rPr>
              <a:t>磁异常检测AUC</a:t>
            </a:r>
          </a:p>
        </p:txBody>
      </p:sp>
      <p:sp>
        <p:nvSpPr>
          <p:cNvPr id="10" name="Oval 9"/>
          <p:cNvSpPr/>
          <p:nvPr/>
        </p:nvSpPr>
        <p:spPr>
          <a:xfrm>
            <a:off x="1024128" y="2679192"/>
            <a:ext cx="100584" cy="100584"/>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25296" y="2606040"/>
            <a:ext cx="3685032" cy="493981"/>
          </a:xfrm>
          <a:prstGeom prst="rect">
            <a:avLst/>
          </a:prstGeom>
          <a:noFill/>
        </p:spPr>
        <p:txBody>
          <a:bodyPr wrap="square" lIns="45720" tIns="27432" rIns="45720" bIns="27432" anchor="t">
            <a:spAutoFit/>
          </a:bodyPr>
          <a:lstStyle/>
          <a:p>
            <a:pPr algn="l">
              <a:lnSpc>
                <a:spcPct val="105000"/>
              </a:lnSpc>
              <a:spcAft>
                <a:spcPts val="200"/>
              </a:spcAft>
            </a:pPr>
            <a:r>
              <a:rPr sz="1400" b="0" dirty="0">
                <a:solidFill>
                  <a:srgbClr val="16202A"/>
                </a:solidFill>
                <a:latin typeface="Microsoft YaHei"/>
              </a:rPr>
              <a:t>WMM2025给出背景磁场尺度，合成偶极异常模拟海缆局部扰动。</a:t>
            </a:r>
          </a:p>
        </p:txBody>
      </p:sp>
      <p:sp>
        <p:nvSpPr>
          <p:cNvPr id="12" name="Oval 11"/>
          <p:cNvSpPr/>
          <p:nvPr/>
        </p:nvSpPr>
        <p:spPr>
          <a:xfrm>
            <a:off x="1024128" y="3456432"/>
            <a:ext cx="100584" cy="100584"/>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25296" y="3383280"/>
            <a:ext cx="3685032" cy="493981"/>
          </a:xfrm>
          <a:prstGeom prst="rect">
            <a:avLst/>
          </a:prstGeom>
          <a:noFill/>
        </p:spPr>
        <p:txBody>
          <a:bodyPr wrap="square" lIns="45720" tIns="27432" rIns="45720" bIns="27432" anchor="t">
            <a:spAutoFit/>
          </a:bodyPr>
          <a:lstStyle/>
          <a:p>
            <a:pPr algn="l">
              <a:lnSpc>
                <a:spcPct val="105000"/>
              </a:lnSpc>
              <a:spcAft>
                <a:spcPts val="200"/>
              </a:spcAft>
            </a:pPr>
            <a:r>
              <a:rPr sz="1400" b="0" dirty="0" err="1">
                <a:solidFill>
                  <a:srgbClr val="16202A"/>
                </a:solidFill>
                <a:latin typeface="Microsoft YaHei"/>
              </a:rPr>
              <a:t>热力图中的异常高值区域被映射为风险优先级，进入任务权重</a:t>
            </a:r>
            <a:r>
              <a:rPr sz="1400" b="0" dirty="0">
                <a:solidFill>
                  <a:srgbClr val="16202A"/>
                </a:solidFill>
                <a:latin typeface="Microsoft YaHei"/>
              </a:rPr>
              <a:t>。</a:t>
            </a:r>
          </a:p>
        </p:txBody>
      </p:sp>
      <p:sp>
        <p:nvSpPr>
          <p:cNvPr id="14" name="Oval 13"/>
          <p:cNvSpPr/>
          <p:nvPr/>
        </p:nvSpPr>
        <p:spPr>
          <a:xfrm>
            <a:off x="1024128" y="4233672"/>
            <a:ext cx="100584" cy="100584"/>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25296" y="4160520"/>
            <a:ext cx="3685032" cy="493981"/>
          </a:xfrm>
          <a:prstGeom prst="rect">
            <a:avLst/>
          </a:prstGeom>
          <a:noFill/>
        </p:spPr>
        <p:txBody>
          <a:bodyPr wrap="square" lIns="45720" tIns="27432" rIns="45720" bIns="27432" anchor="t">
            <a:spAutoFit/>
          </a:bodyPr>
          <a:lstStyle/>
          <a:p>
            <a:pPr algn="l">
              <a:lnSpc>
                <a:spcPct val="105000"/>
              </a:lnSpc>
              <a:spcAft>
                <a:spcPts val="200"/>
              </a:spcAft>
            </a:pPr>
            <a:r>
              <a:rPr sz="1400" b="0" dirty="0">
                <a:solidFill>
                  <a:srgbClr val="16202A"/>
                </a:solidFill>
                <a:latin typeface="Microsoft YaHei"/>
              </a:rPr>
              <a:t>AUC接近1说明异常区域可区分性强，后续调度和轨迹优化因此具备明确的风险输入。</a:t>
            </a:r>
          </a:p>
        </p:txBody>
      </p:sp>
      <p:pic>
        <p:nvPicPr>
          <p:cNvPr id="16" name="Picture 15" descr="magnetic_heatmap.png"/>
          <p:cNvPicPr>
            <a:picLocks noChangeAspect="1"/>
          </p:cNvPicPr>
          <p:nvPr/>
        </p:nvPicPr>
        <p:blipFill>
          <a:blip r:embed="rId2"/>
          <a:stretch>
            <a:fillRect/>
          </a:stretch>
        </p:blipFill>
        <p:spPr>
          <a:xfrm>
            <a:off x="6887263" y="1188720"/>
            <a:ext cx="2958992" cy="5074920"/>
          </a:xfrm>
          <a:prstGeom prst="rect">
            <a:avLst/>
          </a:prstGeom>
        </p:spPr>
      </p:pic>
      <p:sp>
        <p:nvSpPr>
          <p:cNvPr id="17" name="Rectangle 16"/>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Magnetic anomaly field and priority mapping</a:t>
            </a:r>
          </a:p>
        </p:txBody>
      </p:sp>
      <p:sp>
        <p:nvSpPr>
          <p:cNvPr id="19" name="TextBox 18"/>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70/77</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188641"/>
          </a:xfrm>
          <a:prstGeom prst="rect">
            <a:avLst/>
          </a:prstGeom>
          <a:noFill/>
        </p:spPr>
        <p:txBody>
          <a:bodyPr wrap="square" lIns="45720" tIns="27432" rIns="45720" bIns="27432" anchor="t">
            <a:spAutoFit/>
          </a:bodyPr>
          <a:lstStyle/>
          <a:p>
            <a:pPr algn="l">
              <a:lnSpc>
                <a:spcPct val="105000"/>
              </a:lnSpc>
              <a:spcAft>
                <a:spcPts val="200"/>
              </a:spcAft>
            </a:pPr>
            <a:r>
              <a:rPr sz="850" b="1" dirty="0">
                <a:solidFill>
                  <a:srgbClr val="56606A"/>
                </a:solidFill>
                <a:latin typeface="Aptos"/>
              </a:rPr>
              <a:t>RESULT 1</a:t>
            </a:r>
            <a:r>
              <a:rPr lang="en-US" sz="850" b="1" dirty="0">
                <a:solidFill>
                  <a:srgbClr val="56606A"/>
                </a:solidFill>
                <a:latin typeface="Aptos"/>
              </a:rPr>
              <a:t>4</a:t>
            </a:r>
            <a:endParaRPr sz="850" b="1" dirty="0">
              <a:solidFill>
                <a:srgbClr val="56606A"/>
              </a:solidFill>
              <a:latin typeface="Aptos"/>
            </a:endParaRP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鲁棒性、消融实验与Pareto权衡</a:t>
            </a:r>
          </a:p>
        </p:txBody>
      </p:sp>
      <p:pic>
        <p:nvPicPr>
          <p:cNvPr id="7" name="Picture 6" descr="monte_carlo_violin.png"/>
          <p:cNvPicPr>
            <a:picLocks noChangeAspect="1"/>
          </p:cNvPicPr>
          <p:nvPr/>
        </p:nvPicPr>
        <p:blipFill>
          <a:blip r:embed="rId2"/>
          <a:stretch>
            <a:fillRect/>
          </a:stretch>
        </p:blipFill>
        <p:spPr>
          <a:xfrm>
            <a:off x="122559" y="1535504"/>
            <a:ext cx="3907491" cy="2313317"/>
          </a:xfrm>
          <a:prstGeom prst="rect">
            <a:avLst/>
          </a:prstGeom>
        </p:spPr>
      </p:pic>
      <p:pic>
        <p:nvPicPr>
          <p:cNvPr id="8" name="Picture 7" descr="ablation_bar.png"/>
          <p:cNvPicPr>
            <a:picLocks noChangeAspect="1"/>
          </p:cNvPicPr>
          <p:nvPr/>
        </p:nvPicPr>
        <p:blipFill>
          <a:blip r:embed="rId3"/>
          <a:stretch>
            <a:fillRect/>
          </a:stretch>
        </p:blipFill>
        <p:spPr>
          <a:xfrm>
            <a:off x="4152609" y="1591097"/>
            <a:ext cx="4057276" cy="2240239"/>
          </a:xfrm>
          <a:prstGeom prst="rect">
            <a:avLst/>
          </a:prstGeom>
        </p:spPr>
      </p:pic>
      <p:pic>
        <p:nvPicPr>
          <p:cNvPr id="9" name="Picture 8" descr="pareto_energy_secure_data.png"/>
          <p:cNvPicPr>
            <a:picLocks noChangeAspect="1"/>
          </p:cNvPicPr>
          <p:nvPr/>
        </p:nvPicPr>
        <p:blipFill>
          <a:blip r:embed="rId4"/>
          <a:stretch>
            <a:fillRect/>
          </a:stretch>
        </p:blipFill>
        <p:spPr>
          <a:xfrm>
            <a:off x="8339837" y="1564137"/>
            <a:ext cx="3764138" cy="2247909"/>
          </a:xfrm>
          <a:prstGeom prst="rect">
            <a:avLst/>
          </a:prstGeom>
        </p:spPr>
      </p:pic>
      <p:sp>
        <p:nvSpPr>
          <p:cNvPr id="10" name="Rectangle 9"/>
          <p:cNvSpPr/>
          <p:nvPr/>
        </p:nvSpPr>
        <p:spPr>
          <a:xfrm>
            <a:off x="335584" y="4096509"/>
            <a:ext cx="3474720" cy="1737361"/>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6752" y="4261102"/>
            <a:ext cx="307238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2A9D8F"/>
                </a:solidFill>
                <a:latin typeface="Microsoft YaHei"/>
              </a:rPr>
              <a:t>鲁棒性图</a:t>
            </a:r>
          </a:p>
        </p:txBody>
      </p:sp>
      <p:sp>
        <p:nvSpPr>
          <p:cNvPr id="12" name="TextBox 11"/>
          <p:cNvSpPr txBox="1"/>
          <p:nvPr/>
        </p:nvSpPr>
        <p:spPr>
          <a:xfrm>
            <a:off x="536752" y="4626862"/>
            <a:ext cx="3072384" cy="1109599"/>
          </a:xfrm>
          <a:prstGeom prst="rect">
            <a:avLst/>
          </a:prstGeom>
          <a:noFill/>
        </p:spPr>
        <p:txBody>
          <a:bodyPr wrap="square" lIns="45720" tIns="27432" rIns="45720" bIns="27432" anchor="t">
            <a:spAutoFit/>
          </a:bodyPr>
          <a:lstStyle/>
          <a:p>
            <a:pPr algn="l">
              <a:lnSpc>
                <a:spcPct val="116000"/>
              </a:lnSpc>
              <a:spcAft>
                <a:spcPts val="200"/>
              </a:spcAft>
            </a:pPr>
            <a:r>
              <a:rPr sz="1200" b="0" dirty="0">
                <a:solidFill>
                  <a:srgbClr val="16202A"/>
                </a:solidFill>
                <a:latin typeface="Microsoft YaHei"/>
              </a:rPr>
              <a:t>横轴为四类算法，纵轴为安全能效。每个小提琴图来自80次随机信道扰动，宽度表示结果分布密度。Proposed分布整体最高且离散程度可控，说明联合优化对信道扰动具有稳定优势。</a:t>
            </a:r>
          </a:p>
        </p:txBody>
      </p:sp>
      <p:sp>
        <p:nvSpPr>
          <p:cNvPr id="13" name="Rectangle 12"/>
          <p:cNvSpPr/>
          <p:nvPr/>
        </p:nvSpPr>
        <p:spPr>
          <a:xfrm>
            <a:off x="4526279" y="4114800"/>
            <a:ext cx="3474720" cy="173736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7447" y="4279392"/>
            <a:ext cx="307238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E76F51"/>
                </a:solidFill>
                <a:latin typeface="Microsoft YaHei"/>
              </a:rPr>
              <a:t>消融实验图</a:t>
            </a:r>
          </a:p>
        </p:txBody>
      </p:sp>
      <p:sp>
        <p:nvSpPr>
          <p:cNvPr id="15" name="TextBox 14"/>
          <p:cNvSpPr txBox="1"/>
          <p:nvPr/>
        </p:nvSpPr>
        <p:spPr>
          <a:xfrm>
            <a:off x="4727447" y="4645152"/>
            <a:ext cx="3157258" cy="895373"/>
          </a:xfrm>
          <a:prstGeom prst="rect">
            <a:avLst/>
          </a:prstGeom>
          <a:noFill/>
        </p:spPr>
        <p:txBody>
          <a:bodyPr wrap="square" lIns="45720" tIns="27432" rIns="45720" bIns="27432" anchor="t">
            <a:spAutoFit/>
          </a:bodyPr>
          <a:lstStyle/>
          <a:p>
            <a:pPr algn="l">
              <a:lnSpc>
                <a:spcPct val="116000"/>
              </a:lnSpc>
              <a:spcAft>
                <a:spcPts val="200"/>
              </a:spcAft>
            </a:pPr>
            <a:r>
              <a:rPr sz="1200" b="0" dirty="0">
                <a:solidFill>
                  <a:srgbClr val="16202A"/>
                </a:solidFill>
                <a:latin typeface="Microsoft YaHei"/>
              </a:rPr>
              <a:t>横向条形图逐一移除QKD优先级、RIS优化、UAV轨迹和磁异常感知模块。Full模型最高；移除RIS或QKD后下降明显，说明传播增强和密钥调度是安全能效提升的核心来源。</a:t>
            </a:r>
          </a:p>
        </p:txBody>
      </p:sp>
      <p:sp>
        <p:nvSpPr>
          <p:cNvPr id="16" name="Rectangle 15"/>
          <p:cNvSpPr/>
          <p:nvPr/>
        </p:nvSpPr>
        <p:spPr>
          <a:xfrm>
            <a:off x="8466177" y="4114800"/>
            <a:ext cx="3474720" cy="171907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67346" y="4279392"/>
            <a:ext cx="3072384" cy="274320"/>
          </a:xfrm>
          <a:prstGeom prst="rect">
            <a:avLst/>
          </a:prstGeom>
          <a:noFill/>
        </p:spPr>
        <p:txBody>
          <a:bodyPr wrap="square" lIns="45720" tIns="27432" rIns="45720" bIns="27432" anchor="t">
            <a:spAutoFit/>
          </a:bodyPr>
          <a:lstStyle/>
          <a:p>
            <a:pPr algn="l">
              <a:lnSpc>
                <a:spcPct val="105000"/>
              </a:lnSpc>
              <a:spcAft>
                <a:spcPts val="200"/>
              </a:spcAft>
            </a:pPr>
            <a:r>
              <a:rPr sz="1350" b="1">
                <a:solidFill>
                  <a:srgbClr val="457B9D"/>
                </a:solidFill>
                <a:latin typeface="Microsoft YaHei"/>
              </a:rPr>
              <a:t>Pareto曲线图</a:t>
            </a:r>
          </a:p>
        </p:txBody>
      </p:sp>
      <p:sp>
        <p:nvSpPr>
          <p:cNvPr id="18" name="TextBox 17"/>
          <p:cNvSpPr txBox="1"/>
          <p:nvPr/>
        </p:nvSpPr>
        <p:spPr>
          <a:xfrm>
            <a:off x="8667346" y="4645152"/>
            <a:ext cx="3072384" cy="895373"/>
          </a:xfrm>
          <a:prstGeom prst="rect">
            <a:avLst/>
          </a:prstGeom>
          <a:noFill/>
        </p:spPr>
        <p:txBody>
          <a:bodyPr wrap="square" lIns="45720" tIns="27432" rIns="45720" bIns="27432" anchor="t">
            <a:spAutoFit/>
          </a:bodyPr>
          <a:lstStyle/>
          <a:p>
            <a:pPr algn="l">
              <a:lnSpc>
                <a:spcPct val="116000"/>
              </a:lnSpc>
              <a:spcAft>
                <a:spcPts val="200"/>
              </a:spcAft>
            </a:pPr>
            <a:r>
              <a:rPr sz="1200" b="0" dirty="0" err="1">
                <a:solidFill>
                  <a:srgbClr val="16202A"/>
                </a:solidFill>
                <a:latin typeface="Microsoft YaHei"/>
              </a:rPr>
              <a:t>横轴为总能耗，纵轴为加权安全数据量，颜色表示能耗价格参数。曲线前段增益较快，后段趋于平缓，说明继续增加能耗会面临边际收益递减</a:t>
            </a:r>
            <a:r>
              <a:rPr sz="1200" b="0" dirty="0">
                <a:solidFill>
                  <a:srgbClr val="16202A"/>
                </a:solidFill>
                <a:latin typeface="Microsoft YaHei"/>
              </a:rPr>
              <a:t>。</a:t>
            </a:r>
          </a:p>
        </p:txBody>
      </p:sp>
      <p:sp>
        <p:nvSpPr>
          <p:cNvPr id="19" name="Rectangle 18"/>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Robustness, ablation and Pareto analysis</a:t>
            </a:r>
          </a:p>
        </p:txBody>
      </p:sp>
      <p:sp>
        <p:nvSpPr>
          <p:cNvPr id="21" name="TextBox 20"/>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71/77</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188641"/>
          </a:xfrm>
          <a:prstGeom prst="rect">
            <a:avLst/>
          </a:prstGeom>
          <a:noFill/>
        </p:spPr>
        <p:txBody>
          <a:bodyPr wrap="square" lIns="45720" tIns="27432" rIns="45720" bIns="27432" anchor="t">
            <a:spAutoFit/>
          </a:bodyPr>
          <a:lstStyle/>
          <a:p>
            <a:pPr algn="l">
              <a:lnSpc>
                <a:spcPct val="105000"/>
              </a:lnSpc>
              <a:spcAft>
                <a:spcPts val="200"/>
              </a:spcAft>
            </a:pPr>
            <a:r>
              <a:rPr sz="850" b="1" dirty="0">
                <a:solidFill>
                  <a:srgbClr val="56606A"/>
                </a:solidFill>
                <a:latin typeface="Aptos"/>
              </a:rPr>
              <a:t>RESULT 1</a:t>
            </a:r>
            <a:r>
              <a:rPr lang="en-US" sz="850" b="1" dirty="0">
                <a:solidFill>
                  <a:srgbClr val="56606A"/>
                </a:solidFill>
                <a:latin typeface="Aptos"/>
              </a:rPr>
              <a:t>5</a:t>
            </a:r>
            <a:endParaRPr sz="850" b="1" dirty="0">
              <a:solidFill>
                <a:srgbClr val="56606A"/>
              </a:solidFill>
              <a:latin typeface="Aptos"/>
            </a:endParaRP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QKD供给与RIS规模的二维敏感性分析</a:t>
            </a:r>
          </a:p>
        </p:txBody>
      </p:sp>
      <p:pic>
        <p:nvPicPr>
          <p:cNvPr id="7" name="Picture 6" descr="sensitivity_qkd_ris_heatmap.png"/>
          <p:cNvPicPr>
            <a:picLocks noChangeAspect="1"/>
          </p:cNvPicPr>
          <p:nvPr/>
        </p:nvPicPr>
        <p:blipFill>
          <a:blip r:embed="rId2"/>
          <a:stretch>
            <a:fillRect/>
          </a:stretch>
        </p:blipFill>
        <p:spPr>
          <a:xfrm>
            <a:off x="548640" y="1426930"/>
            <a:ext cx="7955279" cy="4598499"/>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224696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热力图同时改变QKD密钥供给和RIS单元数，观察最终安全能效。结果显示两个维度均能提升系统性能，但高密钥供给或大规模RIS区域出现边际收益递减。该现象说明系统优化需要同时考虑安全资源和传播资源，单独增加某一种资源会受另一类瓶颈限制。</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72/77</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188641"/>
          </a:xfrm>
          <a:prstGeom prst="rect">
            <a:avLst/>
          </a:prstGeom>
          <a:noFill/>
        </p:spPr>
        <p:txBody>
          <a:bodyPr wrap="square" lIns="45720" tIns="27432" rIns="45720" bIns="27432" anchor="t">
            <a:spAutoFit/>
          </a:bodyPr>
          <a:lstStyle/>
          <a:p>
            <a:pPr algn="l">
              <a:lnSpc>
                <a:spcPct val="105000"/>
              </a:lnSpc>
              <a:spcAft>
                <a:spcPts val="200"/>
              </a:spcAft>
            </a:pPr>
            <a:r>
              <a:rPr sz="850" b="1" dirty="0">
                <a:solidFill>
                  <a:srgbClr val="56606A"/>
                </a:solidFill>
                <a:latin typeface="Aptos"/>
              </a:rPr>
              <a:t>RESULT 1</a:t>
            </a:r>
            <a:r>
              <a:rPr lang="en-US" sz="850" b="1" dirty="0">
                <a:solidFill>
                  <a:srgbClr val="56606A"/>
                </a:solidFill>
                <a:latin typeface="Aptos"/>
              </a:rPr>
              <a:t>6</a:t>
            </a:r>
            <a:endParaRPr sz="850" b="1" dirty="0">
              <a:solidFill>
                <a:srgbClr val="56606A"/>
              </a:solidFill>
              <a:latin typeface="Aptos"/>
            </a:endParaRP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五、仿真实验与分析</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优化约束违反量检查</a:t>
            </a:r>
          </a:p>
        </p:txBody>
      </p:sp>
      <p:pic>
        <p:nvPicPr>
          <p:cNvPr id="7" name="Picture 6" descr="constraint_violation_check.png"/>
          <p:cNvPicPr>
            <a:picLocks noChangeAspect="1"/>
          </p:cNvPicPr>
          <p:nvPr/>
        </p:nvPicPr>
        <p:blipFill>
          <a:blip r:embed="rId2"/>
          <a:stretch>
            <a:fillRect/>
          </a:stretch>
        </p:blipFill>
        <p:spPr>
          <a:xfrm>
            <a:off x="548640" y="1463112"/>
            <a:ext cx="7955279" cy="4526135"/>
          </a:xfrm>
          <a:prstGeom prst="rect">
            <a:avLst/>
          </a:prstGeom>
        </p:spPr>
      </p:pic>
      <p:sp>
        <p:nvSpPr>
          <p:cNvPr id="8" name="Rectangle 7"/>
          <p:cNvSpPr/>
          <p:nvPr/>
        </p:nvSpPr>
        <p:spPr>
          <a:xfrm>
            <a:off x="8705088" y="1280160"/>
            <a:ext cx="2697480" cy="48920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87968" y="1536192"/>
            <a:ext cx="1508760" cy="274320"/>
          </a:xfrm>
          <a:prstGeom prst="rect">
            <a:avLst/>
          </a:prstGeom>
          <a:noFill/>
        </p:spPr>
        <p:txBody>
          <a:bodyPr wrap="square" lIns="45720" tIns="27432" rIns="45720" bIns="27432" anchor="t">
            <a:spAutoFit/>
          </a:bodyPr>
          <a:lstStyle/>
          <a:p>
            <a:pPr algn="l">
              <a:lnSpc>
                <a:spcPct val="105000"/>
              </a:lnSpc>
              <a:spcAft>
                <a:spcPts val="200"/>
              </a:spcAft>
            </a:pPr>
            <a:r>
              <a:rPr sz="1500" b="1">
                <a:solidFill>
                  <a:srgbClr val="2A9D8F"/>
                </a:solidFill>
                <a:latin typeface="Microsoft YaHei"/>
              </a:rPr>
              <a:t>图表解读</a:t>
            </a:r>
          </a:p>
        </p:txBody>
      </p:sp>
      <p:sp>
        <p:nvSpPr>
          <p:cNvPr id="10" name="TextBox 9"/>
          <p:cNvSpPr txBox="1"/>
          <p:nvPr/>
        </p:nvSpPr>
        <p:spPr>
          <a:xfrm>
            <a:off x="8887968" y="1965960"/>
            <a:ext cx="2450592" cy="1755802"/>
          </a:xfrm>
          <a:prstGeom prst="rect">
            <a:avLst/>
          </a:prstGeom>
          <a:noFill/>
        </p:spPr>
        <p:txBody>
          <a:bodyPr wrap="square" lIns="45720" tIns="27432" rIns="45720" bIns="27432" anchor="t">
            <a:spAutoFit/>
          </a:bodyPr>
          <a:lstStyle/>
          <a:p>
            <a:pPr algn="l">
              <a:lnSpc>
                <a:spcPct val="114000"/>
              </a:lnSpc>
              <a:spcAft>
                <a:spcPts val="200"/>
              </a:spcAft>
            </a:pPr>
            <a:r>
              <a:rPr sz="1400" b="0" dirty="0">
                <a:solidFill>
                  <a:srgbClr val="16202A"/>
                </a:solidFill>
                <a:latin typeface="Microsoft YaHei"/>
              </a:rPr>
              <a:t>该图以对数坐标展示速度、QKD密钥、功率和安全数据约束的最大违反量。所有违反量均低于预设容差，说明前述性能提升满足可行性要求。该检查是优化实验中必要的可行性验证。</a:t>
            </a:r>
          </a:p>
        </p:txBody>
      </p:sp>
      <p:sp>
        <p:nvSpPr>
          <p:cNvPr id="11" name="Rectangle 10"/>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13" name="TextBox 12"/>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73/77</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96012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2A9D8F"/>
                </a:solidFill>
                <a:latin typeface="Aptos"/>
              </a:rPr>
              <a:t>六</a:t>
            </a:r>
          </a:p>
        </p:txBody>
      </p:sp>
      <p:sp>
        <p:nvSpPr>
          <p:cNvPr id="4" name="TextBox 3"/>
          <p:cNvSpPr txBox="1"/>
          <p:nvPr/>
        </p:nvSpPr>
        <p:spPr>
          <a:xfrm>
            <a:off x="1664208" y="658368"/>
            <a:ext cx="8046720" cy="548640"/>
          </a:xfrm>
          <a:prstGeom prst="rect">
            <a:avLst/>
          </a:prstGeom>
          <a:noFill/>
        </p:spPr>
        <p:txBody>
          <a:bodyPr wrap="square" lIns="45720" tIns="27432" rIns="45720" bIns="27432" anchor="t">
            <a:spAutoFit/>
          </a:bodyPr>
          <a:lstStyle/>
          <a:p>
            <a:pPr algn="l">
              <a:lnSpc>
                <a:spcPct val="105000"/>
              </a:lnSpc>
              <a:spcAft>
                <a:spcPts val="200"/>
              </a:spcAft>
            </a:pPr>
            <a:r>
              <a:rPr sz="2800" b="1">
                <a:solidFill>
                  <a:srgbClr val="FFFFFF"/>
                </a:solidFill>
                <a:latin typeface="Microsoft YaHei"/>
              </a:rPr>
              <a:t>创新点与工程边界</a:t>
            </a:r>
          </a:p>
        </p:txBody>
      </p:sp>
      <p:sp>
        <p:nvSpPr>
          <p:cNvPr id="5" name="TextBox 4"/>
          <p:cNvSpPr txBox="1"/>
          <p:nvPr/>
        </p:nvSpPr>
        <p:spPr>
          <a:xfrm>
            <a:off x="1691640" y="1389888"/>
            <a:ext cx="9052560" cy="502920"/>
          </a:xfrm>
          <a:prstGeom prst="rect">
            <a:avLst/>
          </a:prstGeom>
          <a:noFill/>
        </p:spPr>
        <p:txBody>
          <a:bodyPr wrap="square" lIns="45720" tIns="27432" rIns="45720" bIns="27432" anchor="t">
            <a:spAutoFit/>
          </a:bodyPr>
          <a:lstStyle/>
          <a:p>
            <a:pPr algn="l">
              <a:lnSpc>
                <a:spcPct val="105000"/>
              </a:lnSpc>
              <a:spcAft>
                <a:spcPts val="200"/>
              </a:spcAft>
            </a:pPr>
            <a:r>
              <a:rPr sz="1500" b="0">
                <a:solidFill>
                  <a:srgbClr val="DAE2E7"/>
                </a:solidFill>
                <a:latin typeface="Microsoft YaHei"/>
              </a:rPr>
              <a:t>最后回到系统层面，总结本项目的创新闭环、应用路径和仍可继续推进的工程方向。</a:t>
            </a:r>
          </a:p>
        </p:txBody>
      </p:sp>
      <p:sp>
        <p:nvSpPr>
          <p:cNvPr id="6" name="TextBox 5"/>
          <p:cNvSpPr txBox="1"/>
          <p:nvPr/>
        </p:nvSpPr>
        <p:spPr>
          <a:xfrm>
            <a:off x="1719072" y="2331720"/>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1</a:t>
            </a:r>
          </a:p>
        </p:txBody>
      </p:sp>
      <p:sp>
        <p:nvSpPr>
          <p:cNvPr id="7" name="TextBox 6"/>
          <p:cNvSpPr txBox="1"/>
          <p:nvPr/>
        </p:nvSpPr>
        <p:spPr>
          <a:xfrm>
            <a:off x="2148840" y="2313432"/>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创新来自量子感知、量子安全和可重构传播的联合建模。</a:t>
            </a:r>
          </a:p>
        </p:txBody>
      </p:sp>
      <p:sp>
        <p:nvSpPr>
          <p:cNvPr id="8" name="TextBox 7"/>
          <p:cNvSpPr txBox="1"/>
          <p:nvPr/>
        </p:nvSpPr>
        <p:spPr>
          <a:xfrm>
            <a:off x="1719072" y="2990087"/>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2</a:t>
            </a:r>
          </a:p>
        </p:txBody>
      </p:sp>
      <p:sp>
        <p:nvSpPr>
          <p:cNvPr id="9" name="TextBox 8"/>
          <p:cNvSpPr txBox="1"/>
          <p:nvPr/>
        </p:nvSpPr>
        <p:spPr>
          <a:xfrm>
            <a:off x="2148840" y="2971799"/>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工程部署需要把系统级仿真和单元级全波仿真继续打通。</a:t>
            </a:r>
          </a:p>
        </p:txBody>
      </p:sp>
      <p:sp>
        <p:nvSpPr>
          <p:cNvPr id="10" name="TextBox 9"/>
          <p:cNvSpPr txBox="1"/>
          <p:nvPr/>
        </p:nvSpPr>
        <p:spPr>
          <a:xfrm>
            <a:off x="1719072" y="3648456"/>
            <a:ext cx="292608" cy="237744"/>
          </a:xfrm>
          <a:prstGeom prst="rect">
            <a:avLst/>
          </a:prstGeom>
          <a:noFill/>
        </p:spPr>
        <p:txBody>
          <a:bodyPr wrap="square" lIns="45720" tIns="27432" rIns="45720" bIns="27432" anchor="t">
            <a:spAutoFit/>
          </a:bodyPr>
          <a:lstStyle/>
          <a:p>
            <a:pPr algn="l">
              <a:lnSpc>
                <a:spcPct val="105000"/>
              </a:lnSpc>
              <a:spcAft>
                <a:spcPts val="200"/>
              </a:spcAft>
            </a:pPr>
            <a:r>
              <a:rPr sz="1200" b="1">
                <a:solidFill>
                  <a:srgbClr val="E9C46A"/>
                </a:solidFill>
                <a:latin typeface="Aptos"/>
              </a:rPr>
              <a:t>3</a:t>
            </a:r>
          </a:p>
        </p:txBody>
      </p:sp>
      <p:sp>
        <p:nvSpPr>
          <p:cNvPr id="11" name="TextBox 10"/>
          <p:cNvSpPr txBox="1"/>
          <p:nvPr/>
        </p:nvSpPr>
        <p:spPr>
          <a:xfrm>
            <a:off x="2148840" y="3630168"/>
            <a:ext cx="8046720" cy="310896"/>
          </a:xfrm>
          <a:prstGeom prst="rect">
            <a:avLst/>
          </a:prstGeom>
          <a:noFill/>
        </p:spPr>
        <p:txBody>
          <a:bodyPr wrap="square" lIns="45720" tIns="27432" rIns="45720" bIns="27432" anchor="t">
            <a:spAutoFit/>
          </a:bodyPr>
          <a:lstStyle/>
          <a:p>
            <a:pPr algn="l">
              <a:lnSpc>
                <a:spcPct val="105000"/>
              </a:lnSpc>
              <a:spcAft>
                <a:spcPts val="200"/>
              </a:spcAft>
            </a:pPr>
            <a:r>
              <a:rPr sz="1600" b="0">
                <a:solidFill>
                  <a:srgbClr val="FFFFFF"/>
                </a:solidFill>
                <a:latin typeface="Microsoft YaHei"/>
              </a:rPr>
              <a:t>结果已经形成可复现代码、数据、图表和PPT闭环。</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Section transition</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74/77</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DISCUSSION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六、创新点与工程边界</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综合讨论：创新闭环与工程边界</a:t>
            </a:r>
          </a:p>
        </p:txBody>
      </p:sp>
      <p:sp>
        <p:nvSpPr>
          <p:cNvPr id="7" name="Rectangle 6"/>
          <p:cNvSpPr/>
          <p:nvPr/>
        </p:nvSpPr>
        <p:spPr>
          <a:xfrm>
            <a:off x="777240" y="1417320"/>
            <a:ext cx="10652760" cy="3653028"/>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673352"/>
            <a:ext cx="10012680" cy="595548"/>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前面的模型和实验说明，本项目的主要价值在于把三类通常分开讨论的技术放进同一个优化闭环：量子磁力计提供风险权重，QKD提供安全数据的密钥约束，RIS-UAV协同提供可控传播和移动中继能力。</a:t>
            </a:r>
          </a:p>
        </p:txBody>
      </p:sp>
      <p:sp>
        <p:nvSpPr>
          <p:cNvPr id="9" name="TextBox 8"/>
          <p:cNvSpPr txBox="1"/>
          <p:nvPr/>
        </p:nvSpPr>
        <p:spPr>
          <a:xfrm>
            <a:off x="1097280" y="2843784"/>
            <a:ext cx="10012680" cy="595548"/>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从工程角度看，系统输出是一组可执行控制量：UAV应飞向哪里、RIS应采用何种相位码本、哪些节点在何时被服务、功率和密钥如何分配。这些输出可以直接服务于灾后巡检和关键告警回传。</a:t>
            </a:r>
          </a:p>
        </p:txBody>
      </p:sp>
      <p:sp>
        <p:nvSpPr>
          <p:cNvPr id="10" name="TextBox 9"/>
          <p:cNvSpPr txBox="1"/>
          <p:nvPr/>
        </p:nvSpPr>
        <p:spPr>
          <a:xfrm>
            <a:off x="1097280" y="4014216"/>
            <a:ext cx="10012680" cy="595548"/>
          </a:xfrm>
          <a:prstGeom prst="rect">
            <a:avLst/>
          </a:prstGeom>
          <a:noFill/>
        </p:spPr>
        <p:txBody>
          <a:bodyPr wrap="square" lIns="45720" tIns="27432" rIns="45720" bIns="27432" anchor="t">
            <a:spAutoFit/>
          </a:bodyPr>
          <a:lstStyle/>
          <a:p>
            <a:pPr algn="l">
              <a:lnSpc>
                <a:spcPct val="114000"/>
              </a:lnSpc>
              <a:spcAft>
                <a:spcPts val="200"/>
              </a:spcAft>
            </a:pPr>
            <a:r>
              <a:rPr sz="1600" b="0" dirty="0">
                <a:solidFill>
                  <a:srgbClr val="16202A"/>
                </a:solidFill>
                <a:latin typeface="Microsoft YaHei"/>
              </a:rPr>
              <a:t>同时，系统级仿真仍有边界：真实海况、全波单元结构、硬件非理想相位响应和多UAV协同都需要更细粒度建模。结尾部分将把贡献、局限和后续扩展分开说明。</a:t>
            </a:r>
          </a:p>
        </p:txBody>
      </p:sp>
      <p:sp>
        <p:nvSpPr>
          <p:cNvPr id="11" name="TextBox 10"/>
          <p:cNvSpPr txBox="1"/>
          <p:nvPr/>
        </p:nvSpPr>
        <p:spPr>
          <a:xfrm>
            <a:off x="868680" y="5742432"/>
            <a:ext cx="10287000" cy="475488"/>
          </a:xfrm>
          <a:prstGeom prst="rect">
            <a:avLst/>
          </a:prstGeom>
          <a:noFill/>
        </p:spPr>
        <p:txBody>
          <a:bodyPr wrap="square" lIns="45720" tIns="27432" rIns="45720" bIns="27432" anchor="t">
            <a:spAutoFit/>
          </a:bodyPr>
          <a:lstStyle/>
          <a:p>
            <a:pPr algn="l">
              <a:lnSpc>
                <a:spcPct val="112000"/>
              </a:lnSpc>
              <a:spcAft>
                <a:spcPts val="200"/>
              </a:spcAft>
            </a:pPr>
            <a:r>
              <a:rPr sz="1400" b="1">
                <a:solidFill>
                  <a:srgbClr val="2A9D8F"/>
                </a:solidFill>
                <a:latin typeface="Microsoft YaHei"/>
              </a:rPr>
              <a:t>本章作用：把算法结果回收到应用部署和后续研究问题上。</a:t>
            </a:r>
          </a:p>
        </p:txBody>
      </p:sp>
      <p:sp>
        <p:nvSpPr>
          <p:cNvPr id="12" name="Rectangle 11"/>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Academic narrative bridge</a:t>
            </a:r>
          </a:p>
        </p:txBody>
      </p:sp>
      <p:sp>
        <p:nvSpPr>
          <p:cNvPr id="14" name="TextBox 13"/>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75/77</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9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56606A"/>
                </a:solidFill>
                <a:latin typeface="Aptos"/>
              </a:rPr>
              <a:t>APPLICATION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56606A"/>
                </a:solidFill>
                <a:latin typeface="Microsoft YaHei"/>
              </a:rPr>
              <a:t>六、创新点与工程边界</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16202A"/>
                </a:solidFill>
                <a:latin typeface="Microsoft YaHei"/>
              </a:rPr>
              <a:t>面向灾后应急监测的部署流程</a:t>
            </a:r>
          </a:p>
        </p:txBody>
      </p:sp>
      <p:sp>
        <p:nvSpPr>
          <p:cNvPr id="7" name="Rectangle 6"/>
          <p:cNvSpPr/>
          <p:nvPr/>
        </p:nvSpPr>
        <p:spPr>
          <a:xfrm>
            <a:off x="777240" y="1600200"/>
            <a:ext cx="2240280" cy="30632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28800"/>
            <a:ext cx="365760" cy="292608"/>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1</a:t>
            </a:r>
          </a:p>
        </p:txBody>
      </p:sp>
      <p:sp>
        <p:nvSpPr>
          <p:cNvPr id="9" name="TextBox 8"/>
          <p:cNvSpPr txBox="1"/>
          <p:nvPr/>
        </p:nvSpPr>
        <p:spPr>
          <a:xfrm>
            <a:off x="1344168" y="1810512"/>
            <a:ext cx="1417320" cy="310896"/>
          </a:xfrm>
          <a:prstGeom prst="rect">
            <a:avLst/>
          </a:prstGeom>
          <a:noFill/>
        </p:spPr>
        <p:txBody>
          <a:bodyPr wrap="square" lIns="45720" tIns="27432" rIns="45720" bIns="27432" anchor="t">
            <a:spAutoFit/>
          </a:bodyPr>
          <a:lstStyle/>
          <a:p>
            <a:pPr algn="l">
              <a:lnSpc>
                <a:spcPct val="105000"/>
              </a:lnSpc>
              <a:spcAft>
                <a:spcPts val="200"/>
              </a:spcAft>
            </a:pPr>
            <a:r>
              <a:rPr sz="1420" b="1">
                <a:solidFill>
                  <a:srgbClr val="16202A"/>
                </a:solidFill>
                <a:latin typeface="Microsoft YaHei"/>
              </a:rPr>
              <a:t>灾后态势汇聚</a:t>
            </a:r>
          </a:p>
        </p:txBody>
      </p:sp>
      <p:sp>
        <p:nvSpPr>
          <p:cNvPr id="10" name="TextBox 9"/>
          <p:cNvSpPr txBox="1"/>
          <p:nvPr/>
        </p:nvSpPr>
        <p:spPr>
          <a:xfrm>
            <a:off x="1014983" y="2331720"/>
            <a:ext cx="1783080" cy="447495"/>
          </a:xfrm>
          <a:prstGeom prst="rect">
            <a:avLst/>
          </a:prstGeom>
          <a:noFill/>
        </p:spPr>
        <p:txBody>
          <a:bodyPr wrap="square" lIns="45720" tIns="27432" rIns="45720" bIns="27432" anchor="t">
            <a:spAutoFit/>
          </a:bodyPr>
          <a:lstStyle/>
          <a:p>
            <a:pPr algn="l">
              <a:lnSpc>
                <a:spcPct val="110000"/>
              </a:lnSpc>
              <a:spcAft>
                <a:spcPts val="200"/>
              </a:spcAft>
            </a:pPr>
            <a:r>
              <a:rPr sz="1200" b="0" dirty="0" err="1">
                <a:solidFill>
                  <a:srgbClr val="56606A"/>
                </a:solidFill>
                <a:latin typeface="Microsoft YaHei"/>
              </a:rPr>
              <a:t>卫星遥感与海上节点报告形成初始任务区域</a:t>
            </a:r>
            <a:r>
              <a:rPr sz="1200" b="0" dirty="0">
                <a:solidFill>
                  <a:srgbClr val="56606A"/>
                </a:solidFill>
                <a:latin typeface="Microsoft YaHei"/>
              </a:rPr>
              <a:t>。</a:t>
            </a:r>
          </a:p>
        </p:txBody>
      </p:sp>
      <p:sp>
        <p:nvSpPr>
          <p:cNvPr id="11" name="TextBox 10"/>
          <p:cNvSpPr txBox="1"/>
          <p:nvPr/>
        </p:nvSpPr>
        <p:spPr>
          <a:xfrm>
            <a:off x="1014983" y="3767328"/>
            <a:ext cx="1783080" cy="505331"/>
          </a:xfrm>
          <a:prstGeom prst="rect">
            <a:avLst/>
          </a:prstGeom>
          <a:noFill/>
        </p:spPr>
        <p:txBody>
          <a:bodyPr wrap="square" lIns="45720" tIns="27432" rIns="45720" bIns="27432" anchor="t">
            <a:spAutoFit/>
          </a:bodyPr>
          <a:lstStyle/>
          <a:p>
            <a:pPr algn="l">
              <a:lnSpc>
                <a:spcPct val="108000"/>
              </a:lnSpc>
              <a:spcAft>
                <a:spcPts val="200"/>
              </a:spcAft>
            </a:pPr>
            <a:r>
              <a:rPr sz="1400" b="1" dirty="0" err="1">
                <a:solidFill>
                  <a:srgbClr val="16202A"/>
                </a:solidFill>
                <a:latin typeface="Microsoft YaHei"/>
              </a:rPr>
              <a:t>输入：灾害区域、风电节点和海况信息</a:t>
            </a:r>
            <a:r>
              <a:rPr sz="1400" b="1" dirty="0">
                <a:solidFill>
                  <a:srgbClr val="16202A"/>
                </a:solidFill>
                <a:latin typeface="Microsoft YaHei"/>
              </a:rPr>
              <a:t>。</a:t>
            </a:r>
          </a:p>
        </p:txBody>
      </p:sp>
      <p:sp>
        <p:nvSpPr>
          <p:cNvPr id="12" name="Rectangle 11"/>
          <p:cNvSpPr/>
          <p:nvPr/>
        </p:nvSpPr>
        <p:spPr>
          <a:xfrm>
            <a:off x="3566160" y="1600200"/>
            <a:ext cx="2240280" cy="30632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49039" y="1828800"/>
            <a:ext cx="365760" cy="292608"/>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2</a:t>
            </a:r>
          </a:p>
        </p:txBody>
      </p:sp>
      <p:sp>
        <p:nvSpPr>
          <p:cNvPr id="14" name="TextBox 13"/>
          <p:cNvSpPr txBox="1"/>
          <p:nvPr/>
        </p:nvSpPr>
        <p:spPr>
          <a:xfrm>
            <a:off x="4133087" y="1810512"/>
            <a:ext cx="1417320" cy="310896"/>
          </a:xfrm>
          <a:prstGeom prst="rect">
            <a:avLst/>
          </a:prstGeom>
          <a:noFill/>
        </p:spPr>
        <p:txBody>
          <a:bodyPr wrap="square" lIns="45720" tIns="27432" rIns="45720" bIns="27432" anchor="t">
            <a:spAutoFit/>
          </a:bodyPr>
          <a:lstStyle/>
          <a:p>
            <a:pPr algn="l">
              <a:lnSpc>
                <a:spcPct val="105000"/>
              </a:lnSpc>
              <a:spcAft>
                <a:spcPts val="200"/>
              </a:spcAft>
            </a:pPr>
            <a:r>
              <a:rPr sz="1420" b="1">
                <a:solidFill>
                  <a:srgbClr val="16202A"/>
                </a:solidFill>
                <a:latin typeface="Microsoft YaHei"/>
              </a:rPr>
              <a:t>异常优先排序</a:t>
            </a:r>
          </a:p>
        </p:txBody>
      </p:sp>
      <p:sp>
        <p:nvSpPr>
          <p:cNvPr id="15" name="TextBox 14"/>
          <p:cNvSpPr txBox="1"/>
          <p:nvPr/>
        </p:nvSpPr>
        <p:spPr>
          <a:xfrm>
            <a:off x="3803904" y="2331720"/>
            <a:ext cx="1783080" cy="447495"/>
          </a:xfrm>
          <a:prstGeom prst="rect">
            <a:avLst/>
          </a:prstGeom>
          <a:noFill/>
        </p:spPr>
        <p:txBody>
          <a:bodyPr wrap="square" lIns="45720" tIns="27432" rIns="45720" bIns="27432" anchor="t">
            <a:spAutoFit/>
          </a:bodyPr>
          <a:lstStyle/>
          <a:p>
            <a:pPr algn="l">
              <a:lnSpc>
                <a:spcPct val="110000"/>
              </a:lnSpc>
              <a:spcAft>
                <a:spcPts val="200"/>
              </a:spcAft>
            </a:pPr>
            <a:r>
              <a:rPr sz="1200" b="0" dirty="0">
                <a:solidFill>
                  <a:srgbClr val="56606A"/>
                </a:solidFill>
                <a:latin typeface="Microsoft YaHei"/>
              </a:rPr>
              <a:t>AUV/</a:t>
            </a:r>
            <a:r>
              <a:rPr sz="1200" b="0" dirty="0" err="1">
                <a:solidFill>
                  <a:srgbClr val="56606A"/>
                </a:solidFill>
                <a:latin typeface="Microsoft YaHei"/>
              </a:rPr>
              <a:t>浮标磁探测定位疑似海缆异常点</a:t>
            </a:r>
            <a:r>
              <a:rPr sz="1200" b="0" dirty="0">
                <a:solidFill>
                  <a:srgbClr val="56606A"/>
                </a:solidFill>
                <a:latin typeface="Microsoft YaHei"/>
              </a:rPr>
              <a:t>。</a:t>
            </a:r>
          </a:p>
        </p:txBody>
      </p:sp>
      <p:sp>
        <p:nvSpPr>
          <p:cNvPr id="16" name="TextBox 15"/>
          <p:cNvSpPr txBox="1"/>
          <p:nvPr/>
        </p:nvSpPr>
        <p:spPr>
          <a:xfrm>
            <a:off x="3803904" y="3767328"/>
            <a:ext cx="1783080" cy="505331"/>
          </a:xfrm>
          <a:prstGeom prst="rect">
            <a:avLst/>
          </a:prstGeom>
          <a:noFill/>
        </p:spPr>
        <p:txBody>
          <a:bodyPr wrap="square" lIns="45720" tIns="27432" rIns="45720" bIns="27432" anchor="t">
            <a:spAutoFit/>
          </a:bodyPr>
          <a:lstStyle/>
          <a:p>
            <a:pPr algn="l">
              <a:lnSpc>
                <a:spcPct val="108000"/>
              </a:lnSpc>
              <a:spcAft>
                <a:spcPts val="200"/>
              </a:spcAft>
            </a:pPr>
            <a:r>
              <a:rPr sz="1400" b="1" dirty="0" err="1">
                <a:solidFill>
                  <a:srgbClr val="16202A"/>
                </a:solidFill>
                <a:latin typeface="Microsoft YaHei"/>
              </a:rPr>
              <a:t>输入：磁扰动、风险等级和数据新鲜度</a:t>
            </a:r>
            <a:r>
              <a:rPr sz="1400" b="1" dirty="0">
                <a:solidFill>
                  <a:srgbClr val="16202A"/>
                </a:solidFill>
                <a:latin typeface="Microsoft YaHei"/>
              </a:rPr>
              <a:t>。</a:t>
            </a:r>
          </a:p>
        </p:txBody>
      </p:sp>
      <p:sp>
        <p:nvSpPr>
          <p:cNvPr id="17" name="Rectangle 16"/>
          <p:cNvSpPr/>
          <p:nvPr/>
        </p:nvSpPr>
        <p:spPr>
          <a:xfrm>
            <a:off x="6355079" y="1600200"/>
            <a:ext cx="2240280" cy="30632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59" y="1828800"/>
            <a:ext cx="365760" cy="292608"/>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3</a:t>
            </a:r>
          </a:p>
        </p:txBody>
      </p:sp>
      <p:sp>
        <p:nvSpPr>
          <p:cNvPr id="19" name="TextBox 18"/>
          <p:cNvSpPr txBox="1"/>
          <p:nvPr/>
        </p:nvSpPr>
        <p:spPr>
          <a:xfrm>
            <a:off x="6922007" y="1810512"/>
            <a:ext cx="1417320" cy="310896"/>
          </a:xfrm>
          <a:prstGeom prst="rect">
            <a:avLst/>
          </a:prstGeom>
          <a:noFill/>
        </p:spPr>
        <p:txBody>
          <a:bodyPr wrap="square" lIns="45720" tIns="27432" rIns="45720" bIns="27432" anchor="t">
            <a:spAutoFit/>
          </a:bodyPr>
          <a:lstStyle/>
          <a:p>
            <a:pPr algn="l">
              <a:lnSpc>
                <a:spcPct val="105000"/>
              </a:lnSpc>
              <a:spcAft>
                <a:spcPts val="200"/>
              </a:spcAft>
            </a:pPr>
            <a:r>
              <a:rPr sz="1420" b="1">
                <a:solidFill>
                  <a:srgbClr val="16202A"/>
                </a:solidFill>
                <a:latin typeface="Microsoft YaHei"/>
              </a:rPr>
              <a:t>联合优化调度</a:t>
            </a:r>
          </a:p>
        </p:txBody>
      </p:sp>
      <p:sp>
        <p:nvSpPr>
          <p:cNvPr id="20" name="TextBox 19"/>
          <p:cNvSpPr txBox="1"/>
          <p:nvPr/>
        </p:nvSpPr>
        <p:spPr>
          <a:xfrm>
            <a:off x="6592823" y="2331720"/>
            <a:ext cx="1783080" cy="650627"/>
          </a:xfrm>
          <a:prstGeom prst="rect">
            <a:avLst/>
          </a:prstGeom>
          <a:noFill/>
        </p:spPr>
        <p:txBody>
          <a:bodyPr wrap="square" lIns="45720" tIns="27432" rIns="45720" bIns="27432" anchor="t">
            <a:spAutoFit/>
          </a:bodyPr>
          <a:lstStyle/>
          <a:p>
            <a:pPr algn="l">
              <a:lnSpc>
                <a:spcPct val="110000"/>
              </a:lnSpc>
              <a:spcAft>
                <a:spcPts val="200"/>
              </a:spcAft>
            </a:pPr>
            <a:r>
              <a:rPr sz="1200" b="0" dirty="0" err="1">
                <a:solidFill>
                  <a:srgbClr val="56606A"/>
                </a:solidFill>
                <a:latin typeface="Microsoft YaHei"/>
              </a:rPr>
              <a:t>岸基计算中心求解UAV轨迹、RIS相位、资源和密钥分配</a:t>
            </a:r>
            <a:r>
              <a:rPr sz="1200" b="0" dirty="0">
                <a:solidFill>
                  <a:srgbClr val="56606A"/>
                </a:solidFill>
                <a:latin typeface="Microsoft YaHei"/>
              </a:rPr>
              <a:t>。</a:t>
            </a:r>
          </a:p>
        </p:txBody>
      </p:sp>
      <p:sp>
        <p:nvSpPr>
          <p:cNvPr id="21" name="TextBox 20"/>
          <p:cNvSpPr txBox="1"/>
          <p:nvPr/>
        </p:nvSpPr>
        <p:spPr>
          <a:xfrm>
            <a:off x="6592823" y="3767328"/>
            <a:ext cx="1783080" cy="504946"/>
          </a:xfrm>
          <a:prstGeom prst="rect">
            <a:avLst/>
          </a:prstGeom>
          <a:noFill/>
        </p:spPr>
        <p:txBody>
          <a:bodyPr wrap="square" lIns="45720" tIns="27432" rIns="45720" bIns="27432" anchor="t">
            <a:spAutoFit/>
          </a:bodyPr>
          <a:lstStyle/>
          <a:p>
            <a:pPr algn="l">
              <a:lnSpc>
                <a:spcPct val="108000"/>
              </a:lnSpc>
              <a:spcAft>
                <a:spcPts val="200"/>
              </a:spcAft>
            </a:pPr>
            <a:r>
              <a:rPr sz="1400" b="1" dirty="0" err="1">
                <a:solidFill>
                  <a:srgbClr val="16202A"/>
                </a:solidFill>
                <a:latin typeface="Microsoft YaHei"/>
              </a:rPr>
              <a:t>输出</a:t>
            </a:r>
            <a:r>
              <a:rPr sz="1400" b="1" dirty="0">
                <a:solidFill>
                  <a:srgbClr val="16202A"/>
                </a:solidFill>
                <a:latin typeface="Microsoft YaHei"/>
              </a:rPr>
              <a:t>：𝒒、𝜣、𝒑、𝒃、𝒂、𝒔、κ。</a:t>
            </a:r>
          </a:p>
        </p:txBody>
      </p:sp>
      <p:sp>
        <p:nvSpPr>
          <p:cNvPr id="22" name="Rectangle 21"/>
          <p:cNvSpPr/>
          <p:nvPr/>
        </p:nvSpPr>
        <p:spPr>
          <a:xfrm>
            <a:off x="9143999" y="1600200"/>
            <a:ext cx="2240280" cy="3063240"/>
          </a:xfrm>
          <a:prstGeom prst="rect">
            <a:avLst/>
          </a:prstGeom>
          <a:solidFill>
            <a:srgbClr val="FCFCF9"/>
          </a:solidFill>
          <a:ln w="8890">
            <a:solidFill>
              <a:srgbClr val="DA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26879" y="1828800"/>
            <a:ext cx="365760" cy="292608"/>
          </a:xfrm>
          <a:prstGeom prst="rect">
            <a:avLst/>
          </a:prstGeom>
          <a:noFill/>
        </p:spPr>
        <p:txBody>
          <a:bodyPr wrap="square" lIns="45720" tIns="27432" rIns="45720" bIns="27432" anchor="t">
            <a:spAutoFit/>
          </a:bodyPr>
          <a:lstStyle/>
          <a:p>
            <a:pPr algn="l">
              <a:lnSpc>
                <a:spcPct val="105000"/>
              </a:lnSpc>
              <a:spcAft>
                <a:spcPts val="200"/>
              </a:spcAft>
            </a:pPr>
            <a:r>
              <a:rPr sz="1700" b="1">
                <a:solidFill>
                  <a:srgbClr val="2A9D8F"/>
                </a:solidFill>
                <a:latin typeface="Aptos"/>
              </a:rPr>
              <a:t>4</a:t>
            </a:r>
          </a:p>
        </p:txBody>
      </p:sp>
      <p:sp>
        <p:nvSpPr>
          <p:cNvPr id="24" name="TextBox 23"/>
          <p:cNvSpPr txBox="1"/>
          <p:nvPr/>
        </p:nvSpPr>
        <p:spPr>
          <a:xfrm>
            <a:off x="9710927" y="1810512"/>
            <a:ext cx="1417320" cy="310896"/>
          </a:xfrm>
          <a:prstGeom prst="rect">
            <a:avLst/>
          </a:prstGeom>
          <a:noFill/>
        </p:spPr>
        <p:txBody>
          <a:bodyPr wrap="square" lIns="45720" tIns="27432" rIns="45720" bIns="27432" anchor="t">
            <a:spAutoFit/>
          </a:bodyPr>
          <a:lstStyle/>
          <a:p>
            <a:pPr algn="l">
              <a:lnSpc>
                <a:spcPct val="105000"/>
              </a:lnSpc>
              <a:spcAft>
                <a:spcPts val="200"/>
              </a:spcAft>
            </a:pPr>
            <a:r>
              <a:rPr sz="1420" b="1">
                <a:solidFill>
                  <a:srgbClr val="16202A"/>
                </a:solidFill>
                <a:latin typeface="Microsoft YaHei"/>
              </a:rPr>
              <a:t>安全回传处置</a:t>
            </a:r>
          </a:p>
        </p:txBody>
      </p:sp>
      <p:sp>
        <p:nvSpPr>
          <p:cNvPr id="25" name="TextBox 24"/>
          <p:cNvSpPr txBox="1"/>
          <p:nvPr/>
        </p:nvSpPr>
        <p:spPr>
          <a:xfrm>
            <a:off x="9381743" y="2331720"/>
            <a:ext cx="1783080" cy="650627"/>
          </a:xfrm>
          <a:prstGeom prst="rect">
            <a:avLst/>
          </a:prstGeom>
          <a:noFill/>
        </p:spPr>
        <p:txBody>
          <a:bodyPr wrap="square" lIns="45720" tIns="27432" rIns="45720" bIns="27432" anchor="t">
            <a:spAutoFit/>
          </a:bodyPr>
          <a:lstStyle/>
          <a:p>
            <a:pPr algn="l">
              <a:lnSpc>
                <a:spcPct val="110000"/>
              </a:lnSpc>
              <a:spcAft>
                <a:spcPts val="200"/>
              </a:spcAft>
            </a:pPr>
            <a:r>
              <a:rPr sz="1200" b="0" dirty="0" err="1">
                <a:solidFill>
                  <a:srgbClr val="56606A"/>
                </a:solidFill>
                <a:latin typeface="Microsoft YaHei"/>
              </a:rPr>
              <a:t>关键告警优先加密回传，电网中心生成巡检和修复决策</a:t>
            </a:r>
            <a:r>
              <a:rPr sz="1200" b="0" dirty="0">
                <a:solidFill>
                  <a:srgbClr val="56606A"/>
                </a:solidFill>
                <a:latin typeface="Microsoft YaHei"/>
              </a:rPr>
              <a:t>。</a:t>
            </a:r>
          </a:p>
        </p:txBody>
      </p:sp>
      <p:sp>
        <p:nvSpPr>
          <p:cNvPr id="26" name="TextBox 25"/>
          <p:cNvSpPr txBox="1"/>
          <p:nvPr/>
        </p:nvSpPr>
        <p:spPr>
          <a:xfrm>
            <a:off x="9381742" y="3767328"/>
            <a:ext cx="1897903" cy="505331"/>
          </a:xfrm>
          <a:prstGeom prst="rect">
            <a:avLst/>
          </a:prstGeom>
          <a:noFill/>
        </p:spPr>
        <p:txBody>
          <a:bodyPr wrap="square" lIns="45720" tIns="27432" rIns="45720" bIns="27432" anchor="t">
            <a:spAutoFit/>
          </a:bodyPr>
          <a:lstStyle/>
          <a:p>
            <a:pPr algn="l">
              <a:lnSpc>
                <a:spcPct val="108000"/>
              </a:lnSpc>
              <a:spcAft>
                <a:spcPts val="200"/>
              </a:spcAft>
            </a:pPr>
            <a:r>
              <a:rPr sz="1400" b="1" dirty="0" err="1">
                <a:solidFill>
                  <a:srgbClr val="16202A"/>
                </a:solidFill>
                <a:latin typeface="Microsoft YaHei"/>
              </a:rPr>
              <a:t>输出：加密告警、巡检路径和修复优先级</a:t>
            </a:r>
            <a:r>
              <a:rPr sz="1400" b="1" dirty="0">
                <a:solidFill>
                  <a:srgbClr val="16202A"/>
                </a:solidFill>
                <a:latin typeface="Microsoft YaHei"/>
              </a:rPr>
              <a:t>。</a:t>
            </a:r>
          </a:p>
        </p:txBody>
      </p:sp>
      <p:sp>
        <p:nvSpPr>
          <p:cNvPr id="27" name="TextBox 26"/>
          <p:cNvSpPr txBox="1"/>
          <p:nvPr/>
        </p:nvSpPr>
        <p:spPr>
          <a:xfrm>
            <a:off x="868680" y="5074920"/>
            <a:ext cx="9966960" cy="761683"/>
          </a:xfrm>
          <a:prstGeom prst="rect">
            <a:avLst/>
          </a:prstGeom>
          <a:noFill/>
        </p:spPr>
        <p:txBody>
          <a:bodyPr wrap="square" lIns="45720" tIns="27432" rIns="45720" bIns="27432" anchor="t">
            <a:spAutoFit/>
          </a:bodyPr>
          <a:lstStyle/>
          <a:p>
            <a:pPr algn="l">
              <a:lnSpc>
                <a:spcPct val="112000"/>
              </a:lnSpc>
              <a:spcAft>
                <a:spcPts val="200"/>
              </a:spcAft>
            </a:pPr>
            <a:r>
              <a:rPr sz="1400" b="1" dirty="0">
                <a:solidFill>
                  <a:srgbClr val="16202A"/>
                </a:solidFill>
                <a:latin typeface="Microsoft YaHei"/>
              </a:rPr>
              <a:t>应用解释：该流程把遥感发现、磁异常定位、优化调度和安全回传串联起来。其关键意义在于，当远海链路、UAV电量和QKD密钥同时受限时，系统能够用优化模型明确决定哪些节点、哪些时隙、哪些数据应被优先服务，并把数学输出转化为可执行的巡检和通信控制指令。</a:t>
            </a:r>
          </a:p>
        </p:txBody>
      </p:sp>
      <p:sp>
        <p:nvSpPr>
          <p:cNvPr id="28" name="Rectangle 27"/>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Q-RIS-UAV-AO · quantum electromagnetic SAGSI system</a:t>
            </a:r>
          </a:p>
        </p:txBody>
      </p:sp>
      <p:sp>
        <p:nvSpPr>
          <p:cNvPr id="30" name="TextBox 29"/>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76/77</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84048"/>
            <a:ext cx="310896" cy="32004"/>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96112" y="283464"/>
            <a:ext cx="2194560" cy="237744"/>
          </a:xfrm>
          <a:prstGeom prst="rect">
            <a:avLst/>
          </a:prstGeom>
          <a:noFill/>
        </p:spPr>
        <p:txBody>
          <a:bodyPr wrap="square" lIns="45720" tIns="27432" rIns="45720" bIns="27432" anchor="t">
            <a:spAutoFit/>
          </a:bodyPr>
          <a:lstStyle/>
          <a:p>
            <a:pPr algn="l">
              <a:lnSpc>
                <a:spcPct val="105000"/>
              </a:lnSpc>
              <a:spcAft>
                <a:spcPts val="200"/>
              </a:spcAft>
            </a:pPr>
            <a:r>
              <a:rPr sz="850" b="1">
                <a:solidFill>
                  <a:srgbClr val="D2DAE0"/>
                </a:solidFill>
                <a:latin typeface="Aptos"/>
              </a:rPr>
              <a:t>INNOVATION</a:t>
            </a:r>
          </a:p>
        </p:txBody>
      </p:sp>
      <p:sp>
        <p:nvSpPr>
          <p:cNvPr id="5" name="TextBox 4"/>
          <p:cNvSpPr txBox="1"/>
          <p:nvPr/>
        </p:nvSpPr>
        <p:spPr>
          <a:xfrm>
            <a:off x="7406640" y="283464"/>
            <a:ext cx="3931920" cy="237744"/>
          </a:xfrm>
          <a:prstGeom prst="rect">
            <a:avLst/>
          </a:prstGeom>
          <a:noFill/>
        </p:spPr>
        <p:txBody>
          <a:bodyPr wrap="square" lIns="45720" tIns="27432" rIns="45720" bIns="27432" anchor="t">
            <a:spAutoFit/>
          </a:bodyPr>
          <a:lstStyle/>
          <a:p>
            <a:pPr algn="r">
              <a:lnSpc>
                <a:spcPct val="105000"/>
              </a:lnSpc>
              <a:spcAft>
                <a:spcPts val="200"/>
              </a:spcAft>
            </a:pPr>
            <a:r>
              <a:rPr sz="850" b="1">
                <a:solidFill>
                  <a:srgbClr val="D2DAE0"/>
                </a:solidFill>
                <a:latin typeface="Microsoft YaHei"/>
              </a:rPr>
              <a:t>六、创新点与工程边界</a:t>
            </a:r>
          </a:p>
        </p:txBody>
      </p:sp>
      <p:sp>
        <p:nvSpPr>
          <p:cNvPr id="6" name="TextBox 5"/>
          <p:cNvSpPr txBox="1"/>
          <p:nvPr/>
        </p:nvSpPr>
        <p:spPr>
          <a:xfrm>
            <a:off x="502920" y="585216"/>
            <a:ext cx="10607040" cy="502920"/>
          </a:xfrm>
          <a:prstGeom prst="rect">
            <a:avLst/>
          </a:prstGeom>
          <a:noFill/>
        </p:spPr>
        <p:txBody>
          <a:bodyPr wrap="square" lIns="45720" tIns="27432" rIns="45720" bIns="27432" anchor="t">
            <a:spAutoFit/>
          </a:bodyPr>
          <a:lstStyle/>
          <a:p>
            <a:pPr algn="l">
              <a:lnSpc>
                <a:spcPct val="105000"/>
              </a:lnSpc>
              <a:spcAft>
                <a:spcPts val="200"/>
              </a:spcAft>
            </a:pPr>
            <a:r>
              <a:rPr sz="2600" b="1">
                <a:solidFill>
                  <a:srgbClr val="FFFFFF"/>
                </a:solidFill>
                <a:latin typeface="Microsoft YaHei"/>
              </a:rPr>
              <a:t>研究贡献、局限与后续扩展</a:t>
            </a:r>
          </a:p>
        </p:txBody>
      </p:sp>
      <p:sp>
        <p:nvSpPr>
          <p:cNvPr id="7" name="Rectangle 6"/>
          <p:cNvSpPr/>
          <p:nvPr/>
        </p:nvSpPr>
        <p:spPr>
          <a:xfrm>
            <a:off x="777240" y="1554480"/>
            <a:ext cx="4663440" cy="960120"/>
          </a:xfrm>
          <a:prstGeom prst="rect">
            <a:avLst/>
          </a:prstGeom>
          <a:solidFill>
            <a:srgbClr val="2A3A49"/>
          </a:solidFill>
          <a:ln w="8890">
            <a:solidFill>
              <a:srgbClr val="4E5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673352"/>
            <a:ext cx="4160520" cy="347472"/>
          </a:xfrm>
          <a:prstGeom prst="rect">
            <a:avLst/>
          </a:prstGeom>
          <a:noFill/>
        </p:spPr>
        <p:txBody>
          <a:bodyPr wrap="square" lIns="45720" tIns="27432" rIns="45720" bIns="27432" anchor="t">
            <a:spAutoFit/>
          </a:bodyPr>
          <a:lstStyle/>
          <a:p>
            <a:pPr algn="l">
              <a:lnSpc>
                <a:spcPct val="105000"/>
              </a:lnSpc>
              <a:spcAft>
                <a:spcPts val="200"/>
              </a:spcAft>
            </a:pPr>
            <a:r>
              <a:rPr sz="1420" b="1">
                <a:solidFill>
                  <a:srgbClr val="E9C46A"/>
                </a:solidFill>
                <a:latin typeface="Microsoft YaHei"/>
              </a:rPr>
              <a:t>贡献一：量子安全约束</a:t>
            </a:r>
          </a:p>
        </p:txBody>
      </p:sp>
      <p:sp>
        <p:nvSpPr>
          <p:cNvPr id="9" name="TextBox 8"/>
          <p:cNvSpPr txBox="1"/>
          <p:nvPr/>
        </p:nvSpPr>
        <p:spPr>
          <a:xfrm>
            <a:off x="1005840" y="2084831"/>
            <a:ext cx="4160520" cy="310896"/>
          </a:xfrm>
          <a:prstGeom prst="rect">
            <a:avLst/>
          </a:prstGeom>
          <a:noFill/>
        </p:spPr>
        <p:txBody>
          <a:bodyPr wrap="square" lIns="45720" tIns="27432" rIns="45720" bIns="27432" anchor="t">
            <a:spAutoFit/>
          </a:bodyPr>
          <a:lstStyle/>
          <a:p>
            <a:pPr algn="l">
              <a:lnSpc>
                <a:spcPct val="105000"/>
              </a:lnSpc>
              <a:spcAft>
                <a:spcPts val="200"/>
              </a:spcAft>
            </a:pPr>
            <a:r>
              <a:rPr sz="1230" b="0">
                <a:solidFill>
                  <a:srgbClr val="DAE2E7"/>
                </a:solidFill>
                <a:latin typeface="Microsoft YaHei"/>
              </a:rPr>
              <a:t>将QKD密钥预算显式写入安全数据分配问题。</a:t>
            </a:r>
          </a:p>
        </p:txBody>
      </p:sp>
      <p:sp>
        <p:nvSpPr>
          <p:cNvPr id="10" name="Rectangle 9"/>
          <p:cNvSpPr/>
          <p:nvPr/>
        </p:nvSpPr>
        <p:spPr>
          <a:xfrm>
            <a:off x="6217920" y="1554480"/>
            <a:ext cx="4663440" cy="960120"/>
          </a:xfrm>
          <a:prstGeom prst="rect">
            <a:avLst/>
          </a:prstGeom>
          <a:solidFill>
            <a:srgbClr val="2A3A49"/>
          </a:solidFill>
          <a:ln w="8890">
            <a:solidFill>
              <a:srgbClr val="4E5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673352"/>
            <a:ext cx="4160520" cy="347472"/>
          </a:xfrm>
          <a:prstGeom prst="rect">
            <a:avLst/>
          </a:prstGeom>
          <a:noFill/>
        </p:spPr>
        <p:txBody>
          <a:bodyPr wrap="square" lIns="45720" tIns="27432" rIns="45720" bIns="27432" anchor="t">
            <a:spAutoFit/>
          </a:bodyPr>
          <a:lstStyle/>
          <a:p>
            <a:pPr algn="l">
              <a:lnSpc>
                <a:spcPct val="105000"/>
              </a:lnSpc>
              <a:spcAft>
                <a:spcPts val="200"/>
              </a:spcAft>
            </a:pPr>
            <a:r>
              <a:rPr sz="1420" b="1">
                <a:solidFill>
                  <a:srgbClr val="2A9D8F"/>
                </a:solidFill>
                <a:latin typeface="Microsoft YaHei"/>
              </a:rPr>
              <a:t>贡献二：量子磁感知权重</a:t>
            </a:r>
          </a:p>
        </p:txBody>
      </p:sp>
      <p:sp>
        <p:nvSpPr>
          <p:cNvPr id="12" name="TextBox 11"/>
          <p:cNvSpPr txBox="1"/>
          <p:nvPr/>
        </p:nvSpPr>
        <p:spPr>
          <a:xfrm>
            <a:off x="6446520" y="2084831"/>
            <a:ext cx="4160520" cy="310896"/>
          </a:xfrm>
          <a:prstGeom prst="rect">
            <a:avLst/>
          </a:prstGeom>
          <a:noFill/>
        </p:spPr>
        <p:txBody>
          <a:bodyPr wrap="square" lIns="45720" tIns="27432" rIns="45720" bIns="27432" anchor="t">
            <a:spAutoFit/>
          </a:bodyPr>
          <a:lstStyle/>
          <a:p>
            <a:pPr algn="l">
              <a:lnSpc>
                <a:spcPct val="105000"/>
              </a:lnSpc>
              <a:spcAft>
                <a:spcPts val="200"/>
              </a:spcAft>
            </a:pPr>
            <a:r>
              <a:rPr sz="1230" b="0">
                <a:solidFill>
                  <a:srgbClr val="DAE2E7"/>
                </a:solidFill>
                <a:latin typeface="Microsoft YaHei"/>
              </a:rPr>
              <a:t>将海缆磁异常结果转化为风险感知任务权重。</a:t>
            </a:r>
          </a:p>
        </p:txBody>
      </p:sp>
      <p:sp>
        <p:nvSpPr>
          <p:cNvPr id="13" name="Rectangle 12"/>
          <p:cNvSpPr/>
          <p:nvPr/>
        </p:nvSpPr>
        <p:spPr>
          <a:xfrm>
            <a:off x="777240" y="2971800"/>
            <a:ext cx="4663440" cy="960120"/>
          </a:xfrm>
          <a:prstGeom prst="rect">
            <a:avLst/>
          </a:prstGeom>
          <a:solidFill>
            <a:srgbClr val="2A3A49"/>
          </a:solidFill>
          <a:ln w="8890">
            <a:solidFill>
              <a:srgbClr val="4E5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090672"/>
            <a:ext cx="4160520" cy="347472"/>
          </a:xfrm>
          <a:prstGeom prst="rect">
            <a:avLst/>
          </a:prstGeom>
          <a:noFill/>
        </p:spPr>
        <p:txBody>
          <a:bodyPr wrap="square" lIns="45720" tIns="27432" rIns="45720" bIns="27432" anchor="t">
            <a:spAutoFit/>
          </a:bodyPr>
          <a:lstStyle/>
          <a:p>
            <a:pPr algn="l">
              <a:lnSpc>
                <a:spcPct val="105000"/>
              </a:lnSpc>
              <a:spcAft>
                <a:spcPts val="200"/>
              </a:spcAft>
            </a:pPr>
            <a:r>
              <a:rPr sz="1420" b="1">
                <a:solidFill>
                  <a:srgbClr val="2A9D8F"/>
                </a:solidFill>
                <a:latin typeface="Microsoft YaHei"/>
              </a:rPr>
              <a:t>贡献三：RIS-UAV联合优化</a:t>
            </a:r>
          </a:p>
        </p:txBody>
      </p:sp>
      <p:sp>
        <p:nvSpPr>
          <p:cNvPr id="15" name="TextBox 14"/>
          <p:cNvSpPr txBox="1"/>
          <p:nvPr/>
        </p:nvSpPr>
        <p:spPr>
          <a:xfrm>
            <a:off x="1005840" y="3502152"/>
            <a:ext cx="4160520" cy="310896"/>
          </a:xfrm>
          <a:prstGeom prst="rect">
            <a:avLst/>
          </a:prstGeom>
          <a:noFill/>
        </p:spPr>
        <p:txBody>
          <a:bodyPr wrap="square" lIns="45720" tIns="27432" rIns="45720" bIns="27432" anchor="t">
            <a:spAutoFit/>
          </a:bodyPr>
          <a:lstStyle/>
          <a:p>
            <a:pPr algn="l">
              <a:lnSpc>
                <a:spcPct val="105000"/>
              </a:lnSpc>
              <a:spcAft>
                <a:spcPts val="200"/>
              </a:spcAft>
            </a:pPr>
            <a:r>
              <a:rPr sz="1230" b="0">
                <a:solidFill>
                  <a:srgbClr val="DAE2E7"/>
                </a:solidFill>
                <a:latin typeface="Microsoft YaHei"/>
              </a:rPr>
              <a:t>联合轨迹、相位和资源分配以降低单位安全数据能耗。</a:t>
            </a:r>
          </a:p>
        </p:txBody>
      </p:sp>
      <p:sp>
        <p:nvSpPr>
          <p:cNvPr id="16" name="Rectangle 15"/>
          <p:cNvSpPr/>
          <p:nvPr/>
        </p:nvSpPr>
        <p:spPr>
          <a:xfrm>
            <a:off x="6217920" y="2971800"/>
            <a:ext cx="4663440" cy="960120"/>
          </a:xfrm>
          <a:prstGeom prst="rect">
            <a:avLst/>
          </a:prstGeom>
          <a:solidFill>
            <a:srgbClr val="2A3A49"/>
          </a:solidFill>
          <a:ln w="8890">
            <a:solidFill>
              <a:srgbClr val="4E5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090672"/>
            <a:ext cx="4160520" cy="347472"/>
          </a:xfrm>
          <a:prstGeom prst="rect">
            <a:avLst/>
          </a:prstGeom>
          <a:noFill/>
        </p:spPr>
        <p:txBody>
          <a:bodyPr wrap="square" lIns="45720" tIns="27432" rIns="45720" bIns="27432" anchor="t">
            <a:spAutoFit/>
          </a:bodyPr>
          <a:lstStyle/>
          <a:p>
            <a:pPr algn="l">
              <a:lnSpc>
                <a:spcPct val="105000"/>
              </a:lnSpc>
              <a:spcAft>
                <a:spcPts val="200"/>
              </a:spcAft>
            </a:pPr>
            <a:r>
              <a:rPr sz="1420" b="1">
                <a:solidFill>
                  <a:srgbClr val="2A9D8F"/>
                </a:solidFill>
                <a:latin typeface="Microsoft YaHei"/>
              </a:rPr>
              <a:t>局限与扩展方向</a:t>
            </a:r>
          </a:p>
        </p:txBody>
      </p:sp>
      <p:sp>
        <p:nvSpPr>
          <p:cNvPr id="18" name="TextBox 17"/>
          <p:cNvSpPr txBox="1"/>
          <p:nvPr/>
        </p:nvSpPr>
        <p:spPr>
          <a:xfrm>
            <a:off x="6446520" y="3502152"/>
            <a:ext cx="4160520" cy="310896"/>
          </a:xfrm>
          <a:prstGeom prst="rect">
            <a:avLst/>
          </a:prstGeom>
          <a:noFill/>
        </p:spPr>
        <p:txBody>
          <a:bodyPr wrap="square" lIns="45720" tIns="27432" rIns="45720" bIns="27432" anchor="t">
            <a:spAutoFit/>
          </a:bodyPr>
          <a:lstStyle/>
          <a:p>
            <a:pPr algn="l">
              <a:lnSpc>
                <a:spcPct val="105000"/>
              </a:lnSpc>
              <a:spcAft>
                <a:spcPts val="200"/>
              </a:spcAft>
            </a:pPr>
            <a:r>
              <a:rPr sz="1230" b="0">
                <a:solidFill>
                  <a:srgbClr val="DAE2E7"/>
                </a:solidFill>
                <a:latin typeface="Microsoft YaHei"/>
              </a:rPr>
              <a:t>后续可接入CST/HFSS全波单元仿真和真实海况时序数据。</a:t>
            </a:r>
          </a:p>
        </p:txBody>
      </p:sp>
      <p:sp>
        <p:nvSpPr>
          <p:cNvPr id="19" name="TextBox 18"/>
          <p:cNvSpPr txBox="1"/>
          <p:nvPr/>
        </p:nvSpPr>
        <p:spPr>
          <a:xfrm>
            <a:off x="868680" y="4919472"/>
            <a:ext cx="10149840" cy="658368"/>
          </a:xfrm>
          <a:prstGeom prst="rect">
            <a:avLst/>
          </a:prstGeom>
          <a:noFill/>
        </p:spPr>
        <p:txBody>
          <a:bodyPr wrap="square" lIns="45720" tIns="27432" rIns="45720" bIns="27432" anchor="t">
            <a:spAutoFit/>
          </a:bodyPr>
          <a:lstStyle/>
          <a:p>
            <a:pPr algn="l">
              <a:lnSpc>
                <a:spcPct val="112000"/>
              </a:lnSpc>
              <a:spcAft>
                <a:spcPts val="200"/>
              </a:spcAft>
            </a:pPr>
            <a:r>
              <a:rPr sz="1520" b="1">
                <a:solidFill>
                  <a:srgbClr val="FFFFFF"/>
                </a:solidFill>
                <a:latin typeface="Microsoft YaHei"/>
              </a:rPr>
              <a:t>总结：本项目将远海灾害监测问题转化为一个包含量子感知、量子安全、RIS可重构传播和UAV轨迹控制的联合优化模型，并通过可复现实验验证其链路收益、收敛性、约束可行性和鲁棒性。</a:t>
            </a:r>
          </a:p>
        </p:txBody>
      </p:sp>
      <p:sp>
        <p:nvSpPr>
          <p:cNvPr id="20" name="Rectangle 19"/>
          <p:cNvSpPr/>
          <p:nvPr/>
        </p:nvSpPr>
        <p:spPr>
          <a:xfrm>
            <a:off x="502920" y="6419088"/>
            <a:ext cx="11109960" cy="9144"/>
          </a:xfrm>
          <a:prstGeom prst="rect">
            <a:avLst/>
          </a:prstGeom>
          <a:solidFill>
            <a:srgbClr val="D6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6473952"/>
            <a:ext cx="6400800" cy="182880"/>
          </a:xfrm>
          <a:prstGeom prst="rect">
            <a:avLst/>
          </a:prstGeom>
          <a:noFill/>
        </p:spPr>
        <p:txBody>
          <a:bodyPr wrap="square" lIns="45720" tIns="27432" rIns="45720" bIns="27432" anchor="t">
            <a:spAutoFit/>
          </a:bodyPr>
          <a:lstStyle/>
          <a:p>
            <a:pPr algn="l">
              <a:lnSpc>
                <a:spcPct val="105000"/>
              </a:lnSpc>
              <a:spcAft>
                <a:spcPts val="200"/>
              </a:spcAft>
            </a:pPr>
            <a:r>
              <a:rPr sz="800" b="0">
                <a:solidFill>
                  <a:srgbClr val="8D99AE"/>
                </a:solidFill>
                <a:latin typeface="Aptos"/>
              </a:rPr>
              <a:t>Final innovation summary</a:t>
            </a:r>
          </a:p>
        </p:txBody>
      </p:sp>
      <p:sp>
        <p:nvSpPr>
          <p:cNvPr id="22" name="TextBox 21"/>
          <p:cNvSpPr txBox="1"/>
          <p:nvPr/>
        </p:nvSpPr>
        <p:spPr>
          <a:xfrm>
            <a:off x="10972800" y="6473952"/>
            <a:ext cx="640080" cy="182880"/>
          </a:xfrm>
          <a:prstGeom prst="rect">
            <a:avLst/>
          </a:prstGeom>
          <a:noFill/>
        </p:spPr>
        <p:txBody>
          <a:bodyPr wrap="square" lIns="45720" tIns="27432" rIns="45720" bIns="27432" anchor="t">
            <a:spAutoFit/>
          </a:bodyPr>
          <a:lstStyle/>
          <a:p>
            <a:pPr algn="r">
              <a:lnSpc>
                <a:spcPct val="105000"/>
              </a:lnSpc>
              <a:spcAft>
                <a:spcPts val="200"/>
              </a:spcAft>
            </a:pPr>
            <a:r>
              <a:rPr sz="800" b="0">
                <a:solidFill>
                  <a:srgbClr val="8D99AE"/>
                </a:solidFill>
                <a:latin typeface="Aptos"/>
              </a:rPr>
              <a:t>77/77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4103</Words>
  <Application>Microsoft Office PowerPoint</Application>
  <PresentationFormat>宽屏</PresentationFormat>
  <Paragraphs>867</Paragraphs>
  <Slides>77</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77</vt:i4>
      </vt:variant>
    </vt:vector>
  </HeadingPairs>
  <TitlesOfParts>
    <vt:vector size="86" baseType="lpstr">
      <vt:lpstr>等线</vt:lpstr>
      <vt:lpstr>宋体</vt:lpstr>
      <vt:lpstr>Microsoft YaHei</vt:lpstr>
      <vt:lpstr>Aptos</vt:lpstr>
      <vt:lpstr>Arial</vt:lpstr>
      <vt:lpstr>Calibri</vt:lpstr>
      <vt:lpstr>Consolas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彦喆 赵</cp:lastModifiedBy>
  <cp:revision>3</cp:revision>
  <dcterms:created xsi:type="dcterms:W3CDTF">2013-01-27T09:14:16Z</dcterms:created>
  <dcterms:modified xsi:type="dcterms:W3CDTF">2026-05-14T14:46:34Z</dcterms:modified>
  <cp:category/>
</cp:coreProperties>
</file>